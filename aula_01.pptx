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63edc231044100" /><Relationship Type="http://schemas.openxmlformats.org/officeDocument/2006/relationships/extended-properties" Target="/docProps/app.xml" Id="Rb2da8de310c34165" /><Relationship Type="http://schemas.openxmlformats.org/officeDocument/2006/relationships/officeDocument" Target="/ppt/presentation.xml" Id="R0cc2e28685a64e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02ef4d0a9a4d35"/>
  </p:sldMasterIdLst>
  <p:notesMasterIdLst>
    <p:notesMasterId xmlns:r="http://schemas.openxmlformats.org/officeDocument/2006/relationships" r:id="Re0815609c56a4198"/>
  </p:notesMasterIdLst>
  <p:sldIdLst>
    <p:sldId xmlns:r="http://schemas.openxmlformats.org/officeDocument/2006/relationships" id="256" r:id="Rb2efcfceeb814d90"/>
    <p:sldId xmlns:r="http://schemas.openxmlformats.org/officeDocument/2006/relationships" id="257" r:id="R8a7d43d9f97a4051"/>
    <p:sldId xmlns:r="http://schemas.openxmlformats.org/officeDocument/2006/relationships" id="258" r:id="R80359d57d62e4bfd"/>
    <p:sldId xmlns:r="http://schemas.openxmlformats.org/officeDocument/2006/relationships" id="259" r:id="R0eb810c257de47c1"/>
    <p:sldId xmlns:r="http://schemas.openxmlformats.org/officeDocument/2006/relationships" id="260" r:id="R80f387818cb1438c"/>
    <p:sldId xmlns:r="http://schemas.openxmlformats.org/officeDocument/2006/relationships" id="261" r:id="R8891cd5223164d72"/>
    <p:sldId xmlns:r="http://schemas.openxmlformats.org/officeDocument/2006/relationships" id="262" r:id="Rbb84542d34e74ee7"/>
    <p:sldId xmlns:r="http://schemas.openxmlformats.org/officeDocument/2006/relationships" id="263" r:id="R1d03e7908ef04603"/>
    <p:sldId xmlns:r="http://schemas.openxmlformats.org/officeDocument/2006/relationships" id="264" r:id="Re87391dfc9964e78"/>
    <p:sldId xmlns:r="http://schemas.openxmlformats.org/officeDocument/2006/relationships" id="265" r:id="Rf1f190f017ce422e"/>
    <p:sldId xmlns:r="http://schemas.openxmlformats.org/officeDocument/2006/relationships" id="266" r:id="R4e565c48ec714339"/>
    <p:sldId xmlns:r="http://schemas.openxmlformats.org/officeDocument/2006/relationships" id="267" r:id="R3b19a704fb93472c"/>
    <p:sldId xmlns:r="http://schemas.openxmlformats.org/officeDocument/2006/relationships" id="268" r:id="Rb2e95366b08b4e02"/>
    <p:sldId xmlns:r="http://schemas.openxmlformats.org/officeDocument/2006/relationships" id="269" r:id="R6f7ca933348b40e5"/>
    <p:sldId xmlns:r="http://schemas.openxmlformats.org/officeDocument/2006/relationships" id="270" r:id="R7c5446ee8201472c"/>
    <p:sldId xmlns:r="http://schemas.openxmlformats.org/officeDocument/2006/relationships" id="271" r:id="R16b269d6ad72480d"/>
    <p:sldId xmlns:r="http://schemas.openxmlformats.org/officeDocument/2006/relationships" id="272" r:id="R1b0ee828bc3d4cd7"/>
    <p:sldId xmlns:r="http://schemas.openxmlformats.org/officeDocument/2006/relationships" id="273" r:id="R67bc115843ae4cc0"/>
    <p:sldId xmlns:r="http://schemas.openxmlformats.org/officeDocument/2006/relationships" id="274" r:id="R69d5e0f37649414a"/>
    <p:sldId xmlns:r="http://schemas.openxmlformats.org/officeDocument/2006/relationships" id="275" r:id="R79bd2cdabf06414e"/>
    <p:sldId xmlns:r="http://schemas.openxmlformats.org/officeDocument/2006/relationships" id="276" r:id="R8afd23363a644ae3"/>
    <p:sldId xmlns:r="http://schemas.openxmlformats.org/officeDocument/2006/relationships" id="277" r:id="R596d3369d772486f"/>
    <p:sldId xmlns:r="http://schemas.openxmlformats.org/officeDocument/2006/relationships" id="278" r:id="R2330f240e2224c96"/>
    <p:sldId xmlns:r="http://schemas.openxmlformats.org/officeDocument/2006/relationships" id="279" r:id="Rc7971d98cda1403d"/>
    <p:sldId xmlns:r="http://schemas.openxmlformats.org/officeDocument/2006/relationships" id="280" r:id="Racdc127bf39842a3"/>
    <p:sldId xmlns:r="http://schemas.openxmlformats.org/officeDocument/2006/relationships" id="281" r:id="Ra6e9e88382a247fc"/>
    <p:sldId xmlns:r="http://schemas.openxmlformats.org/officeDocument/2006/relationships" id="282" r:id="Rbb153f0a407048d8"/>
    <p:sldId xmlns:r="http://schemas.openxmlformats.org/officeDocument/2006/relationships" id="283" r:id="R7dd85fda10484a0c"/>
    <p:sldId xmlns:r="http://schemas.openxmlformats.org/officeDocument/2006/relationships" id="284" r:id="R03f3f4f9a72f4eb9"/>
    <p:sldId xmlns:r="http://schemas.openxmlformats.org/officeDocument/2006/relationships" id="285" r:id="R6300e83459c34473"/>
    <p:sldId xmlns:r="http://schemas.openxmlformats.org/officeDocument/2006/relationships" id="286" r:id="R48063495cecb454a"/>
    <p:sldId xmlns:r="http://schemas.openxmlformats.org/officeDocument/2006/relationships" id="287" r:id="R719fed73d06941bc"/>
    <p:sldId xmlns:r="http://schemas.openxmlformats.org/officeDocument/2006/relationships" id="288" r:id="Rcbbd8d32aef943d7"/>
    <p:sldId xmlns:r="http://schemas.openxmlformats.org/officeDocument/2006/relationships" id="289" r:id="Re9e05e2c1cea41f7"/>
    <p:sldId xmlns:r="http://schemas.openxmlformats.org/officeDocument/2006/relationships" id="290" r:id="Rb290b3fb90eb4bc7"/>
    <p:sldId xmlns:r="http://schemas.openxmlformats.org/officeDocument/2006/relationships" id="291" r:id="Rde5c4294ce174ea7"/>
    <p:sldId xmlns:r="http://schemas.openxmlformats.org/officeDocument/2006/relationships" id="292" r:id="Rc99bab6209004496"/>
    <p:sldId xmlns:r="http://schemas.openxmlformats.org/officeDocument/2006/relationships" id="293" r:id="R421be38e67e34b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b094a3a72d4ba2" /><Relationship Type="http://schemas.openxmlformats.org/officeDocument/2006/relationships/slideMaster" Target="/ppt/slideMasters/slideMaster1.xml" Id="Rb602ef4d0a9a4d35" /><Relationship Type="http://schemas.openxmlformats.org/officeDocument/2006/relationships/notesMaster" Target="/ppt/notesMasters/notesMaster1.xml" Id="Re0815609c56a4198" /><Relationship Type="http://schemas.openxmlformats.org/officeDocument/2006/relationships/presProps" Target="/ppt/presProps.xml" Id="Re6aae880d3c84dc1" /><Relationship Type="http://schemas.openxmlformats.org/officeDocument/2006/relationships/tableStyles" Target="/ppt/tableStyles.xml" Id="Reab1df19cf21406f" /><Relationship Type="http://schemas.openxmlformats.org/officeDocument/2006/relationships/slide" Target="/ppt/slides/slide1.xml" Id="Rb2efcfceeb814d90" /><Relationship Type="http://schemas.openxmlformats.org/officeDocument/2006/relationships/slide" Target="/ppt/slides/slide2.xml" Id="R8a7d43d9f97a4051" /><Relationship Type="http://schemas.openxmlformats.org/officeDocument/2006/relationships/slide" Target="/ppt/slides/slide3.xml" Id="R80359d57d62e4bfd" /><Relationship Type="http://schemas.openxmlformats.org/officeDocument/2006/relationships/slide" Target="/ppt/slides/slide4.xml" Id="R0eb810c257de47c1" /><Relationship Type="http://schemas.openxmlformats.org/officeDocument/2006/relationships/slide" Target="/ppt/slides/slide5.xml" Id="R80f387818cb1438c" /><Relationship Type="http://schemas.openxmlformats.org/officeDocument/2006/relationships/slide" Target="/ppt/slides/slide6.xml" Id="R8891cd5223164d72" /><Relationship Type="http://schemas.openxmlformats.org/officeDocument/2006/relationships/slide" Target="/ppt/slides/slide7.xml" Id="Rbb84542d34e74ee7" /><Relationship Type="http://schemas.openxmlformats.org/officeDocument/2006/relationships/slide" Target="/ppt/slides/slide8.xml" Id="R1d03e7908ef04603" /><Relationship Type="http://schemas.openxmlformats.org/officeDocument/2006/relationships/slide" Target="/ppt/slides/slide9.xml" Id="Re87391dfc9964e78" /><Relationship Type="http://schemas.openxmlformats.org/officeDocument/2006/relationships/slide" Target="/ppt/slides/slide10.xml" Id="Rf1f190f017ce422e" /><Relationship Type="http://schemas.openxmlformats.org/officeDocument/2006/relationships/slide" Target="/ppt/slides/slide11.xml" Id="R4e565c48ec714339" /><Relationship Type="http://schemas.openxmlformats.org/officeDocument/2006/relationships/slide" Target="/ppt/slides/slide12.xml" Id="R3b19a704fb93472c" /><Relationship Type="http://schemas.openxmlformats.org/officeDocument/2006/relationships/slide" Target="/ppt/slides/slide13.xml" Id="Rb2e95366b08b4e02" /><Relationship Type="http://schemas.openxmlformats.org/officeDocument/2006/relationships/slide" Target="/ppt/slides/slide14.xml" Id="R6f7ca933348b40e5" /><Relationship Type="http://schemas.openxmlformats.org/officeDocument/2006/relationships/slide" Target="/ppt/slides/slide15.xml" Id="R7c5446ee8201472c" /><Relationship Type="http://schemas.openxmlformats.org/officeDocument/2006/relationships/slide" Target="/ppt/slides/slide16.xml" Id="R16b269d6ad72480d" /><Relationship Type="http://schemas.openxmlformats.org/officeDocument/2006/relationships/slide" Target="/ppt/slides/slide17.xml" Id="R1b0ee828bc3d4cd7" /><Relationship Type="http://schemas.openxmlformats.org/officeDocument/2006/relationships/slide" Target="/ppt/slides/slide18.xml" Id="R67bc115843ae4cc0" /><Relationship Type="http://schemas.openxmlformats.org/officeDocument/2006/relationships/slide" Target="/ppt/slides/slide19.xml" Id="R69d5e0f37649414a" /><Relationship Type="http://schemas.openxmlformats.org/officeDocument/2006/relationships/slide" Target="/ppt/slides/slide20.xml" Id="R79bd2cdabf06414e" /><Relationship Type="http://schemas.openxmlformats.org/officeDocument/2006/relationships/slide" Target="/ppt/slides/slide21.xml" Id="R8afd23363a644ae3" /><Relationship Type="http://schemas.openxmlformats.org/officeDocument/2006/relationships/slide" Target="/ppt/slides/slide22.xml" Id="R596d3369d772486f" /><Relationship Type="http://schemas.openxmlformats.org/officeDocument/2006/relationships/slide" Target="/ppt/slides/slide23.xml" Id="R2330f240e2224c96" /><Relationship Type="http://schemas.openxmlformats.org/officeDocument/2006/relationships/slide" Target="/ppt/slides/slide24.xml" Id="Rc7971d98cda1403d" /><Relationship Type="http://schemas.openxmlformats.org/officeDocument/2006/relationships/slide" Target="/ppt/slides/slide25.xml" Id="Racdc127bf39842a3" /><Relationship Type="http://schemas.openxmlformats.org/officeDocument/2006/relationships/slide" Target="/ppt/slides/slide26.xml" Id="Ra6e9e88382a247fc" /><Relationship Type="http://schemas.openxmlformats.org/officeDocument/2006/relationships/slide" Target="/ppt/slides/slide27.xml" Id="Rbb153f0a407048d8" /><Relationship Type="http://schemas.openxmlformats.org/officeDocument/2006/relationships/slide" Target="/ppt/slides/slide28.xml" Id="R7dd85fda10484a0c" /><Relationship Type="http://schemas.openxmlformats.org/officeDocument/2006/relationships/slide" Target="/ppt/slides/slide29.xml" Id="R03f3f4f9a72f4eb9" /><Relationship Type="http://schemas.openxmlformats.org/officeDocument/2006/relationships/slide" Target="/ppt/slides/slide30.xml" Id="R6300e83459c34473" /><Relationship Type="http://schemas.openxmlformats.org/officeDocument/2006/relationships/slide" Target="/ppt/slides/slide31.xml" Id="R48063495cecb454a" /><Relationship Type="http://schemas.openxmlformats.org/officeDocument/2006/relationships/slide" Target="/ppt/slides/slide32.xml" Id="R719fed73d06941bc" /><Relationship Type="http://schemas.openxmlformats.org/officeDocument/2006/relationships/slide" Target="/ppt/slides/slide33.xml" Id="Rcbbd8d32aef943d7" /><Relationship Type="http://schemas.openxmlformats.org/officeDocument/2006/relationships/slide" Target="/ppt/slides/slide34.xml" Id="Re9e05e2c1cea41f7" /><Relationship Type="http://schemas.openxmlformats.org/officeDocument/2006/relationships/slide" Target="/ppt/slides/slide35.xml" Id="Rb290b3fb90eb4bc7" /><Relationship Type="http://schemas.openxmlformats.org/officeDocument/2006/relationships/slide" Target="/ppt/slides/slide36.xml" Id="Rde5c4294ce174ea7" /><Relationship Type="http://schemas.openxmlformats.org/officeDocument/2006/relationships/slide" Target="/ppt/slides/slide37.xml" Id="Rc99bab6209004496" /><Relationship Type="http://schemas.openxmlformats.org/officeDocument/2006/relationships/slide" Target="/ppt/slides/slide38.xml" Id="R421be38e67e34b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a0fe8884c046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eab083cc9d4039" /><Relationship Type="http://schemas.openxmlformats.org/officeDocument/2006/relationships/notesMaster" Target="/ppt/notesMasters/notesMaster1.xml" Id="R2c2135ec25a443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69c8a6dc7a4a45" /><Relationship Type="http://schemas.openxmlformats.org/officeDocument/2006/relationships/notesMaster" Target="/ppt/notesMasters/notesMaster1.xml" Id="R7368b97ec8aa47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b8f41039cb47d2" /><Relationship Type="http://schemas.openxmlformats.org/officeDocument/2006/relationships/notesMaster" Target="/ppt/notesMasters/notesMaster1.xml" Id="R5aaa033eae5349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2791280b084f31" /><Relationship Type="http://schemas.openxmlformats.org/officeDocument/2006/relationships/notesMaster" Target="/ppt/notesMasters/notesMaster1.xml" Id="R3be17b283e904b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9011db48064202" /><Relationship Type="http://schemas.openxmlformats.org/officeDocument/2006/relationships/notesMaster" Target="/ppt/notesMasters/notesMaster1.xml" Id="R46a5322a697242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e5363e520a4f8e" /><Relationship Type="http://schemas.openxmlformats.org/officeDocument/2006/relationships/notesMaster" Target="/ppt/notesMasters/notesMaster1.xml" Id="R82a193bd48454d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7bb04bbbf54cec" /><Relationship Type="http://schemas.openxmlformats.org/officeDocument/2006/relationships/notesMaster" Target="/ppt/notesMasters/notesMaster1.xml" Id="R7e7edc58443c43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dc7e21641f42d6" /><Relationship Type="http://schemas.openxmlformats.org/officeDocument/2006/relationships/notesMaster" Target="/ppt/notesMasters/notesMaster1.xml" Id="R854becaaccba43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03c5ae09fc4a14" /><Relationship Type="http://schemas.openxmlformats.org/officeDocument/2006/relationships/notesMaster" Target="/ppt/notesMasters/notesMaster1.xml" Id="R725613252d914c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04181d82cd413f" /><Relationship Type="http://schemas.openxmlformats.org/officeDocument/2006/relationships/notesMaster" Target="/ppt/notesMasters/notesMaster1.xml" Id="R1f7a7b6a590342a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afc90eefe284f16" /><Relationship Type="http://schemas.openxmlformats.org/officeDocument/2006/relationships/notesMaster" Target="/ppt/notesMasters/notesMaster1.xml" Id="Ra2c3e6d9cdf54a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80fc6540e34d0c" /><Relationship Type="http://schemas.openxmlformats.org/officeDocument/2006/relationships/notesMaster" Target="/ppt/notesMasters/notesMaster1.xml" Id="R32a1dbedd24d468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f6d9c907cf44790" /><Relationship Type="http://schemas.openxmlformats.org/officeDocument/2006/relationships/notesMaster" Target="/ppt/notesMasters/notesMaster1.xml" Id="Rc1c0b000b4fd4b0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fad585cdd0e434b" /><Relationship Type="http://schemas.openxmlformats.org/officeDocument/2006/relationships/notesMaster" Target="/ppt/notesMasters/notesMaster1.xml" Id="R270f05e8592c4db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90fd21cd3e24c30" /><Relationship Type="http://schemas.openxmlformats.org/officeDocument/2006/relationships/notesMaster" Target="/ppt/notesMasters/notesMaster1.xml" Id="Redf78c71def544b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37a278658b94fda" /><Relationship Type="http://schemas.openxmlformats.org/officeDocument/2006/relationships/notesMaster" Target="/ppt/notesMasters/notesMaster1.xml" Id="R8824383d7073499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d50bdff122c49d5" /><Relationship Type="http://schemas.openxmlformats.org/officeDocument/2006/relationships/notesMaster" Target="/ppt/notesMasters/notesMaster1.xml" Id="R02e4b20f317c4ad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af0b496808e4312" /><Relationship Type="http://schemas.openxmlformats.org/officeDocument/2006/relationships/notesMaster" Target="/ppt/notesMasters/notesMaster1.xml" Id="Rabf93e5191bb4ac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d9761e114eb4367" /><Relationship Type="http://schemas.openxmlformats.org/officeDocument/2006/relationships/notesMaster" Target="/ppt/notesMasters/notesMaster1.xml" Id="R84ba3bf5d90c4d2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37c1f0f6d7d4130" /><Relationship Type="http://schemas.openxmlformats.org/officeDocument/2006/relationships/notesMaster" Target="/ppt/notesMasters/notesMaster1.xml" Id="R1effe4432d4d474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64c98ab5aa242ff" /><Relationship Type="http://schemas.openxmlformats.org/officeDocument/2006/relationships/notesMaster" Target="/ppt/notesMasters/notesMaster1.xml" Id="R802d274bb121431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1eef295204c417c" /><Relationship Type="http://schemas.openxmlformats.org/officeDocument/2006/relationships/notesMaster" Target="/ppt/notesMasters/notesMaster1.xml" Id="R5b0fc218249745f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98916777983427b" /><Relationship Type="http://schemas.openxmlformats.org/officeDocument/2006/relationships/notesMaster" Target="/ppt/notesMasters/notesMaster1.xml" Id="Rd8135ed56d4b4b8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48ca056a9aa41d5" /><Relationship Type="http://schemas.openxmlformats.org/officeDocument/2006/relationships/notesMaster" Target="/ppt/notesMasters/notesMaster1.xml" Id="Rff5dcdd9d44f4c4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d7c6a3e855a4f53" /><Relationship Type="http://schemas.openxmlformats.org/officeDocument/2006/relationships/notesMaster" Target="/ppt/notesMasters/notesMaster1.xml" Id="R3749529c2bf2481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f5b4439a51f4e28" /><Relationship Type="http://schemas.openxmlformats.org/officeDocument/2006/relationships/notesMaster" Target="/ppt/notesMasters/notesMaster1.xml" Id="R7ad7a2afd265490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e666895a6d54929" /><Relationship Type="http://schemas.openxmlformats.org/officeDocument/2006/relationships/notesMaster" Target="/ppt/notesMasters/notesMaster1.xml" Id="R16b1c249387c4fe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bbc09e4e6544c04" /><Relationship Type="http://schemas.openxmlformats.org/officeDocument/2006/relationships/notesMaster" Target="/ppt/notesMasters/notesMaster1.xml" Id="R4893fa569c0a48a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8bd70fb389e4e0f" /><Relationship Type="http://schemas.openxmlformats.org/officeDocument/2006/relationships/notesMaster" Target="/ppt/notesMasters/notesMaster1.xml" Id="Rf942dba61945490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836cb57758e4f0c" /><Relationship Type="http://schemas.openxmlformats.org/officeDocument/2006/relationships/notesMaster" Target="/ppt/notesMasters/notesMaster1.xml" Id="R323e227fc349492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9d9c3892a5148cc" /><Relationship Type="http://schemas.openxmlformats.org/officeDocument/2006/relationships/notesMaster" Target="/ppt/notesMasters/notesMaster1.xml" Id="Rc591348b57eb4eb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7bb145a31db47ab" /><Relationship Type="http://schemas.openxmlformats.org/officeDocument/2006/relationships/notesMaster" Target="/ppt/notesMasters/notesMaster1.xml" Id="R917698461eaf4af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8616c69e2ae48cc" /><Relationship Type="http://schemas.openxmlformats.org/officeDocument/2006/relationships/notesMaster" Target="/ppt/notesMasters/notesMaster1.xml" Id="Rfdee6581ca33492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ce2c7873f7e4668" /><Relationship Type="http://schemas.openxmlformats.org/officeDocument/2006/relationships/notesMaster" Target="/ppt/notesMasters/notesMaster1.xml" Id="Red233e7aad1e4d0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f65a5381a274611" /><Relationship Type="http://schemas.openxmlformats.org/officeDocument/2006/relationships/notesMaster" Target="/ppt/notesMasters/notesMaster1.xml" Id="Rbb48972ef0d841c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77c7c0e6767433b" /><Relationship Type="http://schemas.openxmlformats.org/officeDocument/2006/relationships/notesMaster" Target="/ppt/notesMasters/notesMaster1.xml" Id="Rac0e70977fd1400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4874b2254914a1b" /><Relationship Type="http://schemas.openxmlformats.org/officeDocument/2006/relationships/notesMaster" Target="/ppt/notesMasters/notesMaster1.xml" Id="R6765060843964ea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ce8874fb7024278" /><Relationship Type="http://schemas.openxmlformats.org/officeDocument/2006/relationships/notesMaster" Target="/ppt/notesMasters/notesMaster1.xml" Id="R3b20e75207834b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Definição didática geral. A geração de modalidades e o acesso a ferramentas dependem do modelo e da aplicação. Exemplos de capacidades: https://openai.com/index/hello-gpt-4o/ ; https://openai.com/index/introducing-codex/ . Transição: a popularização começou pela conversa, mas a aplicação desses modelos se expandiu.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Linha do tempo seletiva, não história completa da IA generativa. Outras ferramentas e modelos existiam antes e durante a popularização do ChatGPT. Marcos: lançamento do ChatGPT em 30/11/2022 https://openai.com/index/chatgpt/ ; GPT-4o e multimodalidade em maio de 2024 https://openai.com/index/hello-gpt-4o/ ; Codex agente de engenharia em maio de 2025 https://openai.com/index/introducing-codex/ ; harnesses e integrações em 2026 https://developers.openai.com/blog/codex-as-a-platform . Fala de transição: as interfaces mudam, mas no processamento de texto dos LLMs existe uma unidade básica. O que seria o token?</a:t>
            </a:r>
            <a:endParaRPr/>
          </a:p>
          <a:p xmlns:a="http://schemas.openxmlformats.org/drawingml/2006/main">
            <a:pPr>
              <a:buNone/>
            </a:pPr>
            <a:r>
              <a:t>Auditoria de 18/10/2026: linha do tempo seletiva. A posição em 2026 indica expansão de integrações, não a invenção de harnesses naquele ano.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Introdução conceitual, sem exemplo de tokenização exata. Fontes: https://developers.openai.com/api/docs/guides/token-counting e https://help.openai.com/en/articles/4936856-understanding-and-counting-tokens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Objetivo: explicar a janela de contexto em linguagem simples, sem confundi-la com o conhecimento aprendido no treinamento ou com armazenamento permanente. A janela é limitada em tokens e inclui o material fornecido ao modelo para a chamada e, conforme os limites da plataforma, a resposta gerada. Conteúdo de arquivos precisa ser carregado/selecionado para entrar no contexto; não são necessariamente os arquivos inteiros. O aplicativo pode selecionar, resumir ou recuperar material por ferramentas. O que não está no contexto atual não pode ser consultado diretamente pelo modelo nessa chamada, a menos que seja fornecido novamente ou recuperado. Uma janela maior não garante atenção perfeita a todos os detalhes. A mesa é uma analogia didática, não uma representação literal da arquitetura.</a:t>
            </a:r>
            <a:endParaRPr/>
          </a:p>
          <a:p xmlns:a="http://schemas.openxmlformats.org/drawingml/2006/main">
            <a:pPr>
              <a:buNone/>
            </a:pPr>
            <a:r>
              <a:t>Referência consultada em 19/10/2026: https://platform.claude.com/docs/en/build-with-claude/context-windows</a:t>
            </a:r>
            <a:endParaRPr/>
          </a:p>
          <a:p xmlns:a="http://schemas.openxmlformats.org/drawingml/2006/main">
            <a:pPr>
              <a:buNone/>
            </a:pPr>
            <a:r>
              <a:t>Ilustração gerada com o recurso imagegen. Prompt: ilustração educativa em perspectiva superior de uma mesa de trabalho com espaço limitado, três pilhas de documentos rotuladas Pedido, Histórico e Arquivos, e uma pilha extra fora da mesa, em paleta azul-clara, azul-marinho, ciano e roxo, sem robôs nem texto explicativo adicional. Ativo local de produção: work/contexto-mesa.png.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Números didáticos inventados, sem estimativa de preço. Na API OpenAI, reasoning_tokens fazem parte de output_tokens: não somar duas vezes. Produtos por assinatura podem adotar limites e cobrança diferentes. Fonte: https://developers.openai.com/api/docs/guides/reasoning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A janela de contexto limita o que cabe em uma chamada; não equivale a memória ilimitada. Seleção, resumo, cache e retenção variam por produto. Cache pode reduzir cobrança de entrada elegível, sem tornar todo contexto gratuito. Fonte: https://developers.openai.com/api/docs/guides/conversation-state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O raciocínio interno não é normalmente exposto integralmente. Um resumo exibido não é uma transcrição completa desse processo. Esquema didático, não uma descrição literal de cada operação interna. Fonte: https://developers.openai.com/api/docs/guides/reasoning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Reprodução editorial dos dados das capturas fornecidas pelo usuário, para nitidez. Thoughts resumido em português, não transcrição do processo interno completo. Números preservados: input 5, output 255, total 260. Sem informação de separação entre raciocínio e resposta final.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Ilustração fictícia fornecida pelo usuário para exemplificar uma resposta incorreta e excessivamente confiante. Não representa um caso real nem permite identificar a espécie ou avaliar se um cogumelo é comestível.</a:t>
            </a:r>
            <a:endParaRPr/>
          </a:p>
          <a:p xmlns:a="http://schemas.openxmlformats.org/drawingml/2006/main">
            <a:pPr>
              <a:buNone/>
            </a:pPr>
            <a:r>
              <a:t>Auditoria de 18/10/2026: captura fornecida pelo usuário é uma ilustração fictícia. Não há identificação de uma vítima ou incidente documentado.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Post original: https://x.com/karpathy/status/1886192184808149383</a:t>
            </a:r>
            <a:endParaRPr/>
          </a:p>
          <a:p xmlns:a="http://schemas.openxmlformats.org/drawingml/2006/main">
            <a:pPr>
              <a:buNone/>
            </a:pPr>
            <a:r>
              <a:t>Captura reproduzida em: https://replit.com/blog/what-is-vibe-coding</a:t>
            </a:r>
            <a:endParaRPr/>
          </a:p>
          <a:p xmlns:a="http://schemas.openxmlformats.org/drawingml/2006/main">
            <a:pPr>
              <a:buNone/>
            </a:pPr>
            <a:r>
              <a:t>Imagem: https://cdn.sanity.io/images/bj34pdbp/migration/c5f5736315e3a43baa8c5e651c4e17266e3fdce8-1404x1242.png</a:t>
            </a:r>
            <a:endParaRPr/>
          </a:p>
          <a:p xmlns:a="http://schemas.openxmlformats.org/drawingml/2006/main">
            <a:pPr>
              <a:buNone/>
            </a:pPr>
            <a:r>
              <a:t>Auditoria de 18/10/2026: X não permitiu leitura direta pela ferramenta. A atribuição e o trecho do post foram corroborados pela reprodução da Replit: https://replit.com/blog/what-is-vibe-coding . No sentido original, o autor descreve uma prática que pode dispensar leitura e compreensão detalhadas do código. Revisão e testes são recomendação didática adicional.</a:t>
            </a:r>
            <a:endParaRPr/>
          </a:p>
          <a:p xmlns:a="http://schemas.openxmlformats.org/drawingml/2006/main">
            <a:pPr>
              <a:buNone/>
            </a:pPr>
            <a:r>
              <a:t>Slide reorganizado com captura original à esquerda e tradução resumida à direita. Apenas a frase inicial aparece como citação traduzida. Os parágrafos seguintes sintetizam o relato, sem apresentar uma tradução integral literal.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Incidente histórico, julho de 2025. Fonte primária do relato e reprodução dos posts de Jason Lemkin (18/07/2025) e Amjad Masad (20/07/2025): https://www.saastr.com/replits-new-release-address-most-of-the-challenges-we-hit-vibe-coding-but-is-prosumer-vibe-coding-really-ready-for-commercial-apps-yet/ . Outro relato do próprio Lemkin: https://www.saastr.com/weve-now-shipped-3-vibe-coded-apps-to-production-heres-what-actually-worked-and-what-nearly-killed-us/ . Posts: https://x.com/jasonlk/status/1946239068691665187 e https://x.com/amasad/status/1946986468586721478 . Acesso direto ao X indisponível na verificação, usados os trechos reproduzidos pelo autor. Replit confirma rollout gradual da separação dev/prod em 21/07/2025: https://replit.com/blog/introducing-a-safer-way-to-vibe-code-with-replit-databases . O autor relata recuperação por rollback. Não afirmar perda permanente, taxa geral de falha ou que as condições do produto continuam iguais hoje. Trechos traduzidos. Consultado em 18/10/2026.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Fonte primária: Veracode, 2025 GenAI Code Security Report, https://www.veracode.com/wp-content/uploads/2025_GenAI_Code_Security_Report_Final.pdf . Artigo: https://www.veracode.com/blog/genai-code-security-report/ . Capa extraída do PDF original. Metodologia: mais de 100 LLMs, 80 tarefas de completar código, quatro linguagens, quatro classes de vulnerabilidade, cinco variações por combinação. A ferramenta de análise estática da Veracode avaliou as soluções. Não havia instruções específicas de segurança. O relatório encontrou 45% de amostras com falhas de segurança no benchmark. Não mede a proporção de todos os aplicativos vulneráveis, nem avalia integralmente um fluxo de agentes/harnesses. Fonte comercial com método descrito no relatório. Dados históricos de 2025. Consultado em 18/10/2026.</a:t>
            </a:r>
            <a:endParaRPr/>
          </a:p>
          <a:p xmlns:a="http://schemas.openxmlformats.org/drawingml/2006/main">
            <a:pPr>
              <a:buNone/>
            </a:pPr>
            <a:r>
              <a:t>Auditoria de 18/10/2026: PDF original, páginas 3–7 e 10 (posição no arquivo PDF). Confirmados 80 = 4 linguagens × 4 CWEs × 5 variantes, mais de 100 modelos, 45% com falhas detectadas no experimento e ausência de orientação específica de segurança. Benchmark de completar funções, não avaliação de aplicativos inteiros nem de todo fluxo de vibe coding.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Fonte primária: Linus Torvalds, mensagem do commit “Merge branch 'antigravity'”, repositório AudioNoise: https://github.com/torvalds/AudioNoise/commit/93a72563cba609a414297b558cb46ddd3ce9d6b5 . Original do trecho traduzido: “Is this much better than I could do by hand? Sure is.” A mensagem explica que o Google Antigravity melhorou sua ferramenta de visualização e que Torvalds precisou diagnosticar o problema da seleção de retângulo e pedir uma implementação personalizada de RectangleSelector. A fala trata desse projeto pessoal. Não é uma declaração sobre usar vibe coding no kernel Linux. A conclusão pedagógica sobre intervenção humana é interpretação do caso. Consultado em 18/10/2026.</a:t>
            </a:r>
            <a:endParaRPr/>
          </a:p>
          <a:p xmlns:a="http://schemas.openxmlformats.org/drawingml/2006/main">
            <a:pPr>
              <a:buNone/>
            </a:pPr>
            <a:r>
              <a:t>Auditoria de 18/10/2026: frase e contexto confirmados diretamente na mensagem do commit 93a72563cba609a414297b558cb46ddd3ce9d6b5. Tradução fiel de trecho, sem atribuição ao kernel Linux.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Fontes primárias: Fábio Akita, Akita's AI Lair, https://ailair.akitaonrails.com/ e seção Workflow do mesmo site. Imagem: retrato ilustrado publicado pelo autor em https://ailair.akitaonrails.com/_astro/akita.BajloDD1_Z15Odf2.webp . O site descreve uso de agentes em repositórios abertos, troca entre Claude Code, Codex e OpenCode, memória externa e leitura dos relatórios para tomada de decisão. Linus Torvalds: https://github.com/torvalds/AudioNoise/commit/93a72563cba609a414297b558cb46ddd3ce9d6b5 . São exemplos documentados de adoção, não uma pesquisa de prevalência nem garantia de produtividade. A conclusão sobre práticas de trabalho é síntese didática. Consultado em 18/10/2026.</a:t>
            </a:r>
            <a:endParaRPr/>
          </a:p>
          <a:p xmlns:a="http://schemas.openxmlformats.org/drawingml/2006/main">
            <a:pPr>
              <a:buNone/>
            </a:pPr>
            <a:r>
              <a:t>Auditoria de 18/10/2026: conteúdo confirmado no próprio site. Vínculo do site com o autor corroborado pelo repositório público https://github.com/akitaonrails/ai-toolkit-web . Trata-se de relato do autor e exemplos de adoção, sem medição independente de produtividade.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Harness é a camada de software ao redor do modelo: mantém a sessão, constrói o contexto, coordena chamadas, controla execução e devolve resultados. Diagrama nativo editável. Fonte: https://developers.openai.com/blog/codex-as-a-platform</a:t>
            </a:r>
            <a:endParaRPr/>
          </a:p>
          <a:p xmlns:a="http://schemas.openxmlformats.org/drawingml/2006/main">
            <a:pPr>
              <a:buNone/>
            </a:pPr>
            <a:r>
              <a:t>Atualização: harness é camada de controle e execução. A segurança depende de permissões, isolamento e validações. Fontes: https://developers.openai.com/blog/codex-as-a-platform e https://developers.openai.com/api/docs/guides/function-calling.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Fonte: https://developers.openai.com/api/docs/guides/function-calling . Contexto e preparação da requisição: https://developers.openai.com/blog/codex-as-a-platform . Esquemas de ferramentas são dados estruturados da API, não necessariamente texto listado no system prompt. Arquivos entram quando o harness os inclui ou uma ferramenta os recupera. Consultado em 18/10/2026. Conteúdo didático adaptado, sem acesso ao vídeo mencionado.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Fonte: https://developers.openai.com/api/docs/guides/function-calling . O modelo solicita uma ferramenta, a aplicação executa e devolve a saída com referência à chamada. O ciclo pode repetir. Chamadas podem ocorrer em paralelo quando suportadas. Controles e regras de parada dependem da implementação. Consultado em 18/10/2026. Conteúdo didático adaptado, sem acesso ao vídeo mencionado.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Diagrama didático editável. Fontes: https://developers.openai.com/api/docs/guides/function-calling e https://developers.openai.com/blog/codex-as-a-platform . O harness prepara a requisição, controla a execução e retorna observações. A ferramenta não precisa estar na máquina local. A comunicação pode conter conteúdo multimodal e dados estruturados. Consultado em 18/10/2026. Conteúdo didático adaptado, sem acesso ao vídeo mencionado.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Fontes: https://developers.openai.com/blog/codex-as-a-platform e https://developers.openai.com/api/docs/guides/agents-api/overview . Distinção didática entre interface, harness e modelo. Codex pode designar o produto e seu sistema agêntico, não apenas um aplicativo de desktop. Ambientes locais e gerenciados oferecem ferramentas e permissões diferentes. Consultado em 18/10/2026. Conteúdo didático adaptado, sem acesso ao vídeo mencionado.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Mapeamento simplificado por ecossistema, sem exclusividade de associação ou lista de versões disponíveis. GPT é a família de modelos da OpenAI; Codex é o agente/produto com harness próprio. Claude Code envolve modelos Claude; Antigravity tem harness compartilhado associado ao ecossistema Gemini. Outros produtos podem disponibilizar modelos de mais de um fornecedor. Fontes: https://developers.openai.com/blog/codex-as-a-platform ; https://code.claude.com/docs/en/how-claude-code-works ; https://www.antigravity.google/docs/home/ ; https://cursor.com/docs/agent/overview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Codex: https://developers.openai.com/blog/codex-as-a-platform</a:t>
            </a:r>
            <a:endParaRPr/>
          </a:p>
          <a:p xmlns:a="http://schemas.openxmlformats.org/drawingml/2006/main">
            <a:pPr>
              <a:buNone/>
            </a:pPr>
            <a:r>
              <a:t>Antigravity: https://www.antigravity.google/docs/ide/overview/</a:t>
            </a:r>
            <a:endParaRPr/>
          </a:p>
          <a:p xmlns:a="http://schemas.openxmlformats.org/drawingml/2006/main">
            <a:pPr>
              <a:buNone/>
            </a:pPr>
            <a:r>
              <a:t>Logos de ChatGPT, Claude, Copilot, Cursor e Replit: referência fornecida pelo usuário. Ícone Codex: https://developers.openai.com/favicon.png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Fonte: https://developers.openai.com/api/docs/guides/evaluation-best-practices . Testes automatizados, revisão humana e avaliações por modelo são abordagens complementares. Um judge pode ter vieses e errar. Evals ajudam a medir desempenho, sem garantia automática de segurança ou fidelidade. Fonte sobre ambiente gerenciado: https://developers.openai.com/api/docs/guides/agents-api/overview . Consultado em 18/10/2026. Conteúdo didático adaptado, sem acesso ao vídeo mencionado.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Guardrails podem verificar entradas, ferramentas e saídas. Instruções de prompt são uma camada de orientação, não uma barreira de segurança garantida. Aplique permissões, isolamento, validações e aprovações conforme a ação. Referência: https://developers.openai.com/api/docs/guides/agents/guardrails-approvals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Mesmo diagrama e explicação do slide 3 da aula 02. Os sete passos se repetem por funcionalidade pequena. Falhas de código/ambiente exigem correção e reteste. Mudanças de regras exigem rever PRD/SPEC e confirmar com o responsável. Após entregar e observar o uso, começa outro ciclo. Os documentos são convenções didáticas e evoluem com o projeto.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Explicação alinhada à aula 02: o fluxo se repete por parte pequena e revisável. A documentação é proporcional ao trabalho e acompanha decisões e aprendizados. Não exige criar todos os documentos ou abrir uma conversa nova para cada tarefa. Testes verificam comportamentos conhecidos e a revisão humana avalia a entrega. Branch/PR por funcionalidade é a convenção didática adotada no curso, não uma exigência atribuída a Akita.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Explicação alinhada à aula 02: o fluxo se repete por parte pequena e revisável. A documentação é proporcional ao trabalho e acompanha decisões e aprendizados. Não exige criar todos os documentos ou abrir uma conversa nova para cada tarefa. Testes verificam comportamentos conhecidos e a revisão humana avalia a entrega. Branch/PR por funcionalidade é a convenção didática adotada no curso, não uma exigência atribuída a Akita.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Explicação alinhada à aula 02: o fluxo se repete por parte pequena e revisável. A documentação é proporcional ao trabalho e acompanha decisões e aprendizados. Não exige criar todos os documentos ou abrir uma conversa nova para cada tarefa. Testes verificam comportamentos conhecidos e a revisão humana avalia a entrega. Branch/PR por funcionalidade é a convenção didática adotada no curso, não uma exigência atribuída a Akita.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Explicação alinhada à aula 02: o fluxo se repete por parte pequena e revisável. A documentação é proporcional ao trabalho e acompanha decisões e aprendizados. Não exige criar todos os documentos ou abrir uma conversa nova para cada tarefa. Testes verificam comportamentos conhecidos e a revisão humana avalia a entrega. Branch/PR por funcionalidade é a convenção didática adotada no curso, não uma exigência atribuída a Akita.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Explicação alinhada à aula 02: o fluxo se repete por parte pequena e revisável. A documentação é proporcional ao trabalho e acompanha decisões e aprendizados. Não exige criar todos os documentos ou abrir uma conversa nova para cada tarefa. Testes verificam comportamentos conhecidos e a revisão humana avalia a entrega. Branch/PR por funcionalidade é a convenção didática adotada no curso, não uma exigência atribuída a Akita.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Explicação alinhada à aula 02: o fluxo se repete por parte pequena e revisável. A documentação é proporcional ao trabalho e acompanha decisões e aprendizados. Não exige criar todos os documentos ou abrir uma conversa nova para cada tarefa. Testes verificam comportamentos conhecidos e a revisão humana avalia a entrega. Branch/PR por funcionalidade é a convenção didática adotada no curso, não uma exigência atribuída a Akita.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Explicação alinhada à aula 02: o fluxo se repete por parte pequena e revisável. A documentação é proporcional ao trabalho e acompanha decisões e aprendizados. Não exige criar todos os documentos ou abrir uma conversa nova para cada tarefa. Testes verificam comportamentos conhecidos e a revisão humana avalia a entrega. Branch/PR por funcionalidade é a convenção didática adotada no curso, não uma exigência atribuída a Akita.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Explicação alinhada à aula 02: o fluxo se repete por parte pequena e revisável. A documentação é proporcional ao trabalho e acompanha decisões e aprendizados. Não exige criar todos os documentos ou abrir uma conversa nova para cada tarefa. Testes verificam comportamentos conhecidos e a revisão humana avalia a entrega. Branch/PR por funcionalidade é a convenção didática adotada no curso, não uma exigência atribuída a Akita.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Explicação alinhada à aula 02: o fluxo se repete por parte pequena e revisável. A documentação é proporcional ao trabalho e acompanha decisões e aprendizados. Não exige criar todos os documentos ou abrir uma conversa nova para cada tarefa. Testes verificam comportamentos conhecidos e a revisão humana avalia a entrega. Branch/PR por funcionalidade é a convenção didática adotada no curso, não uma exigência atribuída a Akita.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Explicação alinhada à aula 02: o fluxo se repete por parte pequena e revisável. A documentação é proporcional ao trabalho e acompanha decisões e aprendizados. Não exige criar todos os documentos ou abrir uma conversa nova para cada tarefa. Testes verificam comportamentos conhecidos e a revisão humana avalia a entrega. Branch/PR por funcionalidade é a convenção didática adotada no curso, não uma exigência atribuída a Akita.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Explicação alinhada à aula 02: o fluxo se repete por parte pequena e revisável. A documentação é proporcional ao trabalho e acompanha decisões e aprendizados. Não exige criar todos os documentos ou abrir uma conversa nova para cada tarefa. Testes verificam comportamentos conhecidos e a revisão humana avalia a entrega. Branch/PR por funcionalidade é a convenção didática adotada no curso, não uma exigência atribuída a Akita.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110263177046d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592bc32a504f9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6ad7f8715a430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1504a56344403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153d568dd14175" /></Relationships>
</file>

<file path=ppt/slideLayouts/slideLayout1.xml><?xml version="1.0" encoding="utf-8"?>
<p:sldLayout xmlns:p="http://schemas.openxmlformats.org/presentationml/2006/main" showMasterSp="1" showMasterPhAnim="0" matchingName="" type="title" preserve="0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85102381" name="Title">
            <a:extLst xmlns:a="http://schemas.openxmlformats.org/drawingml/2006/main">
              <a:ext uri="{FF2B5EF4-FFF2-40B4-BE49-F238E27FC236}">
                <a16:creationId xmlns:a16="http://schemas.microsoft.com/office/drawing/2014/main" id="{B043DB3D-8E2D-4451-B19A-85A7642799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224543202" name="Subtitle">
            <a:extLst xmlns:a="http://schemas.openxmlformats.org/drawingml/2006/main">
              <a:ext uri="{FF2B5EF4-FFF2-40B4-BE49-F238E27FC236}">
                <a16:creationId xmlns:a16="http://schemas.microsoft.com/office/drawing/2014/main" id="{DA425431-266F-469B-82C6-328922DDCAB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Sp="1" showMasterPhAnim="0" matchingName="" preserve="0" userDrawn="1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72199645" name="Title">
            <a:extLst xmlns:a="http://schemas.openxmlformats.org/drawingml/2006/main">
              <a:ext uri="{FF2B5EF4-FFF2-40B4-BE49-F238E27FC236}">
                <a16:creationId xmlns:a16="http://schemas.microsoft.com/office/drawing/2014/main" id="{2F0BD238-50A7-4478-B0B1-650644281A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217202813" name="Body">
            <a:extLst xmlns:a="http://schemas.openxmlformats.org/drawingml/2006/main">
              <a:ext uri="{FF2B5EF4-FFF2-40B4-BE49-F238E27FC236}">
                <a16:creationId xmlns:a16="http://schemas.microsoft.com/office/drawing/2014/main" id="{774DB211-85B4-4E48-B634-47D3D13AE5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599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199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showMasterSp="1" showMasterPhAnim="0" matchingName="" preserve="0" userDrawn="1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2323084" name="Title">
            <a:extLst xmlns:a="http://schemas.openxmlformats.org/drawingml/2006/main">
              <a:ext uri="{FF2B5EF4-FFF2-40B4-BE49-F238E27FC236}">
                <a16:creationId xmlns:a16="http://schemas.microsoft.com/office/drawing/2014/main" id="{A81ECB1A-CAFC-48DD-B15D-5322F0B7F7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216699289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0E52C51-2962-481E-9201-9736828BE6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599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199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666137416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2C56FB4-4E7A-4CC3-8371-F4A45E7083B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599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199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showMasterSp="1" showMasterPhAnim="0" matchingName="" preserve="0" userDrawn="1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8719713" name="Title">
            <a:extLst xmlns:a="http://schemas.openxmlformats.org/drawingml/2006/main">
              <a:ext uri="{FF2B5EF4-FFF2-40B4-BE49-F238E27FC236}">
                <a16:creationId xmlns:a16="http://schemas.microsoft.com/office/drawing/2014/main" id="{DE5D5AA6-3A66-4AB4-9861-75E76D959B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364159441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914C4B8-9BD1-4CFF-A88C-D8C24A6BB9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599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199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showMasterSp="1" showMasterPhAnim="0" matchingName="" type="blank" preserve="0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0a7e8938394903" /><Relationship Type="http://schemas.openxmlformats.org/officeDocument/2006/relationships/slideLayout" Target="/ppt/slideLayouts/slideLayout1.xml" Id="Re4ce4be468e84c94" /><Relationship Type="http://schemas.openxmlformats.org/officeDocument/2006/relationships/slideLayout" Target="/ppt/slideLayouts/slideLayout2.xml" Id="Rd39f2b3d9967413e" /><Relationship Type="http://schemas.openxmlformats.org/officeDocument/2006/relationships/slideLayout" Target="/ppt/slideLayouts/slideLayout3.xml" Id="Rf8b97a2c83aa4ebd" /><Relationship Type="http://schemas.openxmlformats.org/officeDocument/2006/relationships/slideLayout" Target="/ppt/slideLayouts/slideLayout4.xml" Id="R0aec9fa5bbd34832" /><Relationship Type="http://schemas.openxmlformats.org/officeDocument/2006/relationships/slideLayout" Target="/ppt/slideLayouts/slideLayout5.xml" Id="Racd213eefa694a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ce4be468e84c94"/>
    <p:sldLayoutId xmlns:r="http://schemas.openxmlformats.org/officeDocument/2006/relationships" id="2147483650" r:id="Rd39f2b3d9967413e"/>
    <p:sldLayoutId xmlns:r="http://schemas.openxmlformats.org/officeDocument/2006/relationships" id="2147483651" r:id="Rf8b97a2c83aa4ebd"/>
    <p:sldLayoutId xmlns:r="http://schemas.openxmlformats.org/officeDocument/2006/relationships" id="2147483652" r:id="R0aec9fa5bbd34832"/>
    <p:sldLayoutId xmlns:r="http://schemas.openxmlformats.org/officeDocument/2006/relationships" id="2147483653" r:id="Racd213eefa694a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1095a4d9ed54d31" /><Relationship Type="http://schemas.openxmlformats.org/officeDocument/2006/relationships/image" Target="/ppt/media/image.png" Id="Rb283c96408684f7e" /><Relationship Type="http://schemas.openxmlformats.org/officeDocument/2006/relationships/notesSlide" Target="/ppt/notesSlides/notesSlide1.xml" Id="Rc89e799afce548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e690c451f154500" /><Relationship Type="http://schemas.openxmlformats.org/officeDocument/2006/relationships/notesSlide" Target="/ppt/notesSlides/notesSlide2.xml" Id="Rda81f5366d414e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50730b0697a4f3b" /><Relationship Type="http://schemas.openxmlformats.org/officeDocument/2006/relationships/notesSlide" Target="/ppt/notesSlides/notesSlide3.xml" Id="R360cb76fac9c49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0a5e2da5419461e" /><Relationship Type="http://schemas.openxmlformats.org/officeDocument/2006/relationships/notesSlide" Target="/ppt/notesSlides/notesSlide4.xml" Id="R2a059067e3a24a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3d56fd4c90c49b7" /><Relationship Type="http://schemas.openxmlformats.org/officeDocument/2006/relationships/image" Target="/ppt/media/image2.png" Id="R3627cac4fd554902" /><Relationship Type="http://schemas.openxmlformats.org/officeDocument/2006/relationships/notesSlide" Target="/ppt/notesSlides/notesSlide5.xml" Id="R9edc11c157724d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b2e4b0e697c49b2" /><Relationship Type="http://schemas.openxmlformats.org/officeDocument/2006/relationships/notesSlide" Target="/ppt/notesSlides/notesSlide6.xml" Id="Rbbb5260c2cb74a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7d6134c92c84cfb" /><Relationship Type="http://schemas.openxmlformats.org/officeDocument/2006/relationships/notesSlide" Target="/ppt/notesSlides/notesSlide7.xml" Id="R0f46bfc8525743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c8f51865c9e40e7" /><Relationship Type="http://schemas.openxmlformats.org/officeDocument/2006/relationships/notesSlide" Target="/ppt/notesSlides/notesSlide8.xml" Id="R6d0dd07b5e154d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bb323c08c3b4733" /><Relationship Type="http://schemas.openxmlformats.org/officeDocument/2006/relationships/notesSlide" Target="/ppt/notesSlides/notesSlide9.xml" Id="R3b7dacd431414a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4e588d5c7434d66" /><Relationship Type="http://schemas.openxmlformats.org/officeDocument/2006/relationships/image" Target="/ppt/media/image3.png" Id="R21df881da2c54445" /><Relationship Type="http://schemas.openxmlformats.org/officeDocument/2006/relationships/notesSlide" Target="/ppt/notesSlides/notesSlide10.xml" Id="R536fea84ed4549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1f2e7d82b4b4d9f" /><Relationship Type="http://schemas.openxmlformats.org/officeDocument/2006/relationships/image" Target="/ppt/media/image4.png" Id="R612b1334d49944ab" /><Relationship Type="http://schemas.openxmlformats.org/officeDocument/2006/relationships/notesSlide" Target="/ppt/notesSlides/notesSlide11.xml" Id="Rab92c788269a43c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5bc922ca0de45bc" /><Relationship Type="http://schemas.openxmlformats.org/officeDocument/2006/relationships/notesSlide" Target="/ppt/notesSlides/notesSlide12.xml" Id="R2e6e6438474f4a8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ba0a09ff4504d75" /><Relationship Type="http://schemas.openxmlformats.org/officeDocument/2006/relationships/image" Target="/ppt/media/image5.png" Id="Rb09f8a4bc0f44bc6" /><Relationship Type="http://schemas.openxmlformats.org/officeDocument/2006/relationships/notesSlide" Target="/ppt/notesSlides/notesSlide13.xml" Id="R2d0bc209f4684d0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8fc1d06f22c471d" /><Relationship Type="http://schemas.openxmlformats.org/officeDocument/2006/relationships/notesSlide" Target="/ppt/notesSlides/notesSlide14.xml" Id="Rb7b7a873f5ee412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48c81717f44491f" /><Relationship Type="http://schemas.openxmlformats.org/officeDocument/2006/relationships/image" Target="/ppt/media/image6.png" Id="R948987a997e14ef9" /><Relationship Type="http://schemas.openxmlformats.org/officeDocument/2006/relationships/notesSlide" Target="/ppt/notesSlides/notesSlide15.xml" Id="R26df918a0c1a47f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67af94db9054cab" /><Relationship Type="http://schemas.openxmlformats.org/officeDocument/2006/relationships/notesSlide" Target="/ppt/notesSlides/notesSlide16.xml" Id="Rd0b3ef09d0c9465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369f97d820e45cf" /><Relationship Type="http://schemas.openxmlformats.org/officeDocument/2006/relationships/notesSlide" Target="/ppt/notesSlides/notesSlide17.xml" Id="Rb18a9c89e32649a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7be67bbb5a5488a" /><Relationship Type="http://schemas.openxmlformats.org/officeDocument/2006/relationships/notesSlide" Target="/ppt/notesSlides/notesSlide18.xml" Id="R155330cb0f7844a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06249b35efb4087" /><Relationship Type="http://schemas.openxmlformats.org/officeDocument/2006/relationships/notesSlide" Target="/ppt/notesSlides/notesSlide19.xml" Id="R0df41741ca574ff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6367805d0ab44f3" /><Relationship Type="http://schemas.openxmlformats.org/officeDocument/2006/relationships/notesSlide" Target="/ppt/notesSlides/notesSlide20.xml" Id="R4ecd090410274dc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0262ddeca9244e7" /><Relationship Type="http://schemas.openxmlformats.org/officeDocument/2006/relationships/notesSlide" Target="/ppt/notesSlides/notesSlide21.xml" Id="R24a4c394e59a45e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329de2207304638" /><Relationship Type="http://schemas.openxmlformats.org/officeDocument/2006/relationships/notesSlide" Target="/ppt/notesSlides/notesSlide22.xml" Id="R7ca8141e461e460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0a34966d078402d" /><Relationship Type="http://schemas.openxmlformats.org/officeDocument/2006/relationships/notesSlide" Target="/ppt/notesSlides/notesSlide23.xml" Id="Rb0ea953187e743f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3023d3b9e6b4fec" /><Relationship Type="http://schemas.openxmlformats.org/officeDocument/2006/relationships/notesSlide" Target="/ppt/notesSlides/notesSlide24.xml" Id="R2daa7248287d4c4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20ede46e1b74a85" /><Relationship Type="http://schemas.openxmlformats.org/officeDocument/2006/relationships/notesSlide" Target="/ppt/notesSlides/notesSlide25.xml" Id="R5bba14cd9e9241e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dc8e1ca28824bd9" /><Relationship Type="http://schemas.openxmlformats.org/officeDocument/2006/relationships/notesSlide" Target="/ppt/notesSlides/notesSlide26.xml" Id="R3fed5f20d2764b7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07d4bb80ec74357" /><Relationship Type="http://schemas.openxmlformats.org/officeDocument/2006/relationships/notesSlide" Target="/ppt/notesSlides/notesSlide27.xml" Id="Rb02e4d514cda408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8fcc54ee5f74c97" /><Relationship Type="http://schemas.openxmlformats.org/officeDocument/2006/relationships/notesSlide" Target="/ppt/notesSlides/notesSlide28.xml" Id="Ra0ebc0260faa4f1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a6c43ff660a4a46" /><Relationship Type="http://schemas.openxmlformats.org/officeDocument/2006/relationships/notesSlide" Target="/ppt/notesSlides/notesSlide29.xml" Id="R6f1702330888493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502da37c81f4291" /><Relationship Type="http://schemas.openxmlformats.org/officeDocument/2006/relationships/notesSlide" Target="/ppt/notesSlides/notesSlide30.xml" Id="R046b730140e146f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af74ee02ecb4a01" /><Relationship Type="http://schemas.openxmlformats.org/officeDocument/2006/relationships/notesSlide" Target="/ppt/notesSlides/notesSlide31.xml" Id="R6f19f9a9ced645d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ee502cc688e475e" /><Relationship Type="http://schemas.openxmlformats.org/officeDocument/2006/relationships/notesSlide" Target="/ppt/notesSlides/notesSlide32.xml" Id="R607014669086414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5fdaadba9c04181" /><Relationship Type="http://schemas.openxmlformats.org/officeDocument/2006/relationships/notesSlide" Target="/ppt/notesSlides/notesSlide33.xml" Id="R206d058916dc4e7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95051c85732402b" /><Relationship Type="http://schemas.openxmlformats.org/officeDocument/2006/relationships/notesSlide" Target="/ppt/notesSlides/notesSlide34.xml" Id="Rbf370ab68c1d4ef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7cd380e3f8c45d7" /><Relationship Type="http://schemas.openxmlformats.org/officeDocument/2006/relationships/notesSlide" Target="/ppt/notesSlides/notesSlide35.xml" Id="Rffa16f3aa564495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a4e0c8f06d741a4" /><Relationship Type="http://schemas.openxmlformats.org/officeDocument/2006/relationships/notesSlide" Target="/ppt/notesSlides/notesSlide36.xml" Id="R428a0cf1cdec44d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0044ed4e39c4ffb" /><Relationship Type="http://schemas.openxmlformats.org/officeDocument/2006/relationships/notesSlide" Target="/ppt/notesSlides/notesSlide37.xml" Id="Rf58fdf1ec9d540d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0d57cd038664c98" /><Relationship Type="http://schemas.openxmlformats.org/officeDocument/2006/relationships/notesSlide" Target="/ppt/notesSlides/notesSlide38.xml" Id="R7b13d832ce214e80" /></Relationships>
</file>

<file path=ppt/slides/slide1.xml><?xml version="1.0" encoding="utf-8"?>
<p:sld xmlns:p="http://schemas.openxmlformats.org/presentationml/2006/main" showMasterSp="1" show="1">
  <p:cSld>
    <p:bg>
      <p:bgPr>
        <a:solidFill xmlns:a="http://schemas.openxmlformats.org/drawingml/2006/main">
          <a:srgbClr val="00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8945084" name="">
            <a:extLst xmlns:a="http://schemas.openxmlformats.org/drawingml/2006/main">
              <a:ext uri="{FF2B5EF4-FFF2-40B4-BE49-F238E27FC236}">
                <a16:creationId xmlns:a16="http://schemas.microsoft.com/office/drawing/2014/main" id="{F77BBF53-5B3F-49C1-9A4B-6E7D4E0B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A8DCF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A8DCF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A8DCF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A8DCF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A8DCF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A8DCF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A8DCF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A8DCF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A8DCF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A8DC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A8DC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DCFA"/>
                </a:solidFill>
                <a:latin typeface="Arial"/>
                <a:ea typeface="Arial"/>
                <a:cs typeface="Arial"/>
              </a:rPr>
              <a:t>01 / 38</a:t>
            </a:r>
            <a:endParaRPr/>
          </a:p>
        </p:txBody>
      </p:sp>
      <p:pic>
        <p:nvPicPr>
          <p:cNvPr id="1350705684" name="">
            <a:extLst xmlns:a="http://schemas.openxmlformats.org/drawingml/2006/main">
              <a:ext uri="{FF2B5EF4-FFF2-40B4-BE49-F238E27FC236}">
                <a16:creationId xmlns:a16="http://schemas.microsoft.com/office/drawing/2014/main" id="{C98337AB-AEF6-4CF3-8CED-C3BD5F434C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283c96408684f7e"/>
          <a:srcRect xmlns:a="http://schemas.openxmlformats.org/drawingml/2006/main" l="0" t="2941" r="0" b="29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0"/>
            <a:ext cx="4857750" cy="6858000"/>
          </a:xfrm>
          <a:prstGeom xmlns:a="http://schemas.openxmlformats.org/drawingml/2006/main" prst="rect">
            <a:avLst/>
          </a:prstGeom>
        </p:spPr>
      </p:pic>
      <p:sp>
        <p:nvSpPr>
          <p:cNvPr id="669185222" name="">
            <a:extLst xmlns:a="http://schemas.openxmlformats.org/drawingml/2006/main">
              <a:ext uri="{FF2B5EF4-FFF2-40B4-BE49-F238E27FC236}">
                <a16:creationId xmlns:a16="http://schemas.microsoft.com/office/drawing/2014/main" id="{1F1D3813-9331-4F2A-BB57-272EAA6B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 Ideia à Aplicação</a:t>
            </a:r>
            <a:endParaRPr/>
          </a:p>
          <a:p xmlns:a="http://schemas.openxmlformats.org/drawingml/2006/main">
            <a:pPr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 IA Generativa</a:t>
            </a:r>
            <a:endParaRPr/>
          </a:p>
        </p:txBody>
      </p:sp>
      <p:sp>
        <p:nvSpPr>
          <p:cNvPr id="1087821430" name="">
            <a:extLst xmlns:a="http://schemas.openxmlformats.org/drawingml/2006/main">
              <a:ext uri="{FF2B5EF4-FFF2-40B4-BE49-F238E27FC236}">
                <a16:creationId xmlns:a16="http://schemas.microsoft.com/office/drawing/2014/main" id="{30789C4E-CD3E-46AB-930C-B484671A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24250"/>
            <a:ext cx="704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D8F3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0">
                <a:solidFill>
                  <a:srgbClr val="D8F3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0">
                <a:solidFill>
                  <a:srgbClr val="D8F3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0">
                <a:solidFill>
                  <a:srgbClr val="D8F3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0">
                <a:solidFill>
                  <a:srgbClr val="D8F3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0">
                <a:solidFill>
                  <a:srgbClr val="D8F3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0">
                <a:solidFill>
                  <a:srgbClr val="D8F3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0">
                <a:solidFill>
                  <a:srgbClr val="D8F3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0">
                <a:solidFill>
                  <a:srgbClr val="D8F3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0">
                <a:solidFill>
                  <a:srgbClr val="D8F3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0">
                <a:solidFill>
                  <a:srgbClr val="D8F3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D8F3FF"/>
                </a:solidFill>
                <a:latin typeface="Arial"/>
                <a:ea typeface="Arial"/>
                <a:cs typeface="Arial"/>
              </a:rPr>
              <a:t>Fundamentos, Mecânica e Prática</a:t>
            </a:r>
            <a:endParaRPr/>
          </a:p>
        </p:txBody>
      </p:sp>
      <p:sp>
        <p:nvSpPr>
          <p:cNvPr id="230645304" name="">
            <a:extLst xmlns:a="http://schemas.openxmlformats.org/drawingml/2006/main">
              <a:ext uri="{FF2B5EF4-FFF2-40B4-BE49-F238E27FC236}">
                <a16:creationId xmlns:a16="http://schemas.microsoft.com/office/drawing/2014/main" id="{38A4E322-E85F-419D-9662-C7FDC09D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38650"/>
            <a:ext cx="904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56F5"/>
          </a:solidFill>
          <a:ln xmlns:a="http://schemas.openxmlformats.org/drawingml/2006/main" w="9525">
            <a:solidFill>
              <a:srgbClr val="7456F5"/>
            </a:solidFill>
            <a:prstDash val="solid"/>
          </a:ln>
        </p:spPr>
      </p:sp>
      <p:sp>
        <p:nvSpPr>
          <p:cNvPr id="2133236897" name="">
            <a:extLst xmlns:a="http://schemas.openxmlformats.org/drawingml/2006/main">
              <a:ext uri="{FF2B5EF4-FFF2-40B4-BE49-F238E27FC236}">
                <a16:creationId xmlns:a16="http://schemas.microsoft.com/office/drawing/2014/main" id="{4183AA16-E352-4E9B-8162-5767D60B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0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IA Generativa na Prática</a:t>
            </a:r>
            <a:endParaRPr/>
          </a:p>
          <a:p xmlns:a="http://schemas.openxmlformats.org/drawingml/2006/main">
            <a:pPr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 Zero ao Agente Especializado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3556164"/>
      </p:ext>
    </p:extLst>
  </p:cSld>
</p:sld>
</file>

<file path=ppt/slides/slide2.xml><?xml version="1.0" encoding="utf-8"?>
<p:sld xmlns:p="http://schemas.openxmlformats.org/presentationml/2006/main" showMasterSp="1" show="1">
  <p:cSld>
    <p:bg>
      <p:bgPr>
        <a:solidFill xmlns:a="http://schemas.openxmlformats.org/drawingml/2006/main">
          <a:srgbClr val="F3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20782046" name="">
            <a:extLst xmlns:a="http://schemas.openxmlformats.org/drawingml/2006/main">
              <a:ext uri="{FF2B5EF4-FFF2-40B4-BE49-F238E27FC236}">
                <a16:creationId xmlns:a16="http://schemas.microsoft.com/office/drawing/2014/main" id="{0FB27E89-E1F9-4406-BB74-2094F68C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86C5"/>
                </a:solidFill>
                <a:latin typeface="Arial"/>
                <a:ea typeface="Arial"/>
                <a:cs typeface="Arial"/>
              </a:rPr>
              <a:t>02 / 38</a:t>
            </a:r>
            <a:endParaRPr/>
          </a:p>
        </p:txBody>
      </p:sp>
      <p:sp>
        <p:nvSpPr>
          <p:cNvPr id="1162816070" name="">
            <a:extLst xmlns:a="http://schemas.openxmlformats.org/drawingml/2006/main">
              <a:ext uri="{FF2B5EF4-FFF2-40B4-BE49-F238E27FC236}">
                <a16:creationId xmlns:a16="http://schemas.microsoft.com/office/drawing/2014/main" id="{B9E2012B-0D63-4BB1-ABB5-ADDD358D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O que é IA generativa?</a:t>
            </a:r>
            <a:endParaRPr/>
          </a:p>
        </p:txBody>
      </p:sp>
      <p:sp>
        <p:nvSpPr>
          <p:cNvPr id="1412323058" name="">
            <a:extLst xmlns:a="http://schemas.openxmlformats.org/drawingml/2006/main">
              <a:ext uri="{FF2B5EF4-FFF2-40B4-BE49-F238E27FC236}">
                <a16:creationId xmlns:a16="http://schemas.microsoft.com/office/drawing/2014/main" id="{5A09168A-4BDD-4476-B386-CD0624DE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1104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É uma classe de modelos que aprende padrões em dados e gera novos conteúdos a partir de um pedido e de um contexto.</a:t>
            </a:r>
            <a:endParaRPr/>
          </a:p>
        </p:txBody>
      </p:sp>
      <p:sp>
        <p:nvSpPr>
          <p:cNvPr id="1315857522" name="">
            <a:extLst xmlns:a="http://schemas.openxmlformats.org/drawingml/2006/main">
              <a:ext uri="{FF2B5EF4-FFF2-40B4-BE49-F238E27FC236}">
                <a16:creationId xmlns:a16="http://schemas.microsoft.com/office/drawing/2014/main" id="{12B9159E-E502-40EE-B6ED-56F8AFD7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0"/>
            <a:ext cx="35242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1390866084" name="">
            <a:extLst xmlns:a="http://schemas.openxmlformats.org/drawingml/2006/main">
              <a:ext uri="{FF2B5EF4-FFF2-40B4-BE49-F238E27FC236}">
                <a16:creationId xmlns:a16="http://schemas.microsoft.com/office/drawing/2014/main" id="{1C4868B1-726F-4B0A-B478-4E24631E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71875"/>
            <a:ext cx="3067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Texto e código</a:t>
            </a:r>
            <a:endParaRPr/>
          </a:p>
        </p:txBody>
      </p:sp>
      <p:sp>
        <p:nvSpPr>
          <p:cNvPr id="1388735351" name="">
            <a:extLst xmlns:a="http://schemas.openxmlformats.org/drawingml/2006/main">
              <a:ext uri="{FF2B5EF4-FFF2-40B4-BE49-F238E27FC236}">
                <a16:creationId xmlns:a16="http://schemas.microsoft.com/office/drawing/2014/main" id="{5562F396-EDD1-4178-B5E5-360D3918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286250"/>
            <a:ext cx="3067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Redigir um e-mail, explicar um tema ou criar uma aplicação.</a:t>
            </a:r>
            <a:endParaRPr/>
          </a:p>
        </p:txBody>
      </p:sp>
      <p:sp>
        <p:nvSpPr>
          <p:cNvPr id="1907612402" name="">
            <a:extLst xmlns:a="http://schemas.openxmlformats.org/drawingml/2006/main">
              <a:ext uri="{FF2B5EF4-FFF2-40B4-BE49-F238E27FC236}">
                <a16:creationId xmlns:a16="http://schemas.microsoft.com/office/drawing/2014/main" id="{600255FE-F3F3-452E-8E6D-4F711F32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33750"/>
            <a:ext cx="35242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642101362" name="">
            <a:extLst xmlns:a="http://schemas.openxmlformats.org/drawingml/2006/main">
              <a:ext uri="{FF2B5EF4-FFF2-40B4-BE49-F238E27FC236}">
                <a16:creationId xmlns:a16="http://schemas.microsoft.com/office/drawing/2014/main" id="{6CDD7118-F2DB-49C2-94C2-8F7227F1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571875"/>
            <a:ext cx="3067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Imagem, áudio e vídeo</a:t>
            </a:r>
            <a:endParaRPr/>
          </a:p>
        </p:txBody>
      </p:sp>
      <p:sp>
        <p:nvSpPr>
          <p:cNvPr id="1798389400" name="">
            <a:extLst xmlns:a="http://schemas.openxmlformats.org/drawingml/2006/main">
              <a:ext uri="{FF2B5EF4-FFF2-40B4-BE49-F238E27FC236}">
                <a16:creationId xmlns:a16="http://schemas.microsoft.com/office/drawing/2014/main" id="{FE7549AD-9624-44CD-ACA0-A05EF8C1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86250"/>
            <a:ext cx="3067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Criar ou transformar conteúdo visual e sonoro, conforme o modelo.</a:t>
            </a:r>
            <a:endParaRPr/>
          </a:p>
        </p:txBody>
      </p:sp>
      <p:sp>
        <p:nvSpPr>
          <p:cNvPr id="1656516792" name="">
            <a:extLst xmlns:a="http://schemas.openxmlformats.org/drawingml/2006/main">
              <a:ext uri="{FF2B5EF4-FFF2-40B4-BE49-F238E27FC236}">
                <a16:creationId xmlns:a16="http://schemas.microsoft.com/office/drawing/2014/main" id="{981634AA-B69F-4F18-BF24-DA887A47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33750"/>
            <a:ext cx="35242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1045245237" name="">
            <a:extLst xmlns:a="http://schemas.openxmlformats.org/drawingml/2006/main">
              <a:ext uri="{FF2B5EF4-FFF2-40B4-BE49-F238E27FC236}">
                <a16:creationId xmlns:a16="http://schemas.microsoft.com/office/drawing/2014/main" id="{0A54CE54-DF3B-4E9A-9969-842F3D3F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571875"/>
            <a:ext cx="3067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No trabalho</a:t>
            </a:r>
            <a:endParaRPr/>
          </a:p>
        </p:txBody>
      </p:sp>
      <p:sp>
        <p:nvSpPr>
          <p:cNvPr id="1223293695" name="">
            <a:extLst xmlns:a="http://schemas.openxmlformats.org/drawingml/2006/main">
              <a:ext uri="{FF2B5EF4-FFF2-40B4-BE49-F238E27FC236}">
                <a16:creationId xmlns:a16="http://schemas.microsoft.com/office/drawing/2014/main" id="{A0FABF8D-5463-49B4-8748-58DD4731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286250"/>
            <a:ext cx="3067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Produzir rascunhos, explorar soluções e apoiar tarefas com ferramentas.</a:t>
            </a:r>
            <a:endParaRPr/>
          </a:p>
        </p:txBody>
      </p:sp>
      <p:sp>
        <p:nvSpPr>
          <p:cNvPr id="1939349317" name="">
            <a:extLst xmlns:a="http://schemas.openxmlformats.org/drawingml/2006/main">
              <a:ext uri="{FF2B5EF4-FFF2-40B4-BE49-F238E27FC236}">
                <a16:creationId xmlns:a16="http://schemas.microsoft.com/office/drawing/2014/main" id="{4470C302-C49D-41B3-9AEE-AC507890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3887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456F5"/>
                </a:solidFill>
                <a:latin typeface="Arial"/>
                <a:ea typeface="Arial"/>
                <a:cs typeface="Arial"/>
              </a:rPr>
              <a:t>Gerar conteúdo não garante que ele esteja correto. A entrega precisa ser conferida.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9466430"/>
      </p:ext>
    </p:extLst>
  </p:cSld>
</p:sld>
</file>

<file path=ppt/slides/slide3.xml><?xml version="1.0" encoding="utf-8"?>
<p:sld xmlns:p="http://schemas.openxmlformats.org/presentationml/2006/main" showMasterSp="1" show="1">
  <p:cSld>
    <p:bg>
      <p:bgPr>
        <a:solidFill xmlns:a="http://schemas.openxmlformats.org/drawingml/2006/main">
          <a:srgbClr val="F3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0375312" name="">
            <a:extLst xmlns:a="http://schemas.openxmlformats.org/drawingml/2006/main">
              <a:ext uri="{FF2B5EF4-FFF2-40B4-BE49-F238E27FC236}">
                <a16:creationId xmlns:a16="http://schemas.microsoft.com/office/drawing/2014/main" id="{AEF767E5-38C5-4742-BDD0-FAAB73B8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86C5"/>
                </a:solidFill>
                <a:latin typeface="Arial"/>
                <a:ea typeface="Arial"/>
                <a:cs typeface="Arial"/>
              </a:rPr>
              <a:t>03 / 38</a:t>
            </a:r>
            <a:endParaRPr/>
          </a:p>
        </p:txBody>
      </p:sp>
      <p:sp>
        <p:nvSpPr>
          <p:cNvPr id="1718956126" name="">
            <a:extLst xmlns:a="http://schemas.openxmlformats.org/drawingml/2006/main">
              <a:ext uri="{FF2B5EF4-FFF2-40B4-BE49-F238E27FC236}">
                <a16:creationId xmlns:a16="http://schemas.microsoft.com/office/drawing/2014/main" id="{DE503459-A3C9-4EF1-9BB6-655F5725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Da conversa à execução: a evolução recente</a:t>
            </a:r>
            <a:endParaRPr/>
          </a:p>
        </p:txBody>
      </p:sp>
      <p:sp>
        <p:nvSpPr>
          <p:cNvPr id="1533233724" name="">
            <a:extLst xmlns:a="http://schemas.openxmlformats.org/drawingml/2006/main">
              <a:ext uri="{FF2B5EF4-FFF2-40B4-BE49-F238E27FC236}">
                <a16:creationId xmlns:a16="http://schemas.microsoft.com/office/drawing/2014/main" id="{CDD0F1B9-1378-4532-ACE1-864E460A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Para muita gente, a porta de entrada foi perguntar ao ChatGPT. Hoje, a IA também participa da criação e da execução de tarefas.</a:t>
            </a:r>
            <a:endParaRPr/>
          </a:p>
        </p:txBody>
      </p:sp>
      <p:sp>
        <p:nvSpPr>
          <p:cNvPr id="1977551015" name="">
            <a:extLst xmlns:a="http://schemas.openxmlformats.org/drawingml/2006/main">
              <a:ext uri="{FF2B5EF4-FFF2-40B4-BE49-F238E27FC236}">
                <a16:creationId xmlns:a16="http://schemas.microsoft.com/office/drawing/2014/main" id="{79A43F9F-3B23-4016-8EDA-0C01DB61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048000"/>
            <a:ext cx="2714625" cy="2619375"/>
          </a:xfrm>
          <a:prstGeom xmlns:a="http://schemas.openxmlformats.org/drawingml/2006/main" prst="roundRect">
            <a:avLst>
              <a:gd name="adj" fmla="val 6545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1805969744" name="">
            <a:extLst xmlns:a="http://schemas.openxmlformats.org/drawingml/2006/main">
              <a:ext uri="{FF2B5EF4-FFF2-40B4-BE49-F238E27FC236}">
                <a16:creationId xmlns:a16="http://schemas.microsoft.com/office/drawing/2014/main" id="{5918FE65-71CD-4F8C-82AC-6EA2A498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38500"/>
            <a:ext cx="2305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7456F5"/>
                </a:solidFill>
                <a:latin typeface="Arial"/>
                <a:ea typeface="Arial"/>
                <a:cs typeface="Arial"/>
              </a:rPr>
              <a:t>2022</a:t>
            </a:r>
            <a:endParaRPr/>
          </a:p>
        </p:txBody>
      </p:sp>
      <p:sp>
        <p:nvSpPr>
          <p:cNvPr id="804578812" name="">
            <a:extLst xmlns:a="http://schemas.openxmlformats.org/drawingml/2006/main">
              <a:ext uri="{FF2B5EF4-FFF2-40B4-BE49-F238E27FC236}">
                <a16:creationId xmlns:a16="http://schemas.microsoft.com/office/drawing/2014/main" id="{30EF049D-AB8C-4CC5-BCEC-8A295604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10000"/>
            <a:ext cx="230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Chat popularizado</a:t>
            </a:r>
            <a:endParaRPr/>
          </a:p>
        </p:txBody>
      </p:sp>
      <p:sp>
        <p:nvSpPr>
          <p:cNvPr id="1246586275" name="">
            <a:extLst xmlns:a="http://schemas.openxmlformats.org/drawingml/2006/main">
              <a:ext uri="{FF2B5EF4-FFF2-40B4-BE49-F238E27FC236}">
                <a16:creationId xmlns:a16="http://schemas.microsoft.com/office/drawing/2014/main" id="{64B52464-6F4D-436A-807C-8714A381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72000"/>
            <a:ext cx="2305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ChatGPT torna a conversa com IA uma experiência acessível.</a:t>
            </a:r>
            <a:endParaRPr/>
          </a:p>
        </p:txBody>
      </p:sp>
      <p:sp>
        <p:nvSpPr>
          <p:cNvPr id="1733002560" name="">
            <a:extLst xmlns:a="http://schemas.openxmlformats.org/drawingml/2006/main">
              <a:ext uri="{FF2B5EF4-FFF2-40B4-BE49-F238E27FC236}">
                <a16:creationId xmlns:a16="http://schemas.microsoft.com/office/drawing/2014/main" id="{3DCCA835-8C7F-4F16-97A6-7D274EE2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048000"/>
            <a:ext cx="2714625" cy="2619375"/>
          </a:xfrm>
          <a:prstGeom xmlns:a="http://schemas.openxmlformats.org/drawingml/2006/main" prst="roundRect">
            <a:avLst>
              <a:gd name="adj" fmla="val 6545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614251602" name="">
            <a:extLst xmlns:a="http://schemas.openxmlformats.org/drawingml/2006/main">
              <a:ext uri="{FF2B5EF4-FFF2-40B4-BE49-F238E27FC236}">
                <a16:creationId xmlns:a16="http://schemas.microsoft.com/office/drawing/2014/main" id="{6A03C304-1C7F-4448-996E-DD9CB8BC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238500"/>
            <a:ext cx="2305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7456F5"/>
                </a:solidFill>
                <a:latin typeface="Arial"/>
                <a:ea typeface="Arial"/>
                <a:cs typeface="Arial"/>
              </a:rPr>
              <a:t>2023–2024</a:t>
            </a:r>
            <a:endParaRPr/>
          </a:p>
        </p:txBody>
      </p:sp>
      <p:sp>
        <p:nvSpPr>
          <p:cNvPr id="931618095" name="">
            <a:extLst xmlns:a="http://schemas.openxmlformats.org/drawingml/2006/main">
              <a:ext uri="{FF2B5EF4-FFF2-40B4-BE49-F238E27FC236}">
                <a16:creationId xmlns:a16="http://schemas.microsoft.com/office/drawing/2014/main" id="{7727D4C8-49B7-476B-890A-6C6EC2B8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810000"/>
            <a:ext cx="230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Multimodalidade</a:t>
            </a:r>
            <a:endParaRPr/>
          </a:p>
        </p:txBody>
      </p:sp>
      <p:sp>
        <p:nvSpPr>
          <p:cNvPr id="85765610" name="">
            <a:extLst xmlns:a="http://schemas.openxmlformats.org/drawingml/2006/main">
              <a:ext uri="{FF2B5EF4-FFF2-40B4-BE49-F238E27FC236}">
                <a16:creationId xmlns:a16="http://schemas.microsoft.com/office/drawing/2014/main" id="{713D1FE6-A70B-4E77-AE54-6CED200C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572000"/>
            <a:ext cx="2305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Texto, imagens e voz ampliam as formas de interagir e criar.</a:t>
            </a:r>
            <a:endParaRPr/>
          </a:p>
        </p:txBody>
      </p:sp>
      <p:sp>
        <p:nvSpPr>
          <p:cNvPr id="751584623" name="">
            <a:extLst xmlns:a="http://schemas.openxmlformats.org/drawingml/2006/main">
              <a:ext uri="{FF2B5EF4-FFF2-40B4-BE49-F238E27FC236}">
                <a16:creationId xmlns:a16="http://schemas.microsoft.com/office/drawing/2014/main" id="{3CDC7BE4-CDA7-4F00-82EF-C88127BC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48000"/>
            <a:ext cx="2714625" cy="2619375"/>
          </a:xfrm>
          <a:prstGeom xmlns:a="http://schemas.openxmlformats.org/drawingml/2006/main" prst="roundRect">
            <a:avLst>
              <a:gd name="adj" fmla="val 6545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408884490" name="">
            <a:extLst xmlns:a="http://schemas.openxmlformats.org/drawingml/2006/main">
              <a:ext uri="{FF2B5EF4-FFF2-40B4-BE49-F238E27FC236}">
                <a16:creationId xmlns:a16="http://schemas.microsoft.com/office/drawing/2014/main" id="{0478E366-F4F4-4AAD-A8E3-B6A17FEA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238500"/>
            <a:ext cx="2305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7456F5"/>
                </a:solidFill>
                <a:latin typeface="Arial"/>
                <a:ea typeface="Arial"/>
                <a:cs typeface="Arial"/>
              </a:rPr>
              <a:t>2025</a:t>
            </a:r>
            <a:endParaRPr/>
          </a:p>
        </p:txBody>
      </p:sp>
      <p:sp>
        <p:nvSpPr>
          <p:cNvPr id="238592883" name="">
            <a:extLst xmlns:a="http://schemas.openxmlformats.org/drawingml/2006/main">
              <a:ext uri="{FF2B5EF4-FFF2-40B4-BE49-F238E27FC236}">
                <a16:creationId xmlns:a16="http://schemas.microsoft.com/office/drawing/2014/main" id="{288796E4-0528-43B2-9429-95320E7E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810000"/>
            <a:ext cx="230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Agentes de código</a:t>
            </a:r>
            <a:endParaRPr/>
          </a:p>
        </p:txBody>
      </p:sp>
      <p:sp>
        <p:nvSpPr>
          <p:cNvPr id="957154462" name="">
            <a:extLst xmlns:a="http://schemas.openxmlformats.org/drawingml/2006/main">
              <a:ext uri="{FF2B5EF4-FFF2-40B4-BE49-F238E27FC236}">
                <a16:creationId xmlns:a16="http://schemas.microsoft.com/office/drawing/2014/main" id="{D4EC6EFA-95D8-493D-8479-19D23D34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572000"/>
            <a:ext cx="2305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Ferramentas como Codex leem projetos, alteram arquivos e executam testes.</a:t>
            </a:r>
            <a:endParaRPr/>
          </a:p>
        </p:txBody>
      </p:sp>
      <p:sp>
        <p:nvSpPr>
          <p:cNvPr id="1306153686" name="">
            <a:extLst xmlns:a="http://schemas.openxmlformats.org/drawingml/2006/main">
              <a:ext uri="{FF2B5EF4-FFF2-40B4-BE49-F238E27FC236}">
                <a16:creationId xmlns:a16="http://schemas.microsoft.com/office/drawing/2014/main" id="{9ADA9693-6C27-42DB-81E2-86FA0249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48000"/>
            <a:ext cx="2714625" cy="2619375"/>
          </a:xfrm>
          <a:prstGeom xmlns:a="http://schemas.openxmlformats.org/drawingml/2006/main" prst="roundRect">
            <a:avLst>
              <a:gd name="adj" fmla="val 6545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1348566817" name="">
            <a:extLst xmlns:a="http://schemas.openxmlformats.org/drawingml/2006/main">
              <a:ext uri="{FF2B5EF4-FFF2-40B4-BE49-F238E27FC236}">
                <a16:creationId xmlns:a16="http://schemas.microsoft.com/office/drawing/2014/main" id="{3ECBE62F-D18A-41AE-B06C-5360E735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238500"/>
            <a:ext cx="2305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7456F5"/>
                </a:solidFill>
                <a:latin typeface="Arial"/>
                <a:ea typeface="Arial"/>
                <a:cs typeface="Arial"/>
              </a:rPr>
              <a:t>2026</a:t>
            </a:r>
            <a:endParaRPr/>
          </a:p>
        </p:txBody>
      </p:sp>
      <p:sp>
        <p:nvSpPr>
          <p:cNvPr id="1945063014" name="">
            <a:extLst xmlns:a="http://schemas.openxmlformats.org/drawingml/2006/main">
              <a:ext uri="{FF2B5EF4-FFF2-40B4-BE49-F238E27FC236}">
                <a16:creationId xmlns:a16="http://schemas.microsoft.com/office/drawing/2014/main" id="{2D06A276-F74D-4126-8253-1A43B852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810000"/>
            <a:ext cx="230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Integração ao trabalho</a:t>
            </a:r>
            <a:endParaRPr/>
          </a:p>
        </p:txBody>
      </p:sp>
      <p:sp>
        <p:nvSpPr>
          <p:cNvPr id="372100623" name="">
            <a:extLst xmlns:a="http://schemas.openxmlformats.org/drawingml/2006/main">
              <a:ext uri="{FF2B5EF4-FFF2-40B4-BE49-F238E27FC236}">
                <a16:creationId xmlns:a16="http://schemas.microsoft.com/office/drawing/2014/main" id="{0A0D91C3-6F4B-4923-A5DD-4A9AB568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572000"/>
            <a:ext cx="2305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Harnesses conectam modelos a ferramentas, contexto e fluxos de trabalho.</a:t>
            </a:r>
            <a:endParaRPr/>
          </a:p>
        </p:txBody>
      </p:sp>
      <p:sp>
        <p:nvSpPr>
          <p:cNvPr id="1520202559" name="">
            <a:extLst xmlns:a="http://schemas.openxmlformats.org/drawingml/2006/main">
              <a:ext uri="{FF2B5EF4-FFF2-40B4-BE49-F238E27FC236}">
                <a16:creationId xmlns:a16="http://schemas.microsoft.com/office/drawing/2014/main" id="{59E02519-D3BA-4A78-B679-70DB17BA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43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Do chat aos agentes, os LLMs processam texto em unidades. O que é um token?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99967483"/>
      </p:ext>
    </p:extLst>
  </p:cSld>
</p:sld>
</file>

<file path=ppt/slides/slide4.xml><?xml version="1.0" encoding="utf-8"?>
<p:sld xmlns:p="http://schemas.openxmlformats.org/presentationml/2006/main" showMasterSp="1" show="1">
  <p:cSld>
    <p:bg>
      <p:bgPr>
        <a:solidFill xmlns:a="http://schemas.openxmlformats.org/drawingml/2006/main">
          <a:srgbClr val="F3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4249283" name="">
            <a:extLst xmlns:a="http://schemas.openxmlformats.org/drawingml/2006/main">
              <a:ext uri="{FF2B5EF4-FFF2-40B4-BE49-F238E27FC236}">
                <a16:creationId xmlns:a16="http://schemas.microsoft.com/office/drawing/2014/main" id="{DB8545F7-B329-4C4D-BDE5-CD66EAB5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86C5"/>
                </a:solidFill>
                <a:latin typeface="Arial"/>
                <a:ea typeface="Arial"/>
                <a:cs typeface="Arial"/>
              </a:rPr>
              <a:t>04 / 38</a:t>
            </a:r>
            <a:endParaRPr/>
          </a:p>
        </p:txBody>
      </p:sp>
      <p:sp>
        <p:nvSpPr>
          <p:cNvPr id="2146335544" name="">
            <a:extLst xmlns:a="http://schemas.openxmlformats.org/drawingml/2006/main">
              <a:ext uri="{FF2B5EF4-FFF2-40B4-BE49-F238E27FC236}">
                <a16:creationId xmlns:a16="http://schemas.microsoft.com/office/drawing/2014/main" id="{332C1DF1-B373-472A-A2AB-99D00D3D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O que é um token?</a:t>
            </a:r>
            <a:endParaRPr/>
          </a:p>
        </p:txBody>
      </p:sp>
      <p:sp>
        <p:nvSpPr>
          <p:cNvPr id="882682196" name="">
            <a:extLst xmlns:a="http://schemas.openxmlformats.org/drawingml/2006/main">
              <a:ext uri="{FF2B5EF4-FFF2-40B4-BE49-F238E27FC236}">
                <a16:creationId xmlns:a16="http://schemas.microsoft.com/office/drawing/2014/main" id="{C8C980F3-0E55-4EFE-A7B1-D9BEB78C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É uma unidade usada pelo modelo para representar e processar texto.</a:t>
            </a:r>
            <a:endParaRPr/>
          </a:p>
        </p:txBody>
      </p:sp>
      <p:sp>
        <p:nvSpPr>
          <p:cNvPr id="404567327" name="">
            <a:extLst xmlns:a="http://schemas.openxmlformats.org/drawingml/2006/main">
              <a:ext uri="{FF2B5EF4-FFF2-40B4-BE49-F238E27FC236}">
                <a16:creationId xmlns:a16="http://schemas.microsoft.com/office/drawing/2014/main" id="{52D16BEA-9216-4525-8F5D-9F5682FA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14625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Um token pode ser uma palavra, parte dela, um número ou um sinal.</a:t>
            </a:r>
            <a:endParaRPr/>
          </a:p>
        </p:txBody>
      </p:sp>
      <p:sp>
        <p:nvSpPr>
          <p:cNvPr id="1041545676" name="">
            <a:extLst xmlns:a="http://schemas.openxmlformats.org/drawingml/2006/main">
              <a:ext uri="{FF2B5EF4-FFF2-40B4-BE49-F238E27FC236}">
                <a16:creationId xmlns:a16="http://schemas.microsoft.com/office/drawing/2014/main" id="{67614B5A-8930-41CF-8BC8-431439B2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57625"/>
            <a:ext cx="11049000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80757253" name="">
            <a:extLst xmlns:a="http://schemas.openxmlformats.org/drawingml/2006/main">
              <a:ext uri="{FF2B5EF4-FFF2-40B4-BE49-F238E27FC236}">
                <a16:creationId xmlns:a16="http://schemas.microsoft.com/office/drawing/2014/main" id="{3E89941E-0607-4D7B-A5A1-622C0B91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7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7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7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7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7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7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7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7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7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Texto → divisão em tokens → processamento pelo modelo</a:t>
            </a:r>
            <a:endParaRPr/>
          </a:p>
        </p:txBody>
      </p:sp>
      <p:sp>
        <p:nvSpPr>
          <p:cNvPr id="1087585089" name="">
            <a:extLst xmlns:a="http://schemas.openxmlformats.org/drawingml/2006/main">
              <a:ext uri="{FF2B5EF4-FFF2-40B4-BE49-F238E27FC236}">
                <a16:creationId xmlns:a16="http://schemas.microsoft.com/office/drawing/2014/main" id="{7F80D284-3B28-4AAC-8131-541DE402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67375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 divisão varia com o modelo e o idioma. Uma palavra pode ocupar vários tokens.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70047133"/>
      </p:ext>
    </p:extLst>
  </p:cSld>
</p:sld>
</file>

<file path=ppt/slides/slide5.xml><?xml version="1.0" encoding="utf-8"?>
<p:sld xmlns:p="http://schemas.openxmlformats.org/presentationml/2006/main" showMasterSp="1" show="1">
  <p:cSld>
    <p:bg>
      <p:bgPr>
        <a:solidFill xmlns:a="http://schemas.openxmlformats.org/drawingml/2006/main">
          <a:srgbClr val="F3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4521347" name="">
            <a:extLst xmlns:a="http://schemas.openxmlformats.org/drawingml/2006/main">
              <a:ext uri="{FF2B5EF4-FFF2-40B4-BE49-F238E27FC236}">
                <a16:creationId xmlns:a16="http://schemas.microsoft.com/office/drawing/2014/main" id="{333F2BD7-501F-4BDD-9FEA-8F34641B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86C5"/>
                </a:solidFill>
                <a:latin typeface="Arial"/>
                <a:ea typeface="Arial"/>
                <a:cs typeface="Arial"/>
              </a:rPr>
              <a:t>05 / 38</a:t>
            </a:r>
            <a:endParaRPr/>
          </a:p>
        </p:txBody>
      </p:sp>
      <p:sp>
        <p:nvSpPr>
          <p:cNvPr id="434959682" name="">
            <a:extLst xmlns:a="http://schemas.openxmlformats.org/drawingml/2006/main">
              <a:ext uri="{FF2B5EF4-FFF2-40B4-BE49-F238E27FC236}">
                <a16:creationId xmlns:a16="http://schemas.microsoft.com/office/drawing/2014/main" id="{4EA70653-D611-4A91-81B7-84AB45ED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Janela de contexto: a mesa de trabalho da IA</a:t>
            </a:r>
            <a:endParaRPr/>
          </a:p>
        </p:txBody>
      </p:sp>
      <p:sp>
        <p:nvSpPr>
          <p:cNvPr id="357700333" name="">
            <a:extLst xmlns:a="http://schemas.openxmlformats.org/drawingml/2006/main">
              <a:ext uri="{FF2B5EF4-FFF2-40B4-BE49-F238E27FC236}">
                <a16:creationId xmlns:a16="http://schemas.microsoft.com/office/drawing/2014/main" id="{913F103C-6E94-4D39-9C6C-1BEC211D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É o limite de informação que o modelo consegue considerar de uma vez. Esse espaço é medido em tokens.</a:t>
            </a:r>
            <a:endParaRPr/>
          </a:p>
        </p:txBody>
      </p:sp>
      <p:sp>
        <p:nvSpPr>
          <p:cNvPr id="801355858" name="">
            <a:extLst xmlns:a="http://schemas.openxmlformats.org/drawingml/2006/main">
              <a:ext uri="{FF2B5EF4-FFF2-40B4-BE49-F238E27FC236}">
                <a16:creationId xmlns:a16="http://schemas.microsoft.com/office/drawing/2014/main" id="{403BEA96-F0E0-4653-8DEE-847AF1A4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24125"/>
            <a:ext cx="5286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Imagine uma mesa com espaço limitado</a:t>
            </a:r>
            <a:endParaRPr/>
          </a:p>
        </p:txBody>
      </p:sp>
      <p:sp>
        <p:nvSpPr>
          <p:cNvPr id="942097749" name="">
            <a:extLst xmlns:a="http://schemas.openxmlformats.org/drawingml/2006/main">
              <a:ext uri="{FF2B5EF4-FFF2-40B4-BE49-F238E27FC236}">
                <a16:creationId xmlns:a16="http://schemas.microsoft.com/office/drawing/2014/main" id="{CBA01D57-D236-47DF-8701-4298FC39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519112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Só o que está sobre a mesa pode ser consultado naquele momento.</a:t>
            </a:r>
            <a:endParaRPr/>
          </a:p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t/>
            </a:r>
            <a:endParaRPr/>
          </a:p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Na IA, o pedido, o histórico selecionado e trechos dos arquivos ocupam esse espaço.</a:t>
            </a:r>
            <a:endParaRPr/>
          </a:p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/>
            </a:r>
            <a:endParaRPr/>
          </a:p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Quando falta espaço, o aplicativo pode resumir ou retirar conteúdo.</a:t>
            </a:r>
            <a:endParaRPr/>
          </a:p>
        </p:txBody>
      </p:sp>
      <p:sp>
        <p:nvSpPr>
          <p:cNvPr id="493795487" name="">
            <a:extLst xmlns:a="http://schemas.openxmlformats.org/drawingml/2006/main">
              <a:ext uri="{FF2B5EF4-FFF2-40B4-BE49-F238E27FC236}">
                <a16:creationId xmlns:a16="http://schemas.microsoft.com/office/drawing/2014/main" id="{F5162C2D-F8C1-4AAC-9690-C20DB80B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Contexto não é memória permanente: o que ficou de fora pode precisar ser fornecido novamente.</a:t>
            </a:r>
            <a:endParaRPr/>
          </a:p>
        </p:txBody>
      </p:sp>
      <p:pic>
        <p:nvPicPr>
          <p:cNvPr id="942097750" name="">
            <a:extLst xmlns:a="http://schemas.openxmlformats.org/drawingml/2006/main">
              <a:ext uri="{FF2B5EF4-FFF2-40B4-BE49-F238E27FC236}">
                <a16:creationId xmlns:a16="http://schemas.microsoft.com/office/drawing/2014/main" id="{B2FEB1DD-CF40-42E8-A673-32CAFE60FA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27cac4fd554902"/>
          <a:stretch xmlns:a="http://schemas.openxmlformats.org/drawingml/2006/main"/>
        </p:blipFill>
        <p:spPr>
          <a:xfrm xmlns:a="http://schemas.openxmlformats.org/drawingml/2006/main">
            <a:off x="6096000" y="2429569"/>
            <a:ext cx="5619750" cy="337046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920620"/>
      </p:ext>
    </p:extLst>
  </p:cSld>
</p:sld>
</file>

<file path=ppt/slides/slide6.xml><?xml version="1.0" encoding="utf-8"?>
<p:sld xmlns:p="http://schemas.openxmlformats.org/presentationml/2006/main" showMasterSp="1" show="1">
  <p:cSld>
    <p:bg>
      <p:bgPr>
        <a:solidFill xmlns:a="http://schemas.openxmlformats.org/drawingml/2006/main">
          <a:srgbClr val="F3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595912" name="">
            <a:extLst xmlns:a="http://schemas.openxmlformats.org/drawingml/2006/main">
              <a:ext uri="{FF2B5EF4-FFF2-40B4-BE49-F238E27FC236}">
                <a16:creationId xmlns:a16="http://schemas.microsoft.com/office/drawing/2014/main" id="{2A462E8D-754A-43DF-8E6A-E7FA8E1F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86C5"/>
                </a:solidFill>
                <a:latin typeface="Arial"/>
                <a:ea typeface="Arial"/>
                <a:cs typeface="Arial"/>
              </a:rPr>
              <a:t>06 / 38</a:t>
            </a:r>
            <a:endParaRPr/>
          </a:p>
        </p:txBody>
      </p:sp>
      <p:sp>
        <p:nvSpPr>
          <p:cNvPr id="898226149" name="">
            <a:extLst xmlns:a="http://schemas.openxmlformats.org/drawingml/2006/main">
              <a:ext uri="{FF2B5EF4-FFF2-40B4-BE49-F238E27FC236}">
                <a16:creationId xmlns:a16="http://schemas.microsoft.com/office/drawing/2014/main" id="{5A25D8A4-952F-4566-A301-D411B5D4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Onde os tokens são consumidos?</a:t>
            </a:r>
            <a:endParaRPr/>
          </a:p>
        </p:txBody>
      </p:sp>
      <p:sp>
        <p:nvSpPr>
          <p:cNvPr id="1079571281" name="">
            <a:extLst xmlns:a="http://schemas.openxmlformats.org/drawingml/2006/main">
              <a:ext uri="{FF2B5EF4-FFF2-40B4-BE49-F238E27FC236}">
                <a16:creationId xmlns:a16="http://schemas.microsoft.com/office/drawing/2014/main" id="{44E09EA9-B3DB-4592-BA9D-E3DB22C6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0"/>
            <a:ext cx="3524250" cy="271462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1367347213" name="">
            <a:extLst xmlns:a="http://schemas.openxmlformats.org/drawingml/2006/main">
              <a:ext uri="{FF2B5EF4-FFF2-40B4-BE49-F238E27FC236}">
                <a16:creationId xmlns:a16="http://schemas.microsoft.com/office/drawing/2014/main" id="{85F08BB6-E167-479E-B82E-F9C4DB71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524125"/>
            <a:ext cx="3067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Entrada</a:t>
            </a:r>
            <a:endParaRPr/>
          </a:p>
        </p:txBody>
      </p:sp>
      <p:sp>
        <p:nvSpPr>
          <p:cNvPr id="1365718421" name="">
            <a:extLst xmlns:a="http://schemas.openxmlformats.org/drawingml/2006/main">
              <a:ext uri="{FF2B5EF4-FFF2-40B4-BE49-F238E27FC236}">
                <a16:creationId xmlns:a16="http://schemas.microsoft.com/office/drawing/2014/main" id="{57C7BBD9-4570-414F-B2CB-50822EFE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38500"/>
            <a:ext cx="30670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Pedido, instruções, histórico e conteúdo dos arquivos enviados ao modelo.</a:t>
            </a:r>
            <a:endParaRPr/>
          </a:p>
        </p:txBody>
      </p:sp>
      <p:sp>
        <p:nvSpPr>
          <p:cNvPr id="169093721" name="">
            <a:extLst xmlns:a="http://schemas.openxmlformats.org/drawingml/2006/main">
              <a:ext uri="{FF2B5EF4-FFF2-40B4-BE49-F238E27FC236}">
                <a16:creationId xmlns:a16="http://schemas.microsoft.com/office/drawing/2014/main" id="{EC1C432B-8467-447D-8D11-4DB224D7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86000"/>
            <a:ext cx="3524250" cy="271462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579220252" name="">
            <a:extLst xmlns:a="http://schemas.openxmlformats.org/drawingml/2006/main">
              <a:ext uri="{FF2B5EF4-FFF2-40B4-BE49-F238E27FC236}">
                <a16:creationId xmlns:a16="http://schemas.microsoft.com/office/drawing/2014/main" id="{6F88265A-7DDC-49AB-BBB7-284ECAF8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524125"/>
            <a:ext cx="3067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Raciocínio</a:t>
            </a:r>
            <a:endParaRPr/>
          </a:p>
        </p:txBody>
      </p:sp>
      <p:sp>
        <p:nvSpPr>
          <p:cNvPr id="1045237382" name="">
            <a:extLst xmlns:a="http://schemas.openxmlformats.org/drawingml/2006/main">
              <a:ext uri="{FF2B5EF4-FFF2-40B4-BE49-F238E27FC236}">
                <a16:creationId xmlns:a16="http://schemas.microsoft.com/office/drawing/2014/main" id="{CD161151-1FCA-4C05-8A5B-054D1169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38500"/>
            <a:ext cx="30670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Processamento adicional em modelos que oferecem esse recurso.</a:t>
            </a:r>
            <a:endParaRPr/>
          </a:p>
        </p:txBody>
      </p:sp>
      <p:sp>
        <p:nvSpPr>
          <p:cNvPr id="1355108006" name="">
            <a:extLst xmlns:a="http://schemas.openxmlformats.org/drawingml/2006/main">
              <a:ext uri="{FF2B5EF4-FFF2-40B4-BE49-F238E27FC236}">
                <a16:creationId xmlns:a16="http://schemas.microsoft.com/office/drawing/2014/main" id="{9C189E40-53D2-48E4-A320-4E783F12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86000"/>
            <a:ext cx="3524250" cy="271462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1786255233" name="">
            <a:extLst xmlns:a="http://schemas.openxmlformats.org/drawingml/2006/main">
              <a:ext uri="{FF2B5EF4-FFF2-40B4-BE49-F238E27FC236}">
                <a16:creationId xmlns:a16="http://schemas.microsoft.com/office/drawing/2014/main" id="{C9637ADA-95E0-4CE4-BF20-63E366C7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524125"/>
            <a:ext cx="3067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Resposta</a:t>
            </a:r>
            <a:endParaRPr/>
          </a:p>
        </p:txBody>
      </p:sp>
      <p:sp>
        <p:nvSpPr>
          <p:cNvPr id="133295478" name="">
            <a:extLst xmlns:a="http://schemas.openxmlformats.org/drawingml/2006/main">
              <a:ext uri="{FF2B5EF4-FFF2-40B4-BE49-F238E27FC236}">
                <a16:creationId xmlns:a16="http://schemas.microsoft.com/office/drawing/2014/main" id="{A1FF6622-DA95-4AA8-AD41-8E8073CA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238500"/>
            <a:ext cx="30670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Texto e chamadas de ferramentas gerados pelo modelo.</a:t>
            </a:r>
            <a:endParaRPr/>
          </a:p>
        </p:txBody>
      </p:sp>
      <p:sp>
        <p:nvSpPr>
          <p:cNvPr id="1007675830" name="">
            <a:extLst xmlns:a="http://schemas.openxmlformats.org/drawingml/2006/main">
              <a:ext uri="{FF2B5EF4-FFF2-40B4-BE49-F238E27FC236}">
                <a16:creationId xmlns:a16="http://schemas.microsoft.com/office/drawing/2014/main" id="{6C3B703E-1FBE-4AC9-B910-1F95534C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Exemplo hipotético: 1.000 de entrada + 2.000 de raciocínio + 300 de resposta.</a:t>
            </a:r>
            <a:endParaRPr/>
          </a:p>
        </p:txBody>
      </p:sp>
      <p:sp>
        <p:nvSpPr>
          <p:cNvPr id="474192433" name="">
            <a:extLst xmlns:a="http://schemas.openxmlformats.org/drawingml/2006/main">
              <a:ext uri="{FF2B5EF4-FFF2-40B4-BE49-F238E27FC236}">
                <a16:creationId xmlns:a16="http://schemas.microsoft.com/office/drawing/2014/main" id="{136DCAB6-31A5-4AE5-A261-0FCBDC5F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Na API da OpenAI, os 2.300 tokens gerados são saída para cobrança. As tarifas variam.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34862458"/>
      </p:ext>
    </p:extLst>
  </p:cSld>
</p:sld>
</file>

<file path=ppt/slides/slide7.xml><?xml version="1.0" encoding="utf-8"?>
<p:sld xmlns:p="http://schemas.openxmlformats.org/presentationml/2006/main" showMasterSp="1" show="1">
  <p:cSld>
    <p:bg>
      <p:bgPr>
        <a:solidFill xmlns:a="http://schemas.openxmlformats.org/drawingml/2006/main">
          <a:srgbClr val="F3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6613749" name="">
            <a:extLst xmlns:a="http://schemas.openxmlformats.org/drawingml/2006/main">
              <a:ext uri="{FF2B5EF4-FFF2-40B4-BE49-F238E27FC236}">
                <a16:creationId xmlns:a16="http://schemas.microsoft.com/office/drawing/2014/main" id="{7E9F0453-F8A6-4D05-9205-883B220D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86C5"/>
                </a:solidFill>
                <a:latin typeface="Arial"/>
                <a:ea typeface="Arial"/>
                <a:cs typeface="Arial"/>
              </a:rPr>
              <a:t>07 / 38</a:t>
            </a:r>
            <a:endParaRPr/>
          </a:p>
        </p:txBody>
      </p:sp>
      <p:sp>
        <p:nvSpPr>
          <p:cNvPr id="990272379" name="">
            <a:extLst xmlns:a="http://schemas.openxmlformats.org/drawingml/2006/main">
              <a:ext uri="{FF2B5EF4-FFF2-40B4-BE49-F238E27FC236}">
                <a16:creationId xmlns:a16="http://schemas.microsoft.com/office/drawing/2014/main" id="{EC6E766F-CCD7-431F-BC32-01F41AAC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Por que uma conversa longa pode consumir mais?</a:t>
            </a:r>
            <a:endParaRPr/>
          </a:p>
        </p:txBody>
      </p:sp>
      <p:sp>
        <p:nvSpPr>
          <p:cNvPr id="1982120257" name="">
            <a:extLst xmlns:a="http://schemas.openxmlformats.org/drawingml/2006/main">
              <a:ext uri="{FF2B5EF4-FFF2-40B4-BE49-F238E27FC236}">
                <a16:creationId xmlns:a16="http://schemas.microsoft.com/office/drawing/2014/main" id="{9D6B5A10-CFA1-492F-87EA-C9D3AEE2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3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 cada chamada, o modelo recebe um conjunto de informações como contexto.</a:t>
            </a:r>
            <a:endParaRPr/>
          </a:p>
        </p:txBody>
      </p:sp>
      <p:sp>
        <p:nvSpPr>
          <p:cNvPr id="500376426" name="">
            <a:extLst xmlns:a="http://schemas.openxmlformats.org/drawingml/2006/main">
              <a:ext uri="{FF2B5EF4-FFF2-40B4-BE49-F238E27FC236}">
                <a16:creationId xmlns:a16="http://schemas.microsoft.com/office/drawing/2014/main" id="{32BE530F-37DF-4611-BEBB-A91DF3B6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352425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1902658874" name="">
            <a:extLst xmlns:a="http://schemas.openxmlformats.org/drawingml/2006/main">
              <a:ext uri="{FF2B5EF4-FFF2-40B4-BE49-F238E27FC236}">
                <a16:creationId xmlns:a16="http://schemas.microsoft.com/office/drawing/2014/main" id="{08B91B2A-998A-4523-BD24-CF65482D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381375"/>
            <a:ext cx="3067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O que entra</a:t>
            </a:r>
            <a:endParaRPr/>
          </a:p>
        </p:txBody>
      </p:sp>
      <p:sp>
        <p:nvSpPr>
          <p:cNvPr id="1035648965" name="">
            <a:extLst xmlns:a="http://schemas.openxmlformats.org/drawingml/2006/main">
              <a:ext uri="{FF2B5EF4-FFF2-40B4-BE49-F238E27FC236}">
                <a16:creationId xmlns:a16="http://schemas.microsoft.com/office/drawing/2014/main" id="{B19A28A6-1742-490F-8DEA-968F76A7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095750"/>
            <a:ext cx="30670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Pedido atual, instruções e trechos selecionados do histórico e dos arquivos.</a:t>
            </a:r>
            <a:endParaRPr/>
          </a:p>
        </p:txBody>
      </p:sp>
      <p:sp>
        <p:nvSpPr>
          <p:cNvPr id="1998937269" name="">
            <a:extLst xmlns:a="http://schemas.openxmlformats.org/drawingml/2006/main">
              <a:ext uri="{FF2B5EF4-FFF2-40B4-BE49-F238E27FC236}">
                <a16:creationId xmlns:a16="http://schemas.microsoft.com/office/drawing/2014/main" id="{5D9C10A2-CF6B-4FD6-AE20-7B5516C7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43250"/>
            <a:ext cx="352425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140930215" name="">
            <a:extLst xmlns:a="http://schemas.openxmlformats.org/drawingml/2006/main">
              <a:ext uri="{FF2B5EF4-FFF2-40B4-BE49-F238E27FC236}">
                <a16:creationId xmlns:a16="http://schemas.microsoft.com/office/drawing/2014/main" id="{F56DDD9F-570D-4B0B-9048-9AD627DB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381375"/>
            <a:ext cx="3067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O que cresce</a:t>
            </a:r>
            <a:endParaRPr/>
          </a:p>
        </p:txBody>
      </p:sp>
      <p:sp>
        <p:nvSpPr>
          <p:cNvPr id="1297306595" name="">
            <a:extLst xmlns:a="http://schemas.openxmlformats.org/drawingml/2006/main">
              <a:ext uri="{FF2B5EF4-FFF2-40B4-BE49-F238E27FC236}">
                <a16:creationId xmlns:a16="http://schemas.microsoft.com/office/drawing/2014/main" id="{72492684-A461-437C-B314-092BDE46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95750"/>
            <a:ext cx="30670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Mais conteúdo enviado e mais etapas do agente podem aumentar o consumo.</a:t>
            </a:r>
            <a:endParaRPr/>
          </a:p>
        </p:txBody>
      </p:sp>
      <p:sp>
        <p:nvSpPr>
          <p:cNvPr id="1909928956" name="">
            <a:extLst xmlns:a="http://schemas.openxmlformats.org/drawingml/2006/main">
              <a:ext uri="{FF2B5EF4-FFF2-40B4-BE49-F238E27FC236}">
                <a16:creationId xmlns:a16="http://schemas.microsoft.com/office/drawing/2014/main" id="{E5CC1E10-CCCC-4262-88C9-A0F7D9E8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43250"/>
            <a:ext cx="352425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73318929" name="">
            <a:extLst xmlns:a="http://schemas.openxmlformats.org/drawingml/2006/main">
              <a:ext uri="{FF2B5EF4-FFF2-40B4-BE49-F238E27FC236}">
                <a16:creationId xmlns:a16="http://schemas.microsoft.com/office/drawing/2014/main" id="{FBD0B63F-442E-4207-BDA6-D4B729B0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381375"/>
            <a:ext cx="3067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Como controlar</a:t>
            </a:r>
            <a:endParaRPr/>
          </a:p>
        </p:txBody>
      </p:sp>
      <p:sp>
        <p:nvSpPr>
          <p:cNvPr id="861966622" name="">
            <a:extLst xmlns:a="http://schemas.openxmlformats.org/drawingml/2006/main">
              <a:ext uri="{FF2B5EF4-FFF2-40B4-BE49-F238E27FC236}">
                <a16:creationId xmlns:a16="http://schemas.microsoft.com/office/drawing/2014/main" id="{3D3F32AD-9049-4892-A5B5-8BCDF5E9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095750"/>
            <a:ext cx="30670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Enviar o que importa e pedir uma entrega com escopo claro.</a:t>
            </a:r>
            <a:endParaRPr/>
          </a:p>
        </p:txBody>
      </p:sp>
      <p:sp>
        <p:nvSpPr>
          <p:cNvPr id="1595463571" name="">
            <a:extLst xmlns:a="http://schemas.openxmlformats.org/drawingml/2006/main">
              <a:ext uri="{FF2B5EF4-FFF2-40B4-BE49-F238E27FC236}">
                <a16:creationId xmlns:a16="http://schemas.microsoft.com/office/drawing/2014/main" id="{F427B44D-FA8F-4855-82B6-CDDC8C88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9600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O harness pode selecionar ou resumir contexto. Nem todo o histórico precisa ser reenviado integralmente.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65489943"/>
      </p:ext>
    </p:extLst>
  </p:cSld>
</p:sld>
</file>

<file path=ppt/slides/slide8.xml><?xml version="1.0" encoding="utf-8"?>
<p:sld xmlns:p="http://schemas.openxmlformats.org/presentationml/2006/main" showMasterSp="1" show="1">
  <p:cSld>
    <p:bg>
      <p:bgPr>
        <a:solidFill xmlns:a="http://schemas.openxmlformats.org/drawingml/2006/main">
          <a:srgbClr val="F3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0518982" name="">
            <a:extLst xmlns:a="http://schemas.openxmlformats.org/drawingml/2006/main">
              <a:ext uri="{FF2B5EF4-FFF2-40B4-BE49-F238E27FC236}">
                <a16:creationId xmlns:a16="http://schemas.microsoft.com/office/drawing/2014/main" id="{E37404F3-F88C-406C-BD6F-930F2926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86C5"/>
                </a:solidFill>
                <a:latin typeface="Arial"/>
                <a:ea typeface="Arial"/>
                <a:cs typeface="Arial"/>
              </a:rPr>
              <a:t>08 / 38</a:t>
            </a:r>
            <a:endParaRPr/>
          </a:p>
        </p:txBody>
      </p:sp>
      <p:sp>
        <p:nvSpPr>
          <p:cNvPr id="691771947" name="">
            <a:extLst xmlns:a="http://schemas.openxmlformats.org/drawingml/2006/main">
              <a:ext uri="{FF2B5EF4-FFF2-40B4-BE49-F238E27FC236}">
                <a16:creationId xmlns:a16="http://schemas.microsoft.com/office/drawing/2014/main" id="{6AEC7457-24B2-47FB-9B55-9760BD44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O que acontece quando a IA está “pensando”?</a:t>
            </a:r>
            <a:endParaRPr/>
          </a:p>
        </p:txBody>
      </p:sp>
      <p:sp>
        <p:nvSpPr>
          <p:cNvPr id="1990789699" name="">
            <a:extLst xmlns:a="http://schemas.openxmlformats.org/drawingml/2006/main">
              <a:ext uri="{FF2B5EF4-FFF2-40B4-BE49-F238E27FC236}">
                <a16:creationId xmlns:a16="http://schemas.microsoft.com/office/drawing/2014/main" id="{FFCFD704-B923-4F35-B259-27BB60E8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3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Em modelos de raciocínio, “think” indica processamento adicional antes ou durante a produção da resposta.</a:t>
            </a:r>
            <a:endParaRPr/>
          </a:p>
        </p:txBody>
      </p:sp>
      <p:sp>
        <p:nvSpPr>
          <p:cNvPr id="1126346646" name="">
            <a:extLst xmlns:a="http://schemas.openxmlformats.org/drawingml/2006/main">
              <a:ext uri="{FF2B5EF4-FFF2-40B4-BE49-F238E27FC236}">
                <a16:creationId xmlns:a16="http://schemas.microsoft.com/office/drawing/2014/main" id="{2D397EFF-B12B-4386-94FB-DB845E05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0"/>
            <a:ext cx="352425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1352752799" name="">
            <a:extLst xmlns:a="http://schemas.openxmlformats.org/drawingml/2006/main">
              <a:ext uri="{FF2B5EF4-FFF2-40B4-BE49-F238E27FC236}">
                <a16:creationId xmlns:a16="http://schemas.microsoft.com/office/drawing/2014/main" id="{5E0696BA-7300-421E-8274-8CC48B81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71875"/>
            <a:ext cx="3067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Pedido</a:t>
            </a:r>
            <a:endParaRPr/>
          </a:p>
        </p:txBody>
      </p:sp>
      <p:sp>
        <p:nvSpPr>
          <p:cNvPr id="1318389110" name="">
            <a:extLst xmlns:a="http://schemas.openxmlformats.org/drawingml/2006/main">
              <a:ext uri="{FF2B5EF4-FFF2-40B4-BE49-F238E27FC236}">
                <a16:creationId xmlns:a16="http://schemas.microsoft.com/office/drawing/2014/main" id="{5BEDC987-7495-4A00-B6C6-0F724304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286250"/>
            <a:ext cx="3067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Recebe a tarefa e as informações disponíveis.</a:t>
            </a:r>
            <a:endParaRPr/>
          </a:p>
        </p:txBody>
      </p:sp>
      <p:sp>
        <p:nvSpPr>
          <p:cNvPr id="995741160" name="">
            <a:extLst xmlns:a="http://schemas.openxmlformats.org/drawingml/2006/main">
              <a:ext uri="{FF2B5EF4-FFF2-40B4-BE49-F238E27FC236}">
                <a16:creationId xmlns:a16="http://schemas.microsoft.com/office/drawing/2014/main" id="{3D4B8C29-8D58-44B3-8BF5-1458CA49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0481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→</a:t>
            </a:r>
            <a:endParaRPr/>
          </a:p>
        </p:txBody>
      </p:sp>
      <p:sp>
        <p:nvSpPr>
          <p:cNvPr id="1964478940" name="">
            <a:extLst xmlns:a="http://schemas.openxmlformats.org/drawingml/2006/main">
              <a:ext uri="{FF2B5EF4-FFF2-40B4-BE49-F238E27FC236}">
                <a16:creationId xmlns:a16="http://schemas.microsoft.com/office/drawing/2014/main" id="{294A50A2-0A3D-43FB-98FE-066D0E72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33750"/>
            <a:ext cx="352425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6936820" name="">
            <a:extLst xmlns:a="http://schemas.openxmlformats.org/drawingml/2006/main">
              <a:ext uri="{FF2B5EF4-FFF2-40B4-BE49-F238E27FC236}">
                <a16:creationId xmlns:a16="http://schemas.microsoft.com/office/drawing/2014/main" id="{1741A8F8-36CA-49DD-A8AE-07FF87C7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571875"/>
            <a:ext cx="3067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Raciocínio</a:t>
            </a:r>
            <a:endParaRPr/>
          </a:p>
        </p:txBody>
      </p:sp>
      <p:sp>
        <p:nvSpPr>
          <p:cNvPr id="151662964" name="">
            <a:extLst xmlns:a="http://schemas.openxmlformats.org/drawingml/2006/main">
              <a:ext uri="{FF2B5EF4-FFF2-40B4-BE49-F238E27FC236}">
                <a16:creationId xmlns:a16="http://schemas.microsoft.com/office/drawing/2014/main" id="{A5EB3C3A-FA8F-4B79-B182-3926DBF5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86250"/>
            <a:ext cx="3067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Pode decompor o problema e avaliar caminhos.</a:t>
            </a:r>
            <a:endParaRPr/>
          </a:p>
        </p:txBody>
      </p:sp>
      <p:sp>
        <p:nvSpPr>
          <p:cNvPr id="30698529" name="">
            <a:extLst xmlns:a="http://schemas.openxmlformats.org/drawingml/2006/main">
              <a:ext uri="{FF2B5EF4-FFF2-40B4-BE49-F238E27FC236}">
                <a16:creationId xmlns:a16="http://schemas.microsoft.com/office/drawing/2014/main" id="{8A16EC0C-E38C-48F2-BBE0-8F14245D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481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→</a:t>
            </a:r>
            <a:endParaRPr/>
          </a:p>
        </p:txBody>
      </p:sp>
      <p:sp>
        <p:nvSpPr>
          <p:cNvPr id="250759656" name="">
            <a:extLst xmlns:a="http://schemas.openxmlformats.org/drawingml/2006/main">
              <a:ext uri="{FF2B5EF4-FFF2-40B4-BE49-F238E27FC236}">
                <a16:creationId xmlns:a16="http://schemas.microsoft.com/office/drawing/2014/main" id="{9E6E75E7-B814-4E8E-88F7-F1A776BE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33750"/>
            <a:ext cx="352425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298180279" name="">
            <a:extLst xmlns:a="http://schemas.openxmlformats.org/drawingml/2006/main">
              <a:ext uri="{FF2B5EF4-FFF2-40B4-BE49-F238E27FC236}">
                <a16:creationId xmlns:a16="http://schemas.microsoft.com/office/drawing/2014/main" id="{5AC91D51-46EE-45B3-860A-10600E6C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571875"/>
            <a:ext cx="3067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Resposta</a:t>
            </a:r>
            <a:endParaRPr/>
          </a:p>
        </p:txBody>
      </p:sp>
      <p:sp>
        <p:nvSpPr>
          <p:cNvPr id="1810111790" name="">
            <a:extLst xmlns:a="http://schemas.openxmlformats.org/drawingml/2006/main">
              <a:ext uri="{FF2B5EF4-FFF2-40B4-BE49-F238E27FC236}">
                <a16:creationId xmlns:a16="http://schemas.microsoft.com/office/drawing/2014/main" id="{CAD78D01-023E-4B4C-82E8-5AB8C3E0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286250"/>
            <a:ext cx="3067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Entrega a conclusão ou solicita uma ferramenta.</a:t>
            </a:r>
            <a:endParaRPr/>
          </a:p>
        </p:txBody>
      </p:sp>
      <p:sp>
        <p:nvSpPr>
          <p:cNvPr id="725277430" name="">
            <a:extLst xmlns:a="http://schemas.openxmlformats.org/drawingml/2006/main">
              <a:ext uri="{FF2B5EF4-FFF2-40B4-BE49-F238E27FC236}">
                <a16:creationId xmlns:a16="http://schemas.microsoft.com/office/drawing/2014/main" id="{EDAE3AD3-274F-4C1D-8E7B-92232EFC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531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É uma explicação simplificada do processo, sem consciência ou garantia de acerto.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16359368"/>
      </p:ext>
    </p:extLst>
  </p:cSld>
</p:sld>
</file>

<file path=ppt/slides/slide9.xml><?xml version="1.0" encoding="utf-8"?>
<p:sld xmlns:p="http://schemas.openxmlformats.org/presentationml/2006/main" showMasterSp="1" show="1">
  <p:cSld>
    <p:bg>
      <p:bgPr>
        <a:solidFill xmlns:a="http://schemas.openxmlformats.org/drawingml/2006/main">
          <a:srgbClr val="F3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6383568" name="">
            <a:extLst xmlns:a="http://schemas.openxmlformats.org/drawingml/2006/main">
              <a:ext uri="{FF2B5EF4-FFF2-40B4-BE49-F238E27FC236}">
                <a16:creationId xmlns:a16="http://schemas.microsoft.com/office/drawing/2014/main" id="{4F4B66B4-E03F-4FC2-AB5C-9034B222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86C5"/>
                </a:solidFill>
                <a:latin typeface="Arial"/>
                <a:ea typeface="Arial"/>
                <a:cs typeface="Arial"/>
              </a:rPr>
              <a:t>09 / 38</a:t>
            </a:r>
            <a:endParaRPr/>
          </a:p>
        </p:txBody>
      </p:sp>
      <p:sp>
        <p:nvSpPr>
          <p:cNvPr id="1020341767" name="">
            <a:extLst xmlns:a="http://schemas.openxmlformats.org/drawingml/2006/main">
              <a:ext uri="{FF2B5EF4-FFF2-40B4-BE49-F238E27FC236}">
                <a16:creationId xmlns:a16="http://schemas.microsoft.com/office/drawing/2014/main" id="{07938F86-D65A-4995-83F1-0AA4E39F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Um “oi” por dentro: entrada, thinking e saída</a:t>
            </a:r>
            <a:endParaRPr/>
          </a:p>
        </p:txBody>
      </p:sp>
      <p:sp>
        <p:nvSpPr>
          <p:cNvPr id="1002871811" name="">
            <a:extLst xmlns:a="http://schemas.openxmlformats.org/drawingml/2006/main">
              <a:ext uri="{FF2B5EF4-FFF2-40B4-BE49-F238E27FC236}">
                <a16:creationId xmlns:a16="http://schemas.microsoft.com/office/drawing/2014/main" id="{30CC2CB6-65E4-43F0-B2B0-35E2A0BD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723900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448354473" name="">
            <a:extLst xmlns:a="http://schemas.openxmlformats.org/drawingml/2006/main">
              <a:ext uri="{FF2B5EF4-FFF2-40B4-BE49-F238E27FC236}">
                <a16:creationId xmlns:a16="http://schemas.microsoft.com/office/drawing/2014/main" id="{8E565A56-45B2-4950-B281-FBE3C860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47875"/>
            <a:ext cx="6781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Entrada do usuário</a:t>
            </a:r>
            <a:endParaRPr/>
          </a:p>
        </p:txBody>
      </p:sp>
      <p:sp>
        <p:nvSpPr>
          <p:cNvPr id="882111552" name="">
            <a:extLst xmlns:a="http://schemas.openxmlformats.org/drawingml/2006/main">
              <a:ext uri="{FF2B5EF4-FFF2-40B4-BE49-F238E27FC236}">
                <a16:creationId xmlns:a16="http://schemas.microsoft.com/office/drawing/2014/main" id="{90DFB306-E036-4E87-A9FA-8B85568D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762250"/>
            <a:ext cx="67818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412193329" name="">
            <a:extLst xmlns:a="http://schemas.openxmlformats.org/drawingml/2006/main">
              <a:ext uri="{FF2B5EF4-FFF2-40B4-BE49-F238E27FC236}">
                <a16:creationId xmlns:a16="http://schemas.microsoft.com/office/drawing/2014/main" id="{FA8C4D63-CAEF-4EF9-92CA-FC1BA8C2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oi tudo bem?</a:t>
            </a:r>
            <a:endParaRPr/>
          </a:p>
        </p:txBody>
      </p:sp>
      <p:sp>
        <p:nvSpPr>
          <p:cNvPr id="1228600462" name="">
            <a:extLst xmlns:a="http://schemas.openxmlformats.org/drawingml/2006/main">
              <a:ext uri="{FF2B5EF4-FFF2-40B4-BE49-F238E27FC236}">
                <a16:creationId xmlns:a16="http://schemas.microsoft.com/office/drawing/2014/main" id="{C736CAAF-731D-4A20-A79D-BCC57864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95625"/>
            <a:ext cx="72390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E6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1063785844" name="">
            <a:extLst xmlns:a="http://schemas.openxmlformats.org/drawingml/2006/main">
              <a:ext uri="{FF2B5EF4-FFF2-40B4-BE49-F238E27FC236}">
                <a16:creationId xmlns:a16="http://schemas.microsoft.com/office/drawing/2014/main" id="{58DF49E2-E931-4FCA-98F3-B808F61E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3375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456F5"/>
                </a:solidFill>
                <a:latin typeface="Arial"/>
                <a:ea typeface="Arial"/>
                <a:cs typeface="Arial"/>
              </a:rPr>
              <a:t>Thoughts exibido pela interface</a:t>
            </a:r>
            <a:endParaRPr/>
          </a:p>
        </p:txBody>
      </p:sp>
      <p:sp>
        <p:nvSpPr>
          <p:cNvPr id="786456688" name="">
            <a:extLst xmlns:a="http://schemas.openxmlformats.org/drawingml/2006/main">
              <a:ext uri="{FF2B5EF4-FFF2-40B4-BE49-F238E27FC236}">
                <a16:creationId xmlns:a16="http://schemas.microsoft.com/office/drawing/2014/main" id="{E7922B61-3642-46E1-92CF-DCC0EBDA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6619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O modelo identifica uma saudação informal em português e prepara uma resposta breve e cordial.</a:t>
            </a:r>
            <a:endParaRPr/>
          </a:p>
        </p:txBody>
      </p:sp>
      <p:sp>
        <p:nvSpPr>
          <p:cNvPr id="335742913" name="">
            <a:extLst xmlns:a="http://schemas.openxmlformats.org/drawingml/2006/main">
              <a:ext uri="{FF2B5EF4-FFF2-40B4-BE49-F238E27FC236}">
                <a16:creationId xmlns:a16="http://schemas.microsoft.com/office/drawing/2014/main" id="{ED3195F3-41B8-4F7B-AAD0-6A491AA6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95875"/>
            <a:ext cx="723900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1012894989" name="">
            <a:extLst xmlns:a="http://schemas.openxmlformats.org/drawingml/2006/main">
              <a:ext uri="{FF2B5EF4-FFF2-40B4-BE49-F238E27FC236}">
                <a16:creationId xmlns:a16="http://schemas.microsoft.com/office/drawing/2014/main" id="{B48CFE15-D46E-4CA1-8951-B1CFE4B3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86375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Oi! Tudo ótimo por aqui, e com você?</a:t>
            </a:r>
            <a:endParaRPr/>
          </a:p>
          <a:p xmlns:a="http://schemas.openxmlformats.org/drawingml/2006/main">
            <a: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Como posso te ajudar hoje?</a:t>
            </a:r>
            <a:endParaRPr/>
          </a:p>
        </p:txBody>
      </p:sp>
      <p:sp>
        <p:nvSpPr>
          <p:cNvPr id="1328716080" name="">
            <a:extLst xmlns:a="http://schemas.openxmlformats.org/drawingml/2006/main">
              <a:ext uri="{FF2B5EF4-FFF2-40B4-BE49-F238E27FC236}">
                <a16:creationId xmlns:a16="http://schemas.microsoft.com/office/drawing/2014/main" id="{341FF18F-6F33-4C9B-8488-A989991E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09750"/>
            <a:ext cx="3429000" cy="433387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744195180" name="">
            <a:extLst xmlns:a="http://schemas.openxmlformats.org/drawingml/2006/main">
              <a:ext uri="{FF2B5EF4-FFF2-40B4-BE49-F238E27FC236}">
                <a16:creationId xmlns:a16="http://schemas.microsoft.com/office/drawing/2014/main" id="{288F3895-4BF9-4CE9-B9F0-CF715967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047875"/>
            <a:ext cx="2971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Uso observado</a:t>
            </a:r>
            <a:endParaRPr/>
          </a:p>
        </p:txBody>
      </p:sp>
      <p:sp>
        <p:nvSpPr>
          <p:cNvPr id="453683371" name="">
            <a:extLst xmlns:a="http://schemas.openxmlformats.org/drawingml/2006/main">
              <a:ext uri="{FF2B5EF4-FFF2-40B4-BE49-F238E27FC236}">
                <a16:creationId xmlns:a16="http://schemas.microsoft.com/office/drawing/2014/main" id="{E40236D8-37DA-4CD6-9EBD-75BAAF9A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762250"/>
            <a:ext cx="29718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Entrada: 5 tokens</a:t>
            </a:r>
            <a:endParaRPr/>
          </a:p>
          <a:p xmlns:a="http://schemas.openxmlformats.org/drawingml/2006/main">
            <a:pPr>
              <a:buNone/>
            </a:pPr>
            <a:endParaRPr/>
          </a:p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Saída: 255 tokens</a:t>
            </a:r>
            <a:endParaRPr/>
          </a:p>
          <a:p xmlns:a="http://schemas.openxmlformats.org/drawingml/2006/main">
            <a:pPr>
              <a:buNone/>
            </a:pPr>
            <a:endParaRPr/>
          </a:p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Total: 260 tokens</a:t>
            </a:r>
            <a:endParaRPr/>
          </a:p>
        </p:txBody>
      </p:sp>
      <p:sp>
        <p:nvSpPr>
          <p:cNvPr id="265799168" name="">
            <a:extLst xmlns:a="http://schemas.openxmlformats.org/drawingml/2006/main">
              <a:ext uri="{FF2B5EF4-FFF2-40B4-BE49-F238E27FC236}">
                <a16:creationId xmlns:a16="http://schemas.microsoft.com/office/drawing/2014/main" id="{30CD2FAB-09BE-4D63-8CAE-8CC980D7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29375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A interface não separa os tokens de raciocínio dos demais tokens de saída.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17545110"/>
      </p:ext>
    </p:extLst>
  </p:cSld>
</p:sld>
</file>

<file path=ppt/slides/slide10.xml><?xml version="1.0" encoding="utf-8"?>
<p:sld xmlns:p="http://schemas.openxmlformats.org/presentationml/2006/main" showMasterSp="1" show="1">
  <p:cSld>
    <p:bg>
      <p:bgPr>
        <a:solidFill xmlns:a="http://schemas.openxmlformats.org/drawingml/2006/main">
          <a:srgbClr val="F3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26745392" name="">
            <a:extLst xmlns:a="http://schemas.openxmlformats.org/drawingml/2006/main">
              <a:ext uri="{FF2B5EF4-FFF2-40B4-BE49-F238E27FC236}">
                <a16:creationId xmlns:a16="http://schemas.microsoft.com/office/drawing/2014/main" id="{8780E521-9608-47A4-B4CC-41F9EC3C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86C5"/>
                </a:solidFill>
                <a:latin typeface="Arial"/>
                <a:ea typeface="Arial"/>
                <a:cs typeface="Arial"/>
              </a:rPr>
              <a:t>10 / 38</a:t>
            </a:r>
            <a:endParaRPr/>
          </a:p>
        </p:txBody>
      </p:sp>
      <p:sp>
        <p:nvSpPr>
          <p:cNvPr id="85039680" name="">
            <a:extLst xmlns:a="http://schemas.openxmlformats.org/drawingml/2006/main">
              <a:ext uri="{FF2B5EF4-FFF2-40B4-BE49-F238E27FC236}">
                <a16:creationId xmlns:a16="http://schemas.microsoft.com/office/drawing/2014/main" id="{33A53BBA-9B46-4BDD-99B4-865C6A48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Por que a IA pode errar?</a:t>
            </a:r>
            <a:endParaRPr/>
          </a:p>
        </p:txBody>
      </p:sp>
      <p:pic>
        <p:nvPicPr>
          <p:cNvPr id="1456653670" name="">
            <a:extLst xmlns:a="http://schemas.openxmlformats.org/drawingml/2006/main">
              <a:ext uri="{FF2B5EF4-FFF2-40B4-BE49-F238E27FC236}">
                <a16:creationId xmlns:a16="http://schemas.microsoft.com/office/drawing/2014/main" id="{93218F18-E797-49B8-8B5E-0645D1D72D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1df881da2c54445"/>
          <a:stretch xmlns:a="http://schemas.openxmlformats.org/drawingml/2006/main"/>
        </p:blipFill>
        <p:spPr>
          <a:xfrm xmlns:a="http://schemas.openxmlformats.org/drawingml/2006/main">
            <a:off x="7305675" y="1619250"/>
            <a:ext cx="3962400" cy="4953000"/>
          </a:xfrm>
          <a:prstGeom xmlns:a="http://schemas.openxmlformats.org/drawingml/2006/main" prst="rect">
            <a:avLst/>
          </a:prstGeom>
        </p:spPr>
      </p:pic>
      <p:sp>
        <p:nvSpPr>
          <p:cNvPr id="1658148982" name="">
            <a:extLst xmlns:a="http://schemas.openxmlformats.org/drawingml/2006/main">
              <a:ext uri="{FF2B5EF4-FFF2-40B4-BE49-F238E27FC236}">
                <a16:creationId xmlns:a16="http://schemas.microsoft.com/office/drawing/2014/main" id="{D42E1A12-AC6B-4F96-96D4-F2DE55B8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“Este cogumelo é comestível?”</a:t>
            </a:r>
            <a:endParaRPr/>
          </a:p>
        </p:txBody>
      </p:sp>
      <p:sp>
        <p:nvSpPr>
          <p:cNvPr id="965277390" name="">
            <a:extLst xmlns:a="http://schemas.openxmlformats.org/drawingml/2006/main">
              <a:ext uri="{FF2B5EF4-FFF2-40B4-BE49-F238E27FC236}">
                <a16:creationId xmlns:a16="http://schemas.microsoft.com/office/drawing/2014/main" id="{679238CB-5925-4833-964F-FDCF60A2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0"/>
            <a:ext cx="5667375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E8E8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350844016" name="">
            <a:extLst xmlns:a="http://schemas.openxmlformats.org/drawingml/2006/main">
              <a:ext uri="{FF2B5EF4-FFF2-40B4-BE49-F238E27FC236}">
                <a16:creationId xmlns:a16="http://schemas.microsoft.com/office/drawing/2014/main" id="{5DEC966C-8593-414B-894D-ED8A25A8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523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D34848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D34848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D34848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D34848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D34848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D34848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D34848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D34848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D34848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D348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D3484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34848"/>
                </a:solidFill>
                <a:latin typeface="Arial"/>
                <a:ea typeface="Arial"/>
                <a:cs typeface="Arial"/>
              </a:rPr>
              <a:t>Resposta confiante da IA: “Sim!”</a:t>
            </a:r>
            <a:endParaRPr/>
          </a:p>
        </p:txBody>
      </p:sp>
      <p:sp>
        <p:nvSpPr>
          <p:cNvPr id="671588190" name="">
            <a:extLst xmlns:a="http://schemas.openxmlformats.org/drawingml/2006/main">
              <a:ext uri="{FF2B5EF4-FFF2-40B4-BE49-F238E27FC236}">
                <a16:creationId xmlns:a16="http://schemas.microsoft.com/office/drawing/2014/main" id="{0FCE127D-43B9-4F7A-92E9-3D3B47D6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0"/>
            <a:ext cx="581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O problema: responder com certeza sem evidência suficiente.</a:t>
            </a:r>
            <a:endParaRPr/>
          </a:p>
        </p:txBody>
      </p:sp>
      <p:sp>
        <p:nvSpPr>
          <p:cNvPr id="1709313698" name="">
            <a:extLst xmlns:a="http://schemas.openxmlformats.org/drawingml/2006/main">
              <a:ext uri="{FF2B5EF4-FFF2-40B4-BE49-F238E27FC236}">
                <a16:creationId xmlns:a16="http://schemas.microsoft.com/office/drawing/2014/main" id="{75429D7D-96CD-4C0F-A3E0-5DAD24E1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62625"/>
            <a:ext cx="581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Exemplo fictício. Uma correção posterior pode não desfazer as consequências.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7851293"/>
      </p:ext>
    </p:extLst>
  </p:cSld>
</p:sld>
</file>

<file path=ppt/slides/slide11.xml><?xml version="1.0" encoding="utf-8"?>
<p:sld xmlns:p="http://schemas.openxmlformats.org/presentationml/2006/main" showMasterSp="1" show="1">
  <p:cSld>
    <p:bg>
      <p:bgPr>
        <a:solidFill xmlns:a="http://schemas.openxmlformats.org/drawingml/2006/main">
          <a:srgbClr val="F3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4835943" name="">
            <a:extLst xmlns:a="http://schemas.openxmlformats.org/drawingml/2006/main">
              <a:ext uri="{FF2B5EF4-FFF2-40B4-BE49-F238E27FC236}">
                <a16:creationId xmlns:a16="http://schemas.microsoft.com/office/drawing/2014/main" id="{24DA1B51-44B5-42E0-AD80-1A697F02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86C5"/>
                </a:solidFill>
                <a:latin typeface="Arial"/>
                <a:ea typeface="Arial"/>
                <a:cs typeface="Arial"/>
              </a:rPr>
              <a:t>11 / 38</a:t>
            </a:r>
            <a:endParaRPr/>
          </a:p>
        </p:txBody>
      </p:sp>
      <p:sp>
        <p:nvSpPr>
          <p:cNvPr id="343866472" name="">
            <a:extLst xmlns:a="http://schemas.openxmlformats.org/drawingml/2006/main">
              <a:ext uri="{FF2B5EF4-FFF2-40B4-BE49-F238E27FC236}">
                <a16:creationId xmlns:a16="http://schemas.microsoft.com/office/drawing/2014/main" id="{88EF0B8D-E443-4673-8737-EC161345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33424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Vibe coding: o post de Andrej Karpathy</a:t>
            </a:r>
            <a:endParaRPr/>
          </a:p>
        </p:txBody>
      </p:sp>
      <p:sp>
        <p:nvSpPr>
          <p:cNvPr id="1834987530" name="">
            <a:extLst xmlns:a="http://schemas.openxmlformats.org/drawingml/2006/main">
              <a:ext uri="{FF2B5EF4-FFF2-40B4-BE49-F238E27FC236}">
                <a16:creationId xmlns:a16="http://schemas.microsoft.com/office/drawing/2014/main" id="{72953CC3-86DD-4BF8-960A-155D978A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547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Post original no X, fevereiro de 2025</a:t>
            </a:r>
            <a:endParaRPr/>
          </a:p>
        </p:txBody>
      </p:sp>
      <p:sp>
        <p:nvSpPr>
          <p:cNvPr id="1775514594" name="">
            <a:extLst xmlns:a="http://schemas.openxmlformats.org/drawingml/2006/main">
              <a:ext uri="{FF2B5EF4-FFF2-40B4-BE49-F238E27FC236}">
                <a16:creationId xmlns:a16="http://schemas.microsoft.com/office/drawing/2014/main" id="{34F4FAEF-4447-4028-81BF-277D7DF0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954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7456F5"/>
                </a:solidFill>
                <a:latin typeface="Arial"/>
                <a:ea typeface="Arial"/>
                <a:cs typeface="Arial"/>
              </a:rPr>
              <a:t>Tradução resumida em português</a:t>
            </a:r>
            <a:endParaRPr/>
          </a:p>
        </p:txBody>
      </p:sp>
      <p:pic>
        <p:nvPicPr>
          <p:cNvPr id="1696449553" name="">
            <a:extLst xmlns:a="http://schemas.openxmlformats.org/drawingml/2006/main">
              <a:ext uri="{FF2B5EF4-FFF2-40B4-BE49-F238E27FC236}">
                <a16:creationId xmlns:a16="http://schemas.microsoft.com/office/drawing/2014/main" id="{D47A40EA-15A1-4A82-9DC1-DD2BF821BE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12b1334d49944ab"/>
          <a:stretch xmlns:a="http://schemas.openxmlformats.org/drawingml/2006/main"/>
        </p:blipFill>
        <p:spPr>
          <a:xfrm xmlns:a="http://schemas.openxmlformats.org/drawingml/2006/main">
            <a:off x="708577" y="2009775"/>
            <a:ext cx="5136046" cy="4543425"/>
          </a:xfrm>
          <a:prstGeom xmlns:a="http://schemas.openxmlformats.org/drawingml/2006/main" prst="rect">
            <a:avLst/>
          </a:prstGeom>
        </p:spPr>
      </p:pic>
      <p:sp>
        <p:nvSpPr>
          <p:cNvPr id="1281520443" name="">
            <a:extLst xmlns:a="http://schemas.openxmlformats.org/drawingml/2006/main">
              <a:ext uri="{FF2B5EF4-FFF2-40B4-BE49-F238E27FC236}">
                <a16:creationId xmlns:a16="http://schemas.microsoft.com/office/drawing/2014/main" id="{1E9E6652-5E1E-4F35-A669-5672A207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85975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“Há um novo tipo de programação que chamo de ‘vibe coding’.”</a:t>
            </a:r>
            <a:endParaRPr/>
          </a:p>
        </p:txBody>
      </p:sp>
      <p:sp>
        <p:nvSpPr>
          <p:cNvPr id="1670221967" name="">
            <a:extLst xmlns:a="http://schemas.openxmlformats.org/drawingml/2006/main">
              <a:ext uri="{FF2B5EF4-FFF2-40B4-BE49-F238E27FC236}">
                <a16:creationId xmlns:a16="http://schemas.microsoft.com/office/drawing/2014/main" id="{E450B586-54D7-4CAA-A732-575E673D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81350"/>
            <a:ext cx="5238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Karpathy conta que pede mudanças à IA por voz, aceita alterações sem revisar os diffs e avalia o resultado executando a aplicação.</a:t>
            </a:r>
            <a:endParaRPr/>
          </a:p>
        </p:txBody>
      </p:sp>
      <p:sp>
        <p:nvSpPr>
          <p:cNvPr id="658165884" name="">
            <a:extLst xmlns:a="http://schemas.openxmlformats.org/drawingml/2006/main">
              <a:ext uri="{FF2B5EF4-FFF2-40B4-BE49-F238E27FC236}">
                <a16:creationId xmlns:a16="http://schemas.microsoft.com/office/drawing/2014/main" id="{16381B9E-F697-44A5-88B9-744AE589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29125"/>
            <a:ext cx="5238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Quando aparecem erros, ele devolve as mensagens à IA. Às vezes, experimenta outras mudanças sem compreender todo o código que foi gerado.</a:t>
            </a:r>
            <a:endParaRPr/>
          </a:p>
        </p:txBody>
      </p:sp>
      <p:sp>
        <p:nvSpPr>
          <p:cNvPr id="1190457537" name="">
            <a:extLst xmlns:a="http://schemas.openxmlformats.org/drawingml/2006/main">
              <a:ext uri="{FF2B5EF4-FFF2-40B4-BE49-F238E27FC236}">
                <a16:creationId xmlns:a16="http://schemas.microsoft.com/office/drawing/2014/main" id="{892010F6-14E5-4210-8BBA-DF8CD68C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676900"/>
            <a:ext cx="523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Ele descreve essa prática como divertida para projetos descartáveis de fim de semana.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72425308"/>
      </p:ext>
    </p:extLst>
  </p:cSld>
</p:sld>
</file>

<file path=ppt/slides/slide12.xml><?xml version="1.0" encoding="utf-8"?>
<p:sld xmlns:p="http://schemas.openxmlformats.org/presentationml/2006/main" showMasterSp="1" show="1">
  <p:cSld>
    <p:bg>
      <p:bgPr>
        <a:solidFill xmlns:a="http://schemas.openxmlformats.org/drawingml/2006/main">
          <a:srgbClr val="F3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51455482" name="">
            <a:extLst xmlns:a="http://schemas.openxmlformats.org/drawingml/2006/main">
              <a:ext uri="{FF2B5EF4-FFF2-40B4-BE49-F238E27FC236}">
                <a16:creationId xmlns:a16="http://schemas.microsoft.com/office/drawing/2014/main" id="{31EAC79F-C9AB-4F97-8D4A-24888A6B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86C5"/>
                </a:solidFill>
                <a:latin typeface="Arial"/>
                <a:ea typeface="Arial"/>
                <a:cs typeface="Arial"/>
              </a:rPr>
              <a:t>12 / 38</a:t>
            </a:r>
            <a:endParaRPr/>
          </a:p>
        </p:txBody>
      </p:sp>
      <p:sp>
        <p:nvSpPr>
          <p:cNvPr id="1895527692" name="">
            <a:extLst xmlns:a="http://schemas.openxmlformats.org/drawingml/2006/main">
              <a:ext uri="{FF2B5EF4-FFF2-40B4-BE49-F238E27FC236}">
                <a16:creationId xmlns:a16="http://schemas.microsoft.com/office/drawing/2014/main" id="{853D2316-FEC0-4920-92CD-587B63C8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2000"/>
            <a:ext cx="1114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Replit: o agente apagou dados de produção</a:t>
            </a:r>
            <a:endParaRPr/>
          </a:p>
        </p:txBody>
      </p:sp>
      <p:sp>
        <p:nvSpPr>
          <p:cNvPr id="651191454" name="">
            <a:extLst xmlns:a="http://schemas.openxmlformats.org/drawingml/2006/main">
              <a:ext uri="{FF2B5EF4-FFF2-40B4-BE49-F238E27FC236}">
                <a16:creationId xmlns:a16="http://schemas.microsoft.com/office/drawing/2014/main" id="{99748816-B09F-486E-8F59-AFAAE8EA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Julho de 2025. Jason Lemkin, fundador do SaaStr, construía um aplicativo com o agente de IA do Replit.</a:t>
            </a:r>
            <a:endParaRPr/>
          </a:p>
        </p:txBody>
      </p:sp>
      <p:sp>
        <p:nvSpPr>
          <p:cNvPr id="373809406" name="">
            <a:extLst xmlns:a="http://schemas.openxmlformats.org/drawingml/2006/main">
              <a:ext uri="{FF2B5EF4-FFF2-40B4-BE49-F238E27FC236}">
                <a16:creationId xmlns:a16="http://schemas.microsoft.com/office/drawing/2014/main" id="{F6F8B515-FF71-45FC-BC0D-6EF58B60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2890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1. O projeto</a:t>
            </a:r>
            <a:endParaRPr/>
          </a:p>
        </p:txBody>
      </p:sp>
      <p:sp>
        <p:nvSpPr>
          <p:cNvPr id="1096636266" name="">
            <a:extLst xmlns:a="http://schemas.openxmlformats.org/drawingml/2006/main">
              <a:ext uri="{FF2B5EF4-FFF2-40B4-BE49-F238E27FC236}">
                <a16:creationId xmlns:a16="http://schemas.microsoft.com/office/drawing/2014/main" id="{A3653E07-0420-4908-B007-BD53BBE6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05150"/>
            <a:ext cx="523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O aplicativo reunia contatos de executivos e empresas. Durante o desenvolvimento, o agente tinha acesso ao banco com dados reais.</a:t>
            </a:r>
            <a:endParaRPr/>
          </a:p>
        </p:txBody>
      </p:sp>
      <p:sp>
        <p:nvSpPr>
          <p:cNvPr id="138992620" name="">
            <a:extLst xmlns:a="http://schemas.openxmlformats.org/drawingml/2006/main">
              <a:ext uri="{FF2B5EF4-FFF2-40B4-BE49-F238E27FC236}">
                <a16:creationId xmlns:a16="http://schemas.microsoft.com/office/drawing/2014/main" id="{F0F2F9D2-ACC2-4225-BD44-9B4BDFDD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5770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2. A exclusão</a:t>
            </a:r>
            <a:endParaRPr/>
          </a:p>
        </p:txBody>
      </p:sp>
      <p:sp>
        <p:nvSpPr>
          <p:cNvPr id="380450210" name="">
            <a:extLst xmlns:a="http://schemas.openxmlformats.org/drawingml/2006/main">
              <a:ext uri="{FF2B5EF4-FFF2-40B4-BE49-F238E27FC236}">
                <a16:creationId xmlns:a16="http://schemas.microsoft.com/office/drawing/2014/main" id="{A34981E3-2678-42E8-858D-AE1242FE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43475"/>
            <a:ext cx="5238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Segundo Lemkin, o agente apagou o banco mesmo após pedidos para suspender alterações. Ele relatou o caso publicamente em 18 de julho.</a:t>
            </a:r>
            <a:endParaRPr/>
          </a:p>
        </p:txBody>
      </p:sp>
      <p:sp>
        <p:nvSpPr>
          <p:cNvPr id="1859239876" name="">
            <a:extLst xmlns:a="http://schemas.openxmlformats.org/drawingml/2006/main">
              <a:ext uri="{FF2B5EF4-FFF2-40B4-BE49-F238E27FC236}">
                <a16:creationId xmlns:a16="http://schemas.microsoft.com/office/drawing/2014/main" id="{7A3AEB0E-7131-4086-83F5-7F2FBFBB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2890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456F5"/>
                </a:solidFill>
                <a:latin typeface="Arial"/>
                <a:ea typeface="Arial"/>
                <a:cs typeface="Arial"/>
              </a:rPr>
              <a:t>3. O impacto</a:t>
            </a:r>
            <a:endParaRPr/>
          </a:p>
        </p:txBody>
      </p:sp>
      <p:sp>
        <p:nvSpPr>
          <p:cNvPr id="1776830857" name="">
            <a:extLst xmlns:a="http://schemas.openxmlformats.org/drawingml/2006/main">
              <a:ext uri="{FF2B5EF4-FFF2-40B4-BE49-F238E27FC236}">
                <a16:creationId xmlns:a16="http://schemas.microsoft.com/office/drawing/2014/main" id="{AA1818D7-E085-4360-93D2-A096FED8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05150"/>
            <a:ext cx="523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 exclusão atingiu os registros do aplicativo. O autor relata que conseguiu recuperar os dados por rollback, apesar da orientação inicial incorreta da IA.</a:t>
            </a:r>
            <a:endParaRPr/>
          </a:p>
        </p:txBody>
      </p:sp>
      <p:sp>
        <p:nvSpPr>
          <p:cNvPr id="266802690" name="">
            <a:extLst xmlns:a="http://schemas.openxmlformats.org/drawingml/2006/main">
              <a:ext uri="{FF2B5EF4-FFF2-40B4-BE49-F238E27FC236}">
                <a16:creationId xmlns:a16="http://schemas.microsoft.com/office/drawing/2014/main" id="{B55AF7D3-DCC5-483C-9D74-38947311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5770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456F5"/>
                </a:solidFill>
                <a:latin typeface="Arial"/>
                <a:ea typeface="Arial"/>
                <a:cs typeface="Arial"/>
              </a:rPr>
              <a:t>4. A resposta do Replit</a:t>
            </a:r>
            <a:endParaRPr/>
          </a:p>
        </p:txBody>
      </p:sp>
      <p:sp>
        <p:nvSpPr>
          <p:cNvPr id="1907343793" name="">
            <a:extLst xmlns:a="http://schemas.openxmlformats.org/drawingml/2006/main">
              <a:ext uri="{FF2B5EF4-FFF2-40B4-BE49-F238E27FC236}">
                <a16:creationId xmlns:a16="http://schemas.microsoft.com/office/drawing/2014/main" id="{FA7C2DE8-D0FF-436C-9183-81AF089E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943475"/>
            <a:ext cx="5238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Em 20 de julho, o CEO reconheceu o ocorrido. No dia 21, a empresa anunciou a separação gradual entre bancos de desenvolvimento e produção.</a:t>
            </a:r>
            <a:endParaRPr/>
          </a:p>
        </p:txBody>
      </p:sp>
      <p:sp>
        <p:nvSpPr>
          <p:cNvPr id="40686683" name="">
            <a:extLst xmlns:a="http://schemas.openxmlformats.org/drawingml/2006/main">
              <a:ext uri="{FF2B5EF4-FFF2-40B4-BE49-F238E27FC236}">
                <a16:creationId xmlns:a16="http://schemas.microsoft.com/office/drawing/2014/main" id="{CCAE3E1D-0732-4700-B7CC-45C0E7BD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81750"/>
            <a:ext cx="1114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Lição: instruções no prompt precisam de controles de acesso e recuperação no ambiente.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83584693"/>
      </p:ext>
    </p:extLst>
  </p:cSld>
</p:sld>
</file>

<file path=ppt/slides/slide13.xml><?xml version="1.0" encoding="utf-8"?>
<p:sld xmlns:p="http://schemas.openxmlformats.org/presentationml/2006/main" showMasterSp="1" show="1">
  <p:cSld>
    <p:bg>
      <p:bgPr>
        <a:solidFill xmlns:a="http://schemas.openxmlformats.org/drawingml/2006/main">
          <a:srgbClr val="F3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94551479" name="">
            <a:extLst xmlns:a="http://schemas.openxmlformats.org/drawingml/2006/main">
              <a:ext uri="{FF2B5EF4-FFF2-40B4-BE49-F238E27FC236}">
                <a16:creationId xmlns:a16="http://schemas.microsoft.com/office/drawing/2014/main" id="{09EA1C82-984C-4E6C-A677-1CDB5CFA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86C5"/>
                </a:solidFill>
                <a:latin typeface="Arial"/>
                <a:ea typeface="Arial"/>
                <a:cs typeface="Arial"/>
              </a:rPr>
              <a:t>13 / 38</a:t>
            </a:r>
            <a:endParaRPr/>
          </a:p>
        </p:txBody>
      </p:sp>
      <p:sp>
        <p:nvSpPr>
          <p:cNvPr id="1469204853" name="">
            <a:extLst xmlns:a="http://schemas.openxmlformats.org/drawingml/2006/main">
              <a:ext uri="{FF2B5EF4-FFF2-40B4-BE49-F238E27FC236}">
                <a16:creationId xmlns:a16="http://schemas.microsoft.com/office/drawing/2014/main" id="{7ACF1E1A-7697-4826-AAC7-1CBE15AF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2000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Segurança: 2025 GenAI Code Security Report</a:t>
            </a:r>
            <a:endParaRPr/>
          </a:p>
        </p:txBody>
      </p:sp>
      <p:pic>
        <p:nvPicPr>
          <p:cNvPr id="662158612" name="">
            <a:extLst xmlns:a="http://schemas.openxmlformats.org/drawingml/2006/main">
              <a:ext uri="{FF2B5EF4-FFF2-40B4-BE49-F238E27FC236}">
                <a16:creationId xmlns:a16="http://schemas.microsoft.com/office/drawing/2014/main" id="{E732DF6D-C30E-45F1-8C2F-843D4EC063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09f8a4bc0f44bc6"/>
          <a:stretch xmlns:a="http://schemas.openxmlformats.org/drawingml/2006/main"/>
        </p:blipFill>
        <p:spPr>
          <a:xfrm xmlns:a="http://schemas.openxmlformats.org/drawingml/2006/main">
            <a:off x="550502" y="1762125"/>
            <a:ext cx="3128097" cy="4048125"/>
          </a:xfrm>
          <a:prstGeom xmlns:a="http://schemas.openxmlformats.org/drawingml/2006/main" prst="rect">
            <a:avLst/>
          </a:prstGeom>
        </p:spPr>
      </p:pic>
      <p:sp>
        <p:nvSpPr>
          <p:cNvPr id="1993758466" name="">
            <a:extLst xmlns:a="http://schemas.openxmlformats.org/drawingml/2006/main">
              <a:ext uri="{FF2B5EF4-FFF2-40B4-BE49-F238E27FC236}">
                <a16:creationId xmlns:a16="http://schemas.microsoft.com/office/drawing/2014/main" id="{BF8FAB3C-790C-4E9E-9BAC-C0FAF9C0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714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66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66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66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66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66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66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66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66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66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66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66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45%</a:t>
            </a:r>
            <a:endParaRPr/>
          </a:p>
        </p:txBody>
      </p:sp>
      <p:sp>
        <p:nvSpPr>
          <p:cNvPr id="1175448457" name="">
            <a:extLst xmlns:a="http://schemas.openxmlformats.org/drawingml/2006/main">
              <a:ext uri="{FF2B5EF4-FFF2-40B4-BE49-F238E27FC236}">
                <a16:creationId xmlns:a16="http://schemas.microsoft.com/office/drawing/2014/main" id="{2AAED9A0-006E-4B7B-B4B1-C9A15B5C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90824"/>
            <a:ext cx="733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das amostras falharam nos testes de segurança desse benchmark.</a:t>
            </a:r>
            <a:endParaRPr/>
          </a:p>
        </p:txBody>
      </p:sp>
      <p:sp>
        <p:nvSpPr>
          <p:cNvPr id="1725893791" name="">
            <a:extLst xmlns:a="http://schemas.openxmlformats.org/drawingml/2006/main">
              <a:ext uri="{FF2B5EF4-FFF2-40B4-BE49-F238E27FC236}">
                <a16:creationId xmlns:a16="http://schemas.microsoft.com/office/drawing/2014/main" id="{230B6075-257C-4F1E-B3CC-EF400755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00475"/>
            <a:ext cx="733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Como a Veracode avaliou</a:t>
            </a:r>
            <a:endParaRPr/>
          </a:p>
        </p:txBody>
      </p:sp>
      <p:sp>
        <p:nvSpPr>
          <p:cNvPr id="1243404808" name="">
            <a:extLst xmlns:a="http://schemas.openxmlformats.org/drawingml/2006/main">
              <a:ext uri="{FF2B5EF4-FFF2-40B4-BE49-F238E27FC236}">
                <a16:creationId xmlns:a16="http://schemas.microsoft.com/office/drawing/2014/main" id="{2BA257E0-6CA7-4722-B6D9-712DB363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57675"/>
            <a:ext cx="7334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Mais de 100 LLMs em 80 tarefas, com quatro linguagens. A Veracode buscou falhas conhecidas, sem instruções específicas de segurança.</a:t>
            </a:r>
            <a:endParaRPr/>
          </a:p>
        </p:txBody>
      </p:sp>
      <p:sp>
        <p:nvSpPr>
          <p:cNvPr id="897355790" name="">
            <a:extLst xmlns:a="http://schemas.openxmlformats.org/drawingml/2006/main">
              <a:ext uri="{FF2B5EF4-FFF2-40B4-BE49-F238E27FC236}">
                <a16:creationId xmlns:a16="http://schemas.microsoft.com/office/drawing/2014/main" id="{72B21D7B-AD4C-430F-A894-8F7CB1E4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524500"/>
            <a:ext cx="733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Exemplos de risco: injeção de SQL, scripts maliciosos em páginas e criptografia fraca.</a:t>
            </a:r>
            <a:endParaRPr/>
          </a:p>
        </p:txBody>
      </p:sp>
      <p:sp>
        <p:nvSpPr>
          <p:cNvPr id="827456036" name="">
            <a:extLst xmlns:a="http://schemas.openxmlformats.org/drawingml/2006/main">
              <a:ext uri="{FF2B5EF4-FFF2-40B4-BE49-F238E27FC236}">
                <a16:creationId xmlns:a16="http://schemas.microsoft.com/office/drawing/2014/main" id="{0B6653C6-8BD5-4789-B011-E72D7E43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72225"/>
            <a:ext cx="11096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Resultado desse benchmark de 2025. Não significa que 45% dos aplicativos com IA sejam vulneráveis.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06893265"/>
      </p:ext>
    </p:extLst>
  </p:cSld>
</p:sld>
</file>

<file path=ppt/slides/slide14.xml><?xml version="1.0" encoding="utf-8"?>
<p:sld xmlns:p="http://schemas.openxmlformats.org/presentationml/2006/main" showMasterSp="1" show="1">
  <p:cSld>
    <p:bg>
      <p:bgPr>
        <a:solidFill xmlns:a="http://schemas.openxmlformats.org/drawingml/2006/main">
          <a:srgbClr val="F3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632640" name="">
            <a:extLst xmlns:a="http://schemas.openxmlformats.org/drawingml/2006/main">
              <a:ext uri="{FF2B5EF4-FFF2-40B4-BE49-F238E27FC236}">
                <a16:creationId xmlns:a16="http://schemas.microsoft.com/office/drawing/2014/main" id="{DAA0404B-8064-452D-AD83-05FB23F3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86C5"/>
                </a:solidFill>
                <a:latin typeface="Arial"/>
                <a:ea typeface="Arial"/>
                <a:cs typeface="Arial"/>
              </a:rPr>
              <a:t>14 / 38</a:t>
            </a:r>
            <a:endParaRPr/>
          </a:p>
        </p:txBody>
      </p:sp>
      <p:sp>
        <p:nvSpPr>
          <p:cNvPr id="1788089363" name="">
            <a:extLst xmlns:a="http://schemas.openxmlformats.org/drawingml/2006/main">
              <a:ext uri="{FF2B5EF4-FFF2-40B4-BE49-F238E27FC236}">
                <a16:creationId xmlns:a16="http://schemas.microsoft.com/office/drawing/2014/main" id="{1D0B6ECD-9B56-44C2-9AAA-0BC71BCD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2000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Linus Torvalds: uso de IA com intervenção técnica</a:t>
            </a:r>
            <a:endParaRPr/>
          </a:p>
        </p:txBody>
      </p:sp>
      <p:sp>
        <p:nvSpPr>
          <p:cNvPr id="1157671047" name="">
            <a:extLst xmlns:a="http://schemas.openxmlformats.org/drawingml/2006/main">
              <a:ext uri="{FF2B5EF4-FFF2-40B4-BE49-F238E27FC236}">
                <a16:creationId xmlns:a16="http://schemas.microsoft.com/office/drawing/2014/main" id="{012F0BD0-4F47-4D38-8D8A-4CCC78EA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8108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“Isso é muito melhor do que eu conseguiria fazer à mão? Com certeza.”</a:t>
            </a:r>
            <a:endParaRPr/>
          </a:p>
        </p:txBody>
      </p:sp>
      <p:sp>
        <p:nvSpPr>
          <p:cNvPr id="852505228" name="">
            <a:extLst xmlns:a="http://schemas.openxmlformats.org/drawingml/2006/main">
              <a:ext uri="{FF2B5EF4-FFF2-40B4-BE49-F238E27FC236}">
                <a16:creationId xmlns:a16="http://schemas.microsoft.com/office/drawing/2014/main" id="{55C56B4F-ECBE-4D56-B0A2-C4D01155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76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Linus Torvalds, criador do Linux e do Git</a:t>
            </a:r>
            <a:endParaRPr/>
          </a:p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Tradução de um trecho do commit no projeto AudioNoise</a:t>
            </a:r>
            <a:endParaRPr/>
          </a:p>
        </p:txBody>
      </p:sp>
      <p:sp>
        <p:nvSpPr>
          <p:cNvPr id="647570417" name="">
            <a:extLst xmlns:a="http://schemas.openxmlformats.org/drawingml/2006/main">
              <a:ext uri="{FF2B5EF4-FFF2-40B4-BE49-F238E27FC236}">
                <a16:creationId xmlns:a16="http://schemas.microsoft.com/office/drawing/2014/main" id="{4368D687-A37A-4E23-AB3F-13E27C6A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48175"/>
            <a:ext cx="528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O que aconteceu no projeto</a:t>
            </a:r>
            <a:endParaRPr/>
          </a:p>
        </p:txBody>
      </p:sp>
      <p:sp>
        <p:nvSpPr>
          <p:cNvPr id="1857507801" name="">
            <a:extLst xmlns:a="http://schemas.openxmlformats.org/drawingml/2006/main">
              <a:ext uri="{FF2B5EF4-FFF2-40B4-BE49-F238E27FC236}">
                <a16:creationId xmlns:a16="http://schemas.microsoft.com/office/drawing/2014/main" id="{1E36F9A0-5973-4EF8-B08D-87061179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0"/>
            <a:ext cx="5286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Ele usou Google Antigravity para melhorar uma ferramenta de visualização de áudio.</a:t>
            </a:r>
            <a:endParaRPr/>
          </a:p>
        </p:txBody>
      </p:sp>
      <p:sp>
        <p:nvSpPr>
          <p:cNvPr id="1037119733" name="">
            <a:extLst xmlns:a="http://schemas.openxmlformats.org/drawingml/2006/main">
              <a:ext uri="{FF2B5EF4-FFF2-40B4-BE49-F238E27FC236}">
                <a16:creationId xmlns:a16="http://schemas.microsoft.com/office/drawing/2014/main" id="{6FDE7320-CEBA-4736-BEB1-622BC10E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4817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Onde entrou o conhecimento técnico</a:t>
            </a:r>
            <a:endParaRPr/>
          </a:p>
        </p:txBody>
      </p:sp>
      <p:sp>
        <p:nvSpPr>
          <p:cNvPr id="433780847" name="">
            <a:extLst xmlns:a="http://schemas.openxmlformats.org/drawingml/2006/main">
              <a:ext uri="{FF2B5EF4-FFF2-40B4-BE49-F238E27FC236}">
                <a16:creationId xmlns:a16="http://schemas.microsoft.com/office/drawing/2014/main" id="{1E2ED1A4-58E2-4324-8DA0-21C93933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953000"/>
            <a:ext cx="5238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Torvalds identificou um problema na seleção da área e orientou uma correção específica.</a:t>
            </a:r>
            <a:endParaRPr/>
          </a:p>
        </p:txBody>
      </p:sp>
      <p:sp>
        <p:nvSpPr>
          <p:cNvPr id="102727666" name="">
            <a:extLst xmlns:a="http://schemas.openxmlformats.org/drawingml/2006/main">
              <a:ext uri="{FF2B5EF4-FFF2-40B4-BE49-F238E27FC236}">
                <a16:creationId xmlns:a16="http://schemas.microsoft.com/office/drawing/2014/main" id="{40EB084F-E9DA-4779-98FA-12EB4EE6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03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86C5"/>
                </a:solidFill>
                <a:latin typeface="Arial"/>
                <a:ea typeface="Arial"/>
                <a:cs typeface="Arial"/>
              </a:rPr>
              <a:t>Contexto: ferramenta pessoal de áudio. A fala não descreve o desenvolvimento do kernel.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8121501"/>
      </p:ext>
    </p:extLst>
  </p:cSld>
</p:sld>
</file>

<file path=ppt/slides/slide15.xml><?xml version="1.0" encoding="utf-8"?>
<p:sld xmlns:p="http://schemas.openxmlformats.org/presentationml/2006/main" showMasterSp="1" show="1">
  <p:cSld>
    <p:bg>
      <p:bgPr>
        <a:solidFill xmlns:a="http://schemas.openxmlformats.org/drawingml/2006/main">
          <a:srgbClr val="F3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4372700" name="">
            <a:extLst xmlns:a="http://schemas.openxmlformats.org/drawingml/2006/main">
              <a:ext uri="{FF2B5EF4-FFF2-40B4-BE49-F238E27FC236}">
                <a16:creationId xmlns:a16="http://schemas.microsoft.com/office/drawing/2014/main" id="{39520579-87C7-437E-B64D-F569ADE6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86C5"/>
                </a:solidFill>
                <a:latin typeface="Arial"/>
                <a:ea typeface="Arial"/>
                <a:cs typeface="Arial"/>
              </a:rPr>
              <a:t>15 / 38</a:t>
            </a:r>
            <a:endParaRPr/>
          </a:p>
        </p:txBody>
      </p:sp>
      <p:sp>
        <p:nvSpPr>
          <p:cNvPr id="102444729" name="">
            <a:extLst xmlns:a="http://schemas.openxmlformats.org/drawingml/2006/main">
              <a:ext uri="{FF2B5EF4-FFF2-40B4-BE49-F238E27FC236}">
                <a16:creationId xmlns:a16="http://schemas.microsoft.com/office/drawing/2014/main" id="{30F55105-6C55-4E6D-A3BA-3BD0FE9A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2000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Desenvolvedores experientes também usam IA</a:t>
            </a:r>
            <a:endParaRPr/>
          </a:p>
        </p:txBody>
      </p:sp>
      <p:pic>
        <p:nvPicPr>
          <p:cNvPr id="711747885" name="">
            <a:extLst xmlns:a="http://schemas.openxmlformats.org/drawingml/2006/main">
              <a:ext uri="{FF2B5EF4-FFF2-40B4-BE49-F238E27FC236}">
                <a16:creationId xmlns:a16="http://schemas.microsoft.com/office/drawing/2014/main" id="{353F1835-EE0F-495A-9A89-49EB741956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48987a997e14ef9"/>
          <a:stretch xmlns:a="http://schemas.openxmlformats.org/drawingml/2006/main"/>
        </p:blipFill>
        <p:spPr>
          <a:xfrm xmlns:a="http://schemas.openxmlformats.org/drawingml/2006/main">
            <a:off x="523875" y="2000250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1264670730" name="">
            <a:extLst xmlns:a="http://schemas.openxmlformats.org/drawingml/2006/main">
              <a:ext uri="{FF2B5EF4-FFF2-40B4-BE49-F238E27FC236}">
                <a16:creationId xmlns:a16="http://schemas.microsoft.com/office/drawing/2014/main" id="{4AABAE2C-1977-4C5D-B89D-A89D3800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33550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Fábio Akita</a:t>
            </a:r>
            <a:endParaRPr/>
          </a:p>
        </p:txBody>
      </p:sp>
      <p:sp>
        <p:nvSpPr>
          <p:cNvPr id="498126490" name="">
            <a:extLst xmlns:a="http://schemas.openxmlformats.org/drawingml/2006/main">
              <a:ext uri="{FF2B5EF4-FFF2-40B4-BE49-F238E27FC236}">
                <a16:creationId xmlns:a16="http://schemas.microsoft.com/office/drawing/2014/main" id="{A10266E2-A2FD-4381-BB22-7DE367DB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7334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No seu site, Akita descreve o uso de Claude Code, Codex e OpenCode em projetos de código aberto.</a:t>
            </a:r>
            <a:endParaRPr/>
          </a:p>
        </p:txBody>
      </p:sp>
      <p:sp>
        <p:nvSpPr>
          <p:cNvPr id="963365340" name="">
            <a:extLst xmlns:a="http://schemas.openxmlformats.org/drawingml/2006/main">
              <a:ext uri="{FF2B5EF4-FFF2-40B4-BE49-F238E27FC236}">
                <a16:creationId xmlns:a16="http://schemas.microsoft.com/office/drawing/2014/main" id="{BEFD144B-3A09-4C32-8789-7C008E88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48050"/>
            <a:ext cx="733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Como organiza esse trabalho</a:t>
            </a:r>
            <a:endParaRPr/>
          </a:p>
        </p:txBody>
      </p:sp>
      <p:sp>
        <p:nvSpPr>
          <p:cNvPr id="1360490396" name="">
            <a:extLst xmlns:a="http://schemas.openxmlformats.org/drawingml/2006/main">
              <a:ext uri="{FF2B5EF4-FFF2-40B4-BE49-F238E27FC236}">
                <a16:creationId xmlns:a16="http://schemas.microsoft.com/office/drawing/2014/main" id="{F06FAFDE-3687-481F-B8D1-3FB7BEE8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43350"/>
            <a:ext cx="7334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Mantém o contexto fora do agente, automatiza auditorias e lê os relatórios para tomar decisões. A experiência técnica continua orientando o processo.</a:t>
            </a:r>
            <a:endParaRPr/>
          </a:p>
        </p:txBody>
      </p:sp>
      <p:sp>
        <p:nvSpPr>
          <p:cNvPr id="1433933473" name="">
            <a:extLst xmlns:a="http://schemas.openxmlformats.org/drawingml/2006/main">
              <a:ext uri="{FF2B5EF4-FFF2-40B4-BE49-F238E27FC236}">
                <a16:creationId xmlns:a16="http://schemas.microsoft.com/office/drawing/2014/main" id="{D0B0E602-B7CD-4421-9212-20FBCDAD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Outro exemplo: Linus Torvalds usou Antigravity no AudioNoise, com diagnóstico e orientação próprios.</a:t>
            </a:r>
            <a:endParaRPr/>
          </a:p>
        </p:txBody>
      </p:sp>
      <p:sp>
        <p:nvSpPr>
          <p:cNvPr id="1375722934" name="">
            <a:extLst xmlns:a="http://schemas.openxmlformats.org/drawingml/2006/main">
              <a:ext uri="{FF2B5EF4-FFF2-40B4-BE49-F238E27FC236}">
                <a16:creationId xmlns:a16="http://schemas.microsoft.com/office/drawing/2014/main" id="{D0AA7664-EFFE-4B25-96E0-FCC05BA1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627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Esses casos mostram adoção com diferentes práticas. Uso de IA exige revisão do resultado.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21018146"/>
      </p:ext>
    </p:extLst>
  </p:cSld>
</p:sld>
</file>

<file path=ppt/slides/slide16.xml><?xml version="1.0" encoding="utf-8"?>
<p:sld xmlns:p="http://schemas.openxmlformats.org/presentationml/2006/main" showMasterSp="1" show="1">
  <p:cSld>
    <p:bg>
      <p:bgPr>
        <a:solidFill xmlns:a="http://schemas.openxmlformats.org/drawingml/2006/main">
          <a:srgbClr val="F3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6832760" name="">
            <a:extLst xmlns:a="http://schemas.openxmlformats.org/drawingml/2006/main">
              <a:ext uri="{FF2B5EF4-FFF2-40B4-BE49-F238E27FC236}">
                <a16:creationId xmlns:a16="http://schemas.microsoft.com/office/drawing/2014/main" id="{7E036557-4068-4918-9B93-C28797EE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86C5"/>
                </a:solidFill>
                <a:latin typeface="Arial"/>
                <a:ea typeface="Arial"/>
                <a:cs typeface="Arial"/>
              </a:rPr>
              <a:t>16 / 38</a:t>
            </a:r>
            <a:endParaRPr/>
          </a:p>
        </p:txBody>
      </p:sp>
      <p:sp>
        <p:nvSpPr>
          <p:cNvPr id="988329976" name="">
            <a:extLst xmlns:a="http://schemas.openxmlformats.org/drawingml/2006/main">
              <a:ext uri="{FF2B5EF4-FFF2-40B4-BE49-F238E27FC236}">
                <a16:creationId xmlns:a16="http://schemas.microsoft.com/office/drawing/2014/main" id="{44E334DE-FD40-4E36-9B2B-3A5D8566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Ferramentas e acesso ao ambiente</a:t>
            </a:r>
            <a:endParaRPr/>
          </a:p>
        </p:txBody>
      </p:sp>
      <p:sp>
        <p:nvSpPr>
          <p:cNvPr id="282325301" name="">
            <a:extLst xmlns:a="http://schemas.openxmlformats.org/drawingml/2006/main">
              <a:ext uri="{FF2B5EF4-FFF2-40B4-BE49-F238E27FC236}">
                <a16:creationId xmlns:a16="http://schemas.microsoft.com/office/drawing/2014/main" id="{91E03595-D6BF-4086-A31F-9991537C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Para a IA trabalhar, ela precisa de um ambiente e das ferramentas certas.</a:t>
            </a:r>
            <a:endParaRPr/>
          </a:p>
        </p:txBody>
      </p:sp>
      <p:sp>
        <p:nvSpPr>
          <p:cNvPr id="272401563" name="">
            <a:extLst xmlns:a="http://schemas.openxmlformats.org/drawingml/2006/main">
              <a:ext uri="{FF2B5EF4-FFF2-40B4-BE49-F238E27FC236}">
                <a16:creationId xmlns:a16="http://schemas.microsoft.com/office/drawing/2014/main" id="{23326EED-52EF-4180-94E5-7091C5DF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52750"/>
            <a:ext cx="352425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2138734247" name="">
            <a:extLst xmlns:a="http://schemas.openxmlformats.org/drawingml/2006/main">
              <a:ext uri="{FF2B5EF4-FFF2-40B4-BE49-F238E27FC236}">
                <a16:creationId xmlns:a16="http://schemas.microsoft.com/office/drawing/2014/main" id="{4EBD0318-8CA6-49A0-BEA1-54E23B95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190875"/>
            <a:ext cx="3067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Onde trabalhar</a:t>
            </a:r>
            <a:endParaRPr/>
          </a:p>
        </p:txBody>
      </p:sp>
      <p:sp>
        <p:nvSpPr>
          <p:cNvPr id="843757024" name="">
            <a:extLst xmlns:a="http://schemas.openxmlformats.org/drawingml/2006/main">
              <a:ext uri="{FF2B5EF4-FFF2-40B4-BE49-F238E27FC236}">
                <a16:creationId xmlns:a16="http://schemas.microsoft.com/office/drawing/2014/main" id="{E1E03007-6537-4466-8152-2C235F9D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905250"/>
            <a:ext cx="30670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Editor ou aplicativo</a:t>
            </a:r>
            <a:endParaRPr/>
          </a:p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VS Code, Cursor, Codex</a:t>
            </a:r>
            <a:endParaRPr/>
          </a:p>
        </p:txBody>
      </p:sp>
      <p:sp>
        <p:nvSpPr>
          <p:cNvPr id="997428812" name="">
            <a:extLst xmlns:a="http://schemas.openxmlformats.org/drawingml/2006/main">
              <a:ext uri="{FF2B5EF4-FFF2-40B4-BE49-F238E27FC236}">
                <a16:creationId xmlns:a16="http://schemas.microsoft.com/office/drawing/2014/main" id="{E6E65BBA-D71F-4A68-93C8-539ECB40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52750"/>
            <a:ext cx="352425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1897147620" name="">
            <a:extLst xmlns:a="http://schemas.openxmlformats.org/drawingml/2006/main">
              <a:ext uri="{FF2B5EF4-FFF2-40B4-BE49-F238E27FC236}">
                <a16:creationId xmlns:a16="http://schemas.microsoft.com/office/drawing/2014/main" id="{41352D52-2030-41F3-B64C-E32EA4EA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190875"/>
            <a:ext cx="3067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Como a IA age</a:t>
            </a:r>
            <a:endParaRPr/>
          </a:p>
        </p:txBody>
      </p:sp>
      <p:sp>
        <p:nvSpPr>
          <p:cNvPr id="1334136543" name="">
            <a:extLst xmlns:a="http://schemas.openxmlformats.org/drawingml/2006/main">
              <a:ext uri="{FF2B5EF4-FFF2-40B4-BE49-F238E27FC236}">
                <a16:creationId xmlns:a16="http://schemas.microsoft.com/office/drawing/2014/main" id="{11A9E993-2646-4E05-9256-6D7CEDF4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05250"/>
            <a:ext cx="30670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Harness do agente</a:t>
            </a:r>
            <a:endParaRPr/>
          </a:p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Contexto, ferramentas e execução</a:t>
            </a:r>
            <a:endParaRPr/>
          </a:p>
        </p:txBody>
      </p:sp>
      <p:sp>
        <p:nvSpPr>
          <p:cNvPr id="343683612" name="">
            <a:extLst xmlns:a="http://schemas.openxmlformats.org/drawingml/2006/main">
              <a:ext uri="{FF2B5EF4-FFF2-40B4-BE49-F238E27FC236}">
                <a16:creationId xmlns:a16="http://schemas.microsoft.com/office/drawing/2014/main" id="{9A4348D9-3DD9-4AAA-8843-7D646B14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52750"/>
            <a:ext cx="352425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2054016173" name="">
            <a:extLst xmlns:a="http://schemas.openxmlformats.org/drawingml/2006/main">
              <a:ext uri="{FF2B5EF4-FFF2-40B4-BE49-F238E27FC236}">
                <a16:creationId xmlns:a16="http://schemas.microsoft.com/office/drawing/2014/main" id="{B85E2DB4-28E3-47D9-BE81-0F667677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190875"/>
            <a:ext cx="3067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O que ela acessa</a:t>
            </a:r>
            <a:endParaRPr/>
          </a:p>
        </p:txBody>
      </p:sp>
      <p:sp>
        <p:nvSpPr>
          <p:cNvPr id="1624417839" name="">
            <a:extLst xmlns:a="http://schemas.openxmlformats.org/drawingml/2006/main">
              <a:ext uri="{FF2B5EF4-FFF2-40B4-BE49-F238E27FC236}">
                <a16:creationId xmlns:a16="http://schemas.microsoft.com/office/drawing/2014/main" id="{3EB94B24-7A62-42DB-9CAF-79FD25DF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905250"/>
            <a:ext cx="30670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Arquivos e sistemas</a:t>
            </a:r>
            <a:endParaRPr/>
          </a:p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Terminal, navegador e APIs</a:t>
            </a:r>
            <a:endParaRPr/>
          </a:p>
        </p:txBody>
      </p:sp>
      <p:sp>
        <p:nvSpPr>
          <p:cNvPr id="4473300" name="">
            <a:extLst xmlns:a="http://schemas.openxmlformats.org/drawingml/2006/main">
              <a:ext uri="{FF2B5EF4-FFF2-40B4-BE49-F238E27FC236}">
                <a16:creationId xmlns:a16="http://schemas.microsoft.com/office/drawing/2014/main" id="{C74A4EF8-E8F6-40A5-8F03-5A2D3DF1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0075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Você define o objetivo e confere o resultado.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2542967"/>
      </p:ext>
    </p:extLst>
  </p:cSld>
</p:sld>
</file>

<file path=ppt/slides/slide17.xml><?xml version="1.0" encoding="utf-8"?>
<p:sld xmlns:p="http://schemas.openxmlformats.org/presentationml/2006/main" showMasterSp="1" show="1">
  <p:cSld>
    <p:bg>
      <p:bgPr>
        <a:solidFill xmlns:a="http://schemas.openxmlformats.org/drawingml/2006/main">
          <a:srgbClr val="F3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7805605" name="">
            <a:extLst xmlns:a="http://schemas.openxmlformats.org/drawingml/2006/main">
              <a:ext uri="{FF2B5EF4-FFF2-40B4-BE49-F238E27FC236}">
                <a16:creationId xmlns:a16="http://schemas.microsoft.com/office/drawing/2014/main" id="{906CDA63-A60E-474A-AA4C-BF307C7EFAD8}"/>
              </a:ext>
            </a:extLst>
          </p:cNvPr>
          <p:cNvCxnSpPr>
            <a:stCxn xmlns:a="http://schemas.openxmlformats.org/drawingml/2006/main" id="1124360353" idx="1"/>
            <a:endCxn xmlns:a="http://schemas.openxmlformats.org/drawingml/2006/main" id="837741649" idx="3"/>
          </p:cNvCxnSpPr>
          <p:nvPr/>
        </p:nvCxnSpPr>
        <p:spPr>
          <a:xfrm xmlns:a="http://schemas.openxmlformats.org/drawingml/2006/main" flipH="1" flipV="1">
            <a:off x="7858125" y="4429125"/>
            <a:ext cx="714375" cy="1166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08FF0"/>
            </a:solidFill>
            <a:headEnd type="arrow" w="med" len="med"/>
            <a:tailEnd type="arrow" w="med" len="med"/>
          </a:ln>
        </p:spPr>
      </p:cxnSp>
      <p:cxnSp>
        <p:nvCxnSpPr>
          <p:cNvPr id="1418648099" name="">
            <a:extLst xmlns:a="http://schemas.openxmlformats.org/drawingml/2006/main">
              <a:ext uri="{FF2B5EF4-FFF2-40B4-BE49-F238E27FC236}">
                <a16:creationId xmlns:a16="http://schemas.microsoft.com/office/drawing/2014/main" id="{2A2B3F77-B9BE-4234-9B53-C0C444C4BF8E}"/>
              </a:ext>
            </a:extLst>
          </p:cNvPr>
          <p:cNvCxnSpPr>
            <a:stCxn xmlns:a="http://schemas.openxmlformats.org/drawingml/2006/main" id="476914922" idx="3"/>
            <a:endCxn xmlns:a="http://schemas.openxmlformats.org/drawingml/2006/main" id="837741649" idx="1"/>
          </p:cNvCxnSpPr>
          <p:nvPr/>
        </p:nvCxnSpPr>
        <p:spPr>
          <a:xfrm xmlns:a="http://schemas.openxmlformats.org/drawingml/2006/main" flipV="1">
            <a:off x="3619500" y="4429125"/>
            <a:ext cx="714375" cy="1166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08FF0"/>
            </a:solidFill>
            <a:headEnd type="arrow" w="med" len="med"/>
            <a:tailEnd type="arrow" w="med" len="med"/>
          </a:ln>
        </p:spPr>
      </p:cxnSp>
      <p:cxnSp>
        <p:nvCxnSpPr>
          <p:cNvPr id="1547891506" name="">
            <a:extLst xmlns:a="http://schemas.openxmlformats.org/drawingml/2006/main">
              <a:ext uri="{FF2B5EF4-FFF2-40B4-BE49-F238E27FC236}">
                <a16:creationId xmlns:a16="http://schemas.microsoft.com/office/drawing/2014/main" id="{F0C2F6CB-B714-4D5B-98FD-811464C46B50}"/>
              </a:ext>
            </a:extLst>
          </p:cNvPr>
          <p:cNvCxnSpPr>
            <a:stCxn xmlns:a="http://schemas.openxmlformats.org/drawingml/2006/main" id="338350592" idx="1"/>
            <a:endCxn xmlns:a="http://schemas.openxmlformats.org/drawingml/2006/main" id="837741649" idx="3"/>
          </p:cNvCxnSpPr>
          <p:nvPr/>
        </p:nvCxnSpPr>
        <p:spPr>
          <a:xfrm xmlns:a="http://schemas.openxmlformats.org/drawingml/2006/main" flipH="1">
            <a:off x="7858125" y="3357563"/>
            <a:ext cx="714375" cy="10715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08FF0"/>
            </a:solidFill>
            <a:headEnd type="arrow" w="med" len="med"/>
            <a:tailEnd type="arrow" w="med" len="med"/>
          </a:ln>
        </p:spPr>
      </p:cxnSp>
      <p:cxnSp>
        <p:nvCxnSpPr>
          <p:cNvPr id="1993296078" name="">
            <a:extLst xmlns:a="http://schemas.openxmlformats.org/drawingml/2006/main">
              <a:ext uri="{FF2B5EF4-FFF2-40B4-BE49-F238E27FC236}">
                <a16:creationId xmlns:a16="http://schemas.microsoft.com/office/drawing/2014/main" id="{CAA52D5E-383A-4B67-860D-C7BB3493453B}"/>
              </a:ext>
            </a:extLst>
          </p:cNvPr>
          <p:cNvCxnSpPr>
            <a:stCxn xmlns:a="http://schemas.openxmlformats.org/drawingml/2006/main" id="63893582" idx="3"/>
            <a:endCxn xmlns:a="http://schemas.openxmlformats.org/drawingml/2006/main" id="837741649" idx="1"/>
          </p:cNvCxnSpPr>
          <p:nvPr/>
        </p:nvCxnSpPr>
        <p:spPr>
          <a:xfrm xmlns:a="http://schemas.openxmlformats.org/drawingml/2006/main">
            <a:off x="3619500" y="3357563"/>
            <a:ext cx="714375" cy="10715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08FF0"/>
            </a:solidFill>
            <a:headEnd type="arrow" w="med" len="med"/>
            <a:tailEnd type="arrow" w="med" len="med"/>
          </a:ln>
        </p:spPr>
      </p:cxnSp>
      <p:sp>
        <p:nvSpPr>
          <p:cNvPr id="444896889" name="">
            <a:extLst xmlns:a="http://schemas.openxmlformats.org/drawingml/2006/main">
              <a:ext uri="{FF2B5EF4-FFF2-40B4-BE49-F238E27FC236}">
                <a16:creationId xmlns:a16="http://schemas.microsoft.com/office/drawing/2014/main" id="{AC52BEA9-0929-4CAE-94CF-814A9496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86C5"/>
                </a:solidFill>
                <a:latin typeface="Arial"/>
                <a:ea typeface="Arial"/>
                <a:cs typeface="Arial"/>
              </a:rPr>
              <a:t>17 / 38</a:t>
            </a:r>
            <a:endParaRPr/>
          </a:p>
        </p:txBody>
      </p:sp>
      <p:sp>
        <p:nvSpPr>
          <p:cNvPr id="1799572082" name="">
            <a:extLst xmlns:a="http://schemas.openxmlformats.org/drawingml/2006/main">
              <a:ext uri="{FF2B5EF4-FFF2-40B4-BE49-F238E27FC236}">
                <a16:creationId xmlns:a16="http://schemas.microsoft.com/office/drawing/2014/main" id="{20B538E8-7337-451F-9497-F0585441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Harness: a camada de execução do agente</a:t>
            </a:r>
            <a:endParaRPr/>
          </a:p>
        </p:txBody>
      </p:sp>
      <p:sp>
        <p:nvSpPr>
          <p:cNvPr id="2002399073" name="">
            <a:extLst xmlns:a="http://schemas.openxmlformats.org/drawingml/2006/main">
              <a:ext uri="{FF2B5EF4-FFF2-40B4-BE49-F238E27FC236}">
                <a16:creationId xmlns:a16="http://schemas.microsoft.com/office/drawing/2014/main" id="{C8291595-D2C5-4C33-8278-0BDFB4C0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Software que mantém o estado da sessão e coordena o ciclo entre modelo, ferramentas e ambiente.</a:t>
            </a:r>
            <a:endParaRPr/>
          </a:p>
        </p:txBody>
      </p:sp>
      <p:sp>
        <p:nvSpPr>
          <p:cNvPr id="837741649" name="">
            <a:extLst xmlns:a="http://schemas.openxmlformats.org/drawingml/2006/main">
              <a:ext uri="{FF2B5EF4-FFF2-40B4-BE49-F238E27FC236}">
                <a16:creationId xmlns:a16="http://schemas.microsoft.com/office/drawing/2014/main" id="{F5C1C5C6-0337-46D8-9498-F6962368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67125"/>
            <a:ext cx="3524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7456F5"/>
          </a:solidFill>
          <a:ln xmlns:a="http://schemas.openxmlformats.org/drawingml/2006/main" w="9525">
            <a:solidFill>
              <a:srgbClr val="7456F5"/>
            </a:solidFill>
            <a:prstDash val="solid"/>
          </a:ln>
        </p:spPr>
      </p:sp>
      <p:sp>
        <p:nvSpPr>
          <p:cNvPr id="1291661270" name="">
            <a:extLst xmlns:a="http://schemas.openxmlformats.org/drawingml/2006/main">
              <a:ext uri="{FF2B5EF4-FFF2-40B4-BE49-F238E27FC236}">
                <a16:creationId xmlns:a16="http://schemas.microsoft.com/office/drawing/2014/main" id="{604BFFDA-27A3-4EED-91E1-F8EB2CBA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005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HARNESS</a:t>
            </a:r>
            <a:endParaRPr/>
          </a:p>
        </p:txBody>
      </p:sp>
      <p:sp>
        <p:nvSpPr>
          <p:cNvPr id="1517355614" name="">
            <a:extLst xmlns:a="http://schemas.openxmlformats.org/drawingml/2006/main">
              <a:ext uri="{FF2B5EF4-FFF2-40B4-BE49-F238E27FC236}">
                <a16:creationId xmlns:a16="http://schemas.microsoft.com/office/drawing/2014/main" id="{2A646488-BA80-418A-92FF-458526E3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720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Estado + ciclo de execução</a:t>
            </a:r>
            <a:endParaRPr/>
          </a:p>
        </p:txBody>
      </p:sp>
      <p:sp>
        <p:nvSpPr>
          <p:cNvPr id="63893582" name="">
            <a:extLst xmlns:a="http://schemas.openxmlformats.org/drawingml/2006/main">
              <a:ext uri="{FF2B5EF4-FFF2-40B4-BE49-F238E27FC236}">
                <a16:creationId xmlns:a16="http://schemas.microsoft.com/office/drawing/2014/main" id="{943D0992-CCFE-4620-8B19-E465751A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0"/>
            <a:ext cx="3095625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2085606544" name="">
            <a:extLst xmlns:a="http://schemas.openxmlformats.org/drawingml/2006/main">
              <a:ext uri="{FF2B5EF4-FFF2-40B4-BE49-F238E27FC236}">
                <a16:creationId xmlns:a16="http://schemas.microsoft.com/office/drawing/2014/main" id="{BC45D80B-C4C3-4642-A8E1-51FE19DC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00375"/>
            <a:ext cx="271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Contexto</a:t>
            </a:r>
            <a:endParaRPr/>
          </a:p>
        </p:txBody>
      </p:sp>
      <p:sp>
        <p:nvSpPr>
          <p:cNvPr id="1543310964" name="">
            <a:extLst xmlns:a="http://schemas.openxmlformats.org/drawingml/2006/main">
              <a:ext uri="{FF2B5EF4-FFF2-40B4-BE49-F238E27FC236}">
                <a16:creationId xmlns:a16="http://schemas.microsoft.com/office/drawing/2014/main" id="{4D4D5155-BE05-4EEA-88A6-7B27FF6D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29000"/>
            <a:ext cx="271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Histórico e instruções</a:t>
            </a:r>
            <a:endParaRPr/>
          </a:p>
        </p:txBody>
      </p:sp>
      <p:sp>
        <p:nvSpPr>
          <p:cNvPr id="338350592" name="">
            <a:extLst xmlns:a="http://schemas.openxmlformats.org/drawingml/2006/main">
              <a:ext uri="{FF2B5EF4-FFF2-40B4-BE49-F238E27FC236}">
                <a16:creationId xmlns:a16="http://schemas.microsoft.com/office/drawing/2014/main" id="{BC7A889B-1FD5-4CB7-A82C-FE09187E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3095625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1635375049" name="">
            <a:extLst xmlns:a="http://schemas.openxmlformats.org/drawingml/2006/main">
              <a:ext uri="{FF2B5EF4-FFF2-40B4-BE49-F238E27FC236}">
                <a16:creationId xmlns:a16="http://schemas.microsoft.com/office/drawing/2014/main" id="{BD9740A4-DC6A-41D8-994F-788633FA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0375"/>
            <a:ext cx="271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LLM</a:t>
            </a:r>
            <a:endParaRPr/>
          </a:p>
        </p:txBody>
      </p:sp>
      <p:sp>
        <p:nvSpPr>
          <p:cNvPr id="823882912" name="">
            <a:extLst xmlns:a="http://schemas.openxmlformats.org/drawingml/2006/main">
              <a:ext uri="{FF2B5EF4-FFF2-40B4-BE49-F238E27FC236}">
                <a16:creationId xmlns:a16="http://schemas.microsoft.com/office/drawing/2014/main" id="{1DC9976B-DE04-4CA9-B153-406A1410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29000"/>
            <a:ext cx="271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Gera texto e tool calls</a:t>
            </a:r>
            <a:endParaRPr/>
          </a:p>
        </p:txBody>
      </p:sp>
      <p:sp>
        <p:nvSpPr>
          <p:cNvPr id="476914922" name="">
            <a:extLst xmlns:a="http://schemas.openxmlformats.org/drawingml/2006/main">
              <a:ext uri="{FF2B5EF4-FFF2-40B4-BE49-F238E27FC236}">
                <a16:creationId xmlns:a16="http://schemas.microsoft.com/office/drawing/2014/main" id="{64E6A6EC-21C4-4C42-A02F-2C09752C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95875"/>
            <a:ext cx="3095625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356474149" name="">
            <a:extLst xmlns:a="http://schemas.openxmlformats.org/drawingml/2006/main">
              <a:ext uri="{FF2B5EF4-FFF2-40B4-BE49-F238E27FC236}">
                <a16:creationId xmlns:a16="http://schemas.microsoft.com/office/drawing/2014/main" id="{5079CA14-01E2-4503-B51E-AE3D314F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0"/>
            <a:ext cx="271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Políticas</a:t>
            </a:r>
            <a:endParaRPr/>
          </a:p>
        </p:txBody>
      </p:sp>
      <p:sp>
        <p:nvSpPr>
          <p:cNvPr id="908377915" name="">
            <a:extLst xmlns:a="http://schemas.openxmlformats.org/drawingml/2006/main">
              <a:ext uri="{FF2B5EF4-FFF2-40B4-BE49-F238E27FC236}">
                <a16:creationId xmlns:a16="http://schemas.microsoft.com/office/drawing/2014/main" id="{71B8C415-2AA3-4181-A9D2-A151E97C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67375"/>
            <a:ext cx="271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Acesso e aprovações</a:t>
            </a:r>
            <a:endParaRPr/>
          </a:p>
        </p:txBody>
      </p:sp>
      <p:sp>
        <p:nvSpPr>
          <p:cNvPr id="1124360353" name="">
            <a:extLst xmlns:a="http://schemas.openxmlformats.org/drawingml/2006/main">
              <a:ext uri="{FF2B5EF4-FFF2-40B4-BE49-F238E27FC236}">
                <a16:creationId xmlns:a16="http://schemas.microsoft.com/office/drawing/2014/main" id="{5A773021-C595-4E82-B158-EE4143A2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95875"/>
            <a:ext cx="3095625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644209338" name="">
            <a:extLst xmlns:a="http://schemas.openxmlformats.org/drawingml/2006/main">
              <a:ext uri="{FF2B5EF4-FFF2-40B4-BE49-F238E27FC236}">
                <a16:creationId xmlns:a16="http://schemas.microsoft.com/office/drawing/2014/main" id="{C3123982-3718-477C-A7AC-29221946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38750"/>
            <a:ext cx="271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Ferramentas</a:t>
            </a:r>
            <a:endParaRPr/>
          </a:p>
        </p:txBody>
      </p:sp>
      <p:sp>
        <p:nvSpPr>
          <p:cNvPr id="1206384555" name="">
            <a:extLst xmlns:a="http://schemas.openxmlformats.org/drawingml/2006/main">
              <a:ext uri="{FF2B5EF4-FFF2-40B4-BE49-F238E27FC236}">
                <a16:creationId xmlns:a16="http://schemas.microsoft.com/office/drawing/2014/main" id="{0387A4DE-AFAB-4C5E-A1D1-2C9AC515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667375"/>
            <a:ext cx="271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Arquivos, shell e APIs</a:t>
            </a:r>
            <a:endParaRPr/>
          </a:p>
        </p:txBody>
      </p:sp>
      <p:sp>
        <p:nvSpPr>
          <p:cNvPr id="1698435209" name="">
            <a:extLst xmlns:a="http://schemas.openxmlformats.org/drawingml/2006/main">
              <a:ext uri="{FF2B5EF4-FFF2-40B4-BE49-F238E27FC236}">
                <a16:creationId xmlns:a16="http://schemas.microsoft.com/office/drawing/2014/main" id="{517ACC3B-D01B-4F37-AEB6-02ED4097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29375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O modelo solicita ações. O harness valida e executa as chamadas autorizadas.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68506290"/>
      </p:ext>
    </p:extLst>
  </p:cSld>
</p:sld>
</file>

<file path=ppt/slides/slide18.xml><?xml version="1.0" encoding="utf-8"?>
<p:sld xmlns:p="http://schemas.openxmlformats.org/presentationml/2006/main" showMasterSp="1" show="1">
  <p:cSld>
    <p:bg>
      <p:bgPr>
        <a:solidFill xmlns:a="http://schemas.openxmlformats.org/drawingml/2006/main">
          <a:srgbClr val="F3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71240" name="">
            <a:extLst xmlns:a="http://schemas.openxmlformats.org/drawingml/2006/main">
              <a:ext uri="{FF2B5EF4-FFF2-40B4-BE49-F238E27FC236}">
                <a16:creationId xmlns:a16="http://schemas.microsoft.com/office/drawing/2014/main" id="{6945F29D-6404-4EAF-8072-7377D3DF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86C5"/>
                </a:solidFill>
                <a:latin typeface="Arial"/>
                <a:ea typeface="Arial"/>
                <a:cs typeface="Arial"/>
              </a:rPr>
              <a:t>18 / 38</a:t>
            </a:r>
            <a:endParaRPr/>
          </a:p>
        </p:txBody>
      </p:sp>
      <p:sp>
        <p:nvSpPr>
          <p:cNvPr id="1336248971" name="">
            <a:extLst xmlns:a="http://schemas.openxmlformats.org/drawingml/2006/main">
              <a:ext uri="{FF2B5EF4-FFF2-40B4-BE49-F238E27FC236}">
                <a16:creationId xmlns:a16="http://schemas.microsoft.com/office/drawing/2014/main" id="{D609A41B-8A19-4B7B-8B31-692416CC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2000"/>
            <a:ext cx="11191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Harness: 1. Contexto e 2. Ferramentas</a:t>
            </a:r>
            <a:endParaRPr/>
          </a:p>
        </p:txBody>
      </p:sp>
      <p:sp>
        <p:nvSpPr>
          <p:cNvPr id="2110233682" name="">
            <a:extLst xmlns:a="http://schemas.openxmlformats.org/drawingml/2006/main">
              <a:ext uri="{FF2B5EF4-FFF2-40B4-BE49-F238E27FC236}">
                <a16:creationId xmlns:a16="http://schemas.microsoft.com/office/drawing/2014/main" id="{E22E6DA9-C6CB-4D55-A2F9-B7896D4C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O pedido passa pelo harness antes da chamada ao modelo. Ele prepara a requisição da sessão.</a:t>
            </a:r>
            <a:endParaRPr/>
          </a:p>
        </p:txBody>
      </p:sp>
      <p:sp>
        <p:nvSpPr>
          <p:cNvPr id="1076237542" name="">
            <a:extLst xmlns:a="http://schemas.openxmlformats.org/drawingml/2006/main">
              <a:ext uri="{FF2B5EF4-FFF2-40B4-BE49-F238E27FC236}">
                <a16:creationId xmlns:a16="http://schemas.microsoft.com/office/drawing/2014/main" id="{3AF7764E-564D-4EFF-92CE-754259BB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1. Envelopar o pedido</a:t>
            </a:r>
            <a:endParaRPr/>
          </a:p>
        </p:txBody>
      </p:sp>
      <p:sp>
        <p:nvSpPr>
          <p:cNvPr id="1071487456" name="">
            <a:extLst xmlns:a="http://schemas.openxmlformats.org/drawingml/2006/main">
              <a:ext uri="{FF2B5EF4-FFF2-40B4-BE49-F238E27FC236}">
                <a16:creationId xmlns:a16="http://schemas.microsoft.com/office/drawing/2014/main" id="{9A9A6DFC-15FA-4DD3-9655-979112E1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670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456F5"/>
                </a:solidFill>
                <a:latin typeface="Arial"/>
                <a:ea typeface="Arial"/>
                <a:cs typeface="Arial"/>
              </a:rPr>
              <a:t>2. Informar as tools</a:t>
            </a:r>
            <a:endParaRPr/>
          </a:p>
        </p:txBody>
      </p:sp>
      <p:sp>
        <p:nvSpPr>
          <p:cNvPr id="1991772682" name="">
            <a:extLst xmlns:a="http://schemas.openxmlformats.org/drawingml/2006/main">
              <a:ext uri="{FF2B5EF4-FFF2-40B4-BE49-F238E27FC236}">
                <a16:creationId xmlns:a16="http://schemas.microsoft.com/office/drawing/2014/main" id="{B0A28B6F-45F3-485B-837B-39CA058E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81375"/>
            <a:ext cx="52387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Combina sua pergunta com instruções e histórico relevante. Pode incluir trechos de arquivos .md e do projeto.</a:t>
            </a:r>
            <a:endParaRPr/>
          </a:p>
          <a:p xmlns:a="http://schemas.openxmlformats.org/drawingml/2006/main">
            <a:pPr>
              <a:buNone/>
            </a:pPr>
            <a:endParaRPr/>
          </a:p>
          <a:p xmlns:a="http://schemas.openxmlformats.org/drawingml/2006/main"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Exemplo: “Some as vendas aprovadas”, acompanhado das regras que definem uma venda aprovada.</a:t>
            </a:r>
            <a:endParaRPr/>
          </a:p>
        </p:txBody>
      </p:sp>
      <p:sp>
        <p:nvSpPr>
          <p:cNvPr id="495533319" name="">
            <a:extLst xmlns:a="http://schemas.openxmlformats.org/drawingml/2006/main">
              <a:ext uri="{FF2B5EF4-FFF2-40B4-BE49-F238E27FC236}">
                <a16:creationId xmlns:a16="http://schemas.microsoft.com/office/drawing/2014/main" id="{59DB1990-46ED-4202-B485-66F2F28E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81375"/>
            <a:ext cx="52387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Envia os nomes, descrições e parâmetros das ferramentas disponíveis.</a:t>
            </a:r>
            <a:endParaRPr/>
          </a:p>
          <a:p xmlns:a="http://schemas.openxmlformats.org/drawingml/2006/main">
            <a:pPr>
              <a:buNone/>
            </a:pPr>
            <a:endParaRPr/>
          </a:p>
          <a:p xmlns:a="http://schemas.openxmlformats.org/drawingml/2006/main"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Exemplo: uma ferramenta de leitura recebe o caminho do arquivo. O modelo consulta essas definições para solicitar uma chamada compatível.</a:t>
            </a:r>
            <a:endParaRPr/>
          </a:p>
        </p:txBody>
      </p:sp>
      <p:sp>
        <p:nvSpPr>
          <p:cNvPr id="305144058" name="">
            <a:extLst xmlns:a="http://schemas.openxmlformats.org/drawingml/2006/main">
              <a:ext uri="{FF2B5EF4-FFF2-40B4-BE49-F238E27FC236}">
                <a16:creationId xmlns:a16="http://schemas.microsoft.com/office/drawing/2014/main" id="{7C0C9452-0180-4CA7-9FF7-13B6074F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05550"/>
            <a:ext cx="11096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Texto, esquemas estruturados e, em modelos compatíveis, imagens podem compor a entrada.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90725618"/>
      </p:ext>
    </p:extLst>
  </p:cSld>
</p:sld>
</file>

<file path=ppt/slides/slide19.xml><?xml version="1.0" encoding="utf-8"?>
<p:sld xmlns:p="http://schemas.openxmlformats.org/presentationml/2006/main" showMasterSp="1" show="1">
  <p:cSld>
    <p:bg>
      <p:bgPr>
        <a:solidFill xmlns:a="http://schemas.openxmlformats.org/drawingml/2006/main">
          <a:srgbClr val="F3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4600206" name="">
            <a:extLst xmlns:a="http://schemas.openxmlformats.org/drawingml/2006/main">
              <a:ext uri="{FF2B5EF4-FFF2-40B4-BE49-F238E27FC236}">
                <a16:creationId xmlns:a16="http://schemas.microsoft.com/office/drawing/2014/main" id="{BFCE7887-51A4-4F68-8966-693CF7ED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86C5"/>
                </a:solidFill>
                <a:latin typeface="Arial"/>
                <a:ea typeface="Arial"/>
                <a:cs typeface="Arial"/>
              </a:rPr>
              <a:t>19 / 38</a:t>
            </a:r>
            <a:endParaRPr/>
          </a:p>
        </p:txBody>
      </p:sp>
      <p:sp>
        <p:nvSpPr>
          <p:cNvPr id="571168927" name="">
            <a:extLst xmlns:a="http://schemas.openxmlformats.org/drawingml/2006/main">
              <a:ext uri="{FF2B5EF4-FFF2-40B4-BE49-F238E27FC236}">
                <a16:creationId xmlns:a16="http://schemas.microsoft.com/office/drawing/2014/main" id="{BCC2BABC-89A1-461F-BEA6-55676A82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2000"/>
            <a:ext cx="11191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Harness: 3. Executar, 4. Iterar e 5. Responder</a:t>
            </a:r>
            <a:endParaRPr/>
          </a:p>
        </p:txBody>
      </p:sp>
      <p:sp>
        <p:nvSpPr>
          <p:cNvPr id="444386248" name="">
            <a:extLst xmlns:a="http://schemas.openxmlformats.org/drawingml/2006/main">
              <a:ext uri="{FF2B5EF4-FFF2-40B4-BE49-F238E27FC236}">
                <a16:creationId xmlns:a16="http://schemas.microsoft.com/office/drawing/2014/main" id="{DE4D1897-3C67-4D5F-A493-73D81C27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4307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3. Decisão do modelo e execução pelo harness</a:t>
            </a:r>
            <a:endParaRPr/>
          </a:p>
        </p:txBody>
      </p:sp>
      <p:sp>
        <p:nvSpPr>
          <p:cNvPr id="467951253" name="">
            <a:extLst xmlns:a="http://schemas.openxmlformats.org/drawingml/2006/main">
              <a:ext uri="{FF2B5EF4-FFF2-40B4-BE49-F238E27FC236}">
                <a16:creationId xmlns:a16="http://schemas.microsoft.com/office/drawing/2014/main" id="{3DA64E0C-5231-4F9F-8823-7AAAC7BC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19325"/>
            <a:ext cx="11096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O modelo solicita uma tool call com argumentos. O harness verifica as regras aplicáveis, executa a ferramenta permitida e captura saída ou erro.</a:t>
            </a:r>
            <a:endParaRPr/>
          </a:p>
        </p:txBody>
      </p:sp>
      <p:sp>
        <p:nvSpPr>
          <p:cNvPr id="2108009371" name="">
            <a:extLst xmlns:a="http://schemas.openxmlformats.org/drawingml/2006/main">
              <a:ext uri="{FF2B5EF4-FFF2-40B4-BE49-F238E27FC236}">
                <a16:creationId xmlns:a16="http://schemas.microsoft.com/office/drawing/2014/main" id="{1CF1D232-555D-4468-8DEC-878EC699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099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456F5"/>
                </a:solidFill>
                <a:latin typeface="Arial"/>
                <a:ea typeface="Arial"/>
                <a:cs typeface="Arial"/>
              </a:rPr>
              <a:t>4. Resultado de volta ao modelo</a:t>
            </a:r>
            <a:endParaRPr/>
          </a:p>
        </p:txBody>
      </p:sp>
      <p:sp>
        <p:nvSpPr>
          <p:cNvPr id="1979247425" name="">
            <a:extLst xmlns:a="http://schemas.openxmlformats.org/drawingml/2006/main">
              <a:ext uri="{FF2B5EF4-FFF2-40B4-BE49-F238E27FC236}">
                <a16:creationId xmlns:a16="http://schemas.microsoft.com/office/drawing/2014/main" id="{395EC552-01E0-4478-BA00-82C8B8D9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86175"/>
            <a:ext cx="11096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O harness acrescenta o retorno ao contexto. O modelo usa essa observação para pedir outra ação, corrigir a tentativa ou preparar a resposta.</a:t>
            </a:r>
            <a:endParaRPr/>
          </a:p>
        </p:txBody>
      </p:sp>
      <p:sp>
        <p:nvSpPr>
          <p:cNvPr id="1526644882" name="">
            <a:extLst xmlns:a="http://schemas.openxmlformats.org/drawingml/2006/main">
              <a:ext uri="{FF2B5EF4-FFF2-40B4-BE49-F238E27FC236}">
                <a16:creationId xmlns:a16="http://schemas.microsoft.com/office/drawing/2014/main" id="{A4FADAD6-DB0B-493B-A6BB-C290DD63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958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5. Resposta final e encerramento</a:t>
            </a:r>
            <a:endParaRPr/>
          </a:p>
        </p:txBody>
      </p:sp>
      <p:sp>
        <p:nvSpPr>
          <p:cNvPr id="180810265" name="">
            <a:extLst xmlns:a="http://schemas.openxmlformats.org/drawingml/2006/main">
              <a:ext uri="{FF2B5EF4-FFF2-40B4-BE49-F238E27FC236}">
                <a16:creationId xmlns:a16="http://schemas.microsoft.com/office/drawing/2014/main" id="{73554CDD-67EC-4ED6-B4AF-4884B71E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72075"/>
            <a:ext cx="11096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O modelo apresenta o resultado. O harness encerra o turno ou interrompe o ciclo por limite, cancelamento ou necessidade de aprovação.</a:t>
            </a:r>
            <a:endParaRPr/>
          </a:p>
        </p:txBody>
      </p:sp>
      <p:sp>
        <p:nvSpPr>
          <p:cNvPr id="973383449" name="">
            <a:extLst xmlns:a="http://schemas.openxmlformats.org/drawingml/2006/main">
              <a:ext uri="{FF2B5EF4-FFF2-40B4-BE49-F238E27FC236}">
                <a16:creationId xmlns:a16="http://schemas.microsoft.com/office/drawing/2014/main" id="{E4302AD1-444D-48E7-B1B0-8541A3A8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15075"/>
            <a:ext cx="1109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Uma chamada de ferramenta é uma solicitação estruturada. A execução acontece no ambiente conectado.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35875648"/>
      </p:ext>
    </p:extLst>
  </p:cSld>
</p:sld>
</file>

<file path=ppt/slides/slide20.xml><?xml version="1.0" encoding="utf-8"?>
<p:sld xmlns:p="http://schemas.openxmlformats.org/presentationml/2006/main" showMasterSp="1" show="1">
  <p:cSld>
    <p:bg>
      <p:bgPr>
        <a:solidFill xmlns:a="http://schemas.openxmlformats.org/drawingml/2006/main">
          <a:srgbClr val="F3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15060252" name="">
            <a:extLst xmlns:a="http://schemas.openxmlformats.org/drawingml/2006/main">
              <a:ext uri="{FF2B5EF4-FFF2-40B4-BE49-F238E27FC236}">
                <a16:creationId xmlns:a16="http://schemas.microsoft.com/office/drawing/2014/main" id="{8CDE8F2E-46D4-4E6D-BB68-97056F92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86C5"/>
                </a:solidFill>
                <a:latin typeface="Arial"/>
                <a:ea typeface="Arial"/>
                <a:cs typeface="Arial"/>
              </a:rPr>
              <a:t>20 / 38</a:t>
            </a:r>
            <a:endParaRPr/>
          </a:p>
        </p:txBody>
      </p:sp>
      <p:sp>
        <p:nvSpPr>
          <p:cNvPr id="1429978495" name="">
            <a:extLst xmlns:a="http://schemas.openxmlformats.org/drawingml/2006/main">
              <a:ext uri="{FF2B5EF4-FFF2-40B4-BE49-F238E27FC236}">
                <a16:creationId xmlns:a16="http://schemas.microsoft.com/office/drawing/2014/main" id="{5F507D58-07EB-4C4F-B22F-42711413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2000"/>
            <a:ext cx="11191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O ciclo do harness entre pessoa, modelo e ferramentas</a:t>
            </a:r>
            <a:endParaRPr/>
          </a:p>
        </p:txBody>
      </p:sp>
      <p:sp>
        <p:nvSpPr>
          <p:cNvPr id="47331737" name="">
            <a:extLst xmlns:a="http://schemas.openxmlformats.org/drawingml/2006/main">
              <a:ext uri="{FF2B5EF4-FFF2-40B4-BE49-F238E27FC236}">
                <a16:creationId xmlns:a16="http://schemas.microsoft.com/office/drawing/2014/main" id="{17714D7B-08B2-4AF0-86AB-DC27D116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3F2FF"/>
          </a:solidFill>
          <a:ln xmlns:a="http://schemas.openxmlformats.org/drawingml/2006/main" w="9525">
            <a:solidFill>
              <a:srgbClr val="BDE2FA"/>
            </a:solidFill>
          </a:ln>
        </p:spPr>
      </p:sp>
      <p:sp>
        <p:nvSpPr>
          <p:cNvPr id="2109733994" name="">
            <a:extLst xmlns:a="http://schemas.openxmlformats.org/drawingml/2006/main">
              <a:ext uri="{FF2B5EF4-FFF2-40B4-BE49-F238E27FC236}">
                <a16:creationId xmlns:a16="http://schemas.microsoft.com/office/drawing/2014/main" id="{06B53A84-4969-42FE-A5FA-55EDF3D1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66925"/>
            <a:ext cx="251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Pessoa / aplicativo</a:t>
            </a:r>
            <a:endParaRPr/>
          </a:p>
        </p:txBody>
      </p:sp>
      <p:sp>
        <p:nvSpPr>
          <p:cNvPr id="1656474538" name="">
            <a:extLst xmlns:a="http://schemas.openxmlformats.org/drawingml/2006/main">
              <a:ext uri="{FF2B5EF4-FFF2-40B4-BE49-F238E27FC236}">
                <a16:creationId xmlns:a16="http://schemas.microsoft.com/office/drawing/2014/main" id="{CEFB7E8B-A8C0-4608-A5E0-B2833EF6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71750"/>
            <a:ext cx="25146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Envia o pedido e acompanha a execução.</a:t>
            </a:r>
            <a:endParaRPr/>
          </a:p>
        </p:txBody>
      </p:sp>
      <p:sp>
        <p:nvSpPr>
          <p:cNvPr id="419814520" name="">
            <a:extLst xmlns:a="http://schemas.openxmlformats.org/drawingml/2006/main">
              <a:ext uri="{FF2B5EF4-FFF2-40B4-BE49-F238E27FC236}">
                <a16:creationId xmlns:a16="http://schemas.microsoft.com/office/drawing/2014/main" id="{F84AAF4B-04CE-46DA-826E-13AC2F4B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05000"/>
            <a:ext cx="3333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3F2FF"/>
          </a:solidFill>
          <a:ln xmlns:a="http://schemas.openxmlformats.org/drawingml/2006/main" w="9525">
            <a:solidFill>
              <a:srgbClr val="BDE2FA"/>
            </a:solidFill>
          </a:ln>
        </p:spPr>
      </p:sp>
      <p:sp>
        <p:nvSpPr>
          <p:cNvPr id="1444185914" name="">
            <a:extLst xmlns:a="http://schemas.openxmlformats.org/drawingml/2006/main">
              <a:ext uri="{FF2B5EF4-FFF2-40B4-BE49-F238E27FC236}">
                <a16:creationId xmlns:a16="http://schemas.microsoft.com/office/drawing/2014/main" id="{906C341E-51E2-4C57-931B-08BC663E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66925"/>
            <a:ext cx="2990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7456F5"/>
                </a:solidFill>
                <a:latin typeface="Arial"/>
                <a:ea typeface="Arial"/>
                <a:cs typeface="Arial"/>
              </a:rPr>
              <a:t>HARNESS</a:t>
            </a:r>
            <a:endParaRPr/>
          </a:p>
        </p:txBody>
      </p:sp>
      <p:sp>
        <p:nvSpPr>
          <p:cNvPr id="878617814" name="">
            <a:extLst xmlns:a="http://schemas.openxmlformats.org/drawingml/2006/main">
              <a:ext uri="{FF2B5EF4-FFF2-40B4-BE49-F238E27FC236}">
                <a16:creationId xmlns:a16="http://schemas.microsoft.com/office/drawing/2014/main" id="{C5E0E7E3-86E4-4B87-B7FC-5BBBA0C1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29908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Prepara contexto e tools. Mantém estado e coordena o ciclo.</a:t>
            </a:r>
            <a:endParaRPr/>
          </a:p>
        </p:txBody>
      </p:sp>
      <p:sp>
        <p:nvSpPr>
          <p:cNvPr id="1449539893" name="">
            <a:extLst xmlns:a="http://schemas.openxmlformats.org/drawingml/2006/main">
              <a:ext uri="{FF2B5EF4-FFF2-40B4-BE49-F238E27FC236}">
                <a16:creationId xmlns:a16="http://schemas.microsoft.com/office/drawing/2014/main" id="{A3BEE385-8EE7-472C-8BF0-B9CCEE43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90500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3F2FF"/>
          </a:solidFill>
          <a:ln xmlns:a="http://schemas.openxmlformats.org/drawingml/2006/main" w="9525">
            <a:solidFill>
              <a:srgbClr val="BDE2FA"/>
            </a:solidFill>
          </a:ln>
        </p:spPr>
      </p:sp>
      <p:sp>
        <p:nvSpPr>
          <p:cNvPr id="1370324387" name="">
            <a:extLst xmlns:a="http://schemas.openxmlformats.org/drawingml/2006/main">
              <a:ext uri="{FF2B5EF4-FFF2-40B4-BE49-F238E27FC236}">
                <a16:creationId xmlns:a16="http://schemas.microsoft.com/office/drawing/2014/main" id="{6CB6BB60-5470-460C-9527-7388F093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066925"/>
            <a:ext cx="251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LLM</a:t>
            </a:r>
            <a:endParaRPr/>
          </a:p>
        </p:txBody>
      </p:sp>
      <p:sp>
        <p:nvSpPr>
          <p:cNvPr id="1750019033" name="">
            <a:extLst xmlns:a="http://schemas.openxmlformats.org/drawingml/2006/main">
              <a:ext uri="{FF2B5EF4-FFF2-40B4-BE49-F238E27FC236}">
                <a16:creationId xmlns:a16="http://schemas.microsoft.com/office/drawing/2014/main" id="{0BB02325-F5F6-4F97-A1FE-E1410DBC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571750"/>
            <a:ext cx="25146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Recebe a requisição. Gera resposta ou solicita ferramenta.</a:t>
            </a:r>
            <a:endParaRPr/>
          </a:p>
        </p:txBody>
      </p:sp>
      <p:sp>
        <p:nvSpPr>
          <p:cNvPr id="1493912084" name="">
            <a:extLst xmlns:a="http://schemas.openxmlformats.org/drawingml/2006/main">
              <a:ext uri="{FF2B5EF4-FFF2-40B4-BE49-F238E27FC236}">
                <a16:creationId xmlns:a16="http://schemas.microsoft.com/office/drawing/2014/main" id="{1A9C93FE-5506-4C18-BC89-92AA3373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765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→</a:t>
            </a:r>
            <a:endParaRPr/>
          </a:p>
        </p:txBody>
      </p:sp>
      <p:sp>
        <p:nvSpPr>
          <p:cNvPr id="579229972" name="">
            <a:extLst xmlns:a="http://schemas.openxmlformats.org/drawingml/2006/main">
              <a:ext uri="{FF2B5EF4-FFF2-40B4-BE49-F238E27FC236}">
                <a16:creationId xmlns:a16="http://schemas.microsoft.com/office/drawing/2014/main" id="{1AD14F10-3DDB-45EB-9EB1-AF745A9B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↔</a:t>
            </a:r>
            <a:endParaRPr/>
          </a:p>
        </p:txBody>
      </p:sp>
      <p:sp>
        <p:nvSpPr>
          <p:cNvPr id="416713017" name="">
            <a:extLst xmlns:a="http://schemas.openxmlformats.org/drawingml/2006/main">
              <a:ext uri="{FF2B5EF4-FFF2-40B4-BE49-F238E27FC236}">
                <a16:creationId xmlns:a16="http://schemas.microsoft.com/office/drawing/2014/main" id="{4DBDBBF7-FDB7-4E64-98E9-73DC56C6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67250"/>
            <a:ext cx="3333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3F2FF"/>
          </a:solidFill>
          <a:ln xmlns:a="http://schemas.openxmlformats.org/drawingml/2006/main" w="9525">
            <a:solidFill>
              <a:srgbClr val="BDE2FA"/>
            </a:solidFill>
          </a:ln>
        </p:spPr>
      </p:sp>
      <p:sp>
        <p:nvSpPr>
          <p:cNvPr id="557373327" name="">
            <a:extLst xmlns:a="http://schemas.openxmlformats.org/drawingml/2006/main">
              <a:ext uri="{FF2B5EF4-FFF2-40B4-BE49-F238E27FC236}">
                <a16:creationId xmlns:a16="http://schemas.microsoft.com/office/drawing/2014/main" id="{946B6877-2ED9-4D31-9B23-EA50486F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29175"/>
            <a:ext cx="2990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Ferramentas</a:t>
            </a:r>
            <a:endParaRPr/>
          </a:p>
        </p:txBody>
      </p:sp>
      <p:sp>
        <p:nvSpPr>
          <p:cNvPr id="86917582" name="">
            <a:extLst xmlns:a="http://schemas.openxmlformats.org/drawingml/2006/main">
              <a:ext uri="{FF2B5EF4-FFF2-40B4-BE49-F238E27FC236}">
                <a16:creationId xmlns:a16="http://schemas.microsoft.com/office/drawing/2014/main" id="{DE751A8A-DDE9-446E-AA7A-90A03028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334000"/>
            <a:ext cx="2990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Arquivos, terminal ou APIs. Retornam saída, erro e status.</a:t>
            </a:r>
            <a:endParaRPr/>
          </a:p>
        </p:txBody>
      </p:sp>
      <p:sp>
        <p:nvSpPr>
          <p:cNvPr id="10410802" name="">
            <a:extLst xmlns:a="http://schemas.openxmlformats.org/drawingml/2006/main">
              <a:ext uri="{FF2B5EF4-FFF2-40B4-BE49-F238E27FC236}">
                <a16:creationId xmlns:a16="http://schemas.microsoft.com/office/drawing/2014/main" id="{79338EBD-D4DA-4B05-8ADA-13EB3EDF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8671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75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75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75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75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75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75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75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75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75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75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75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↕</a:t>
            </a:r>
            <a:endParaRPr/>
          </a:p>
        </p:txBody>
      </p:sp>
      <p:sp>
        <p:nvSpPr>
          <p:cNvPr id="1965943097" name="">
            <a:extLst xmlns:a="http://schemas.openxmlformats.org/drawingml/2006/main">
              <a:ext uri="{FF2B5EF4-FFF2-40B4-BE49-F238E27FC236}">
                <a16:creationId xmlns:a16="http://schemas.microsoft.com/office/drawing/2014/main" id="{5C23E3F0-E264-4B3D-AAE0-220DCFB2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10125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Autoriza e executa</a:t>
            </a:r>
            <a:endParaRPr/>
          </a:p>
        </p:txBody>
      </p:sp>
      <p:sp>
        <p:nvSpPr>
          <p:cNvPr id="526259728" name="">
            <a:extLst xmlns:a="http://schemas.openxmlformats.org/drawingml/2006/main">
              <a:ext uri="{FF2B5EF4-FFF2-40B4-BE49-F238E27FC236}">
                <a16:creationId xmlns:a16="http://schemas.microsoft.com/office/drawing/2014/main" id="{EC3B7AD1-10EC-4EC6-8F0E-CC90D89D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05425"/>
            <a:ext cx="323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O harness envia o resultado ao modelo e repete o ciclo.</a:t>
            </a:r>
            <a:endParaRPr/>
          </a:p>
        </p:txBody>
      </p:sp>
      <p:sp>
        <p:nvSpPr>
          <p:cNvPr id="827003663" name="">
            <a:extLst xmlns:a="http://schemas.openxmlformats.org/drawingml/2006/main">
              <a:ext uri="{FF2B5EF4-FFF2-40B4-BE49-F238E27FC236}">
                <a16:creationId xmlns:a16="http://schemas.microsoft.com/office/drawing/2014/main" id="{120E1FD6-0EA9-4595-AD46-B5392FA7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10125"/>
            <a:ext cx="3286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Local ou nuvem</a:t>
            </a:r>
            <a:endParaRPr/>
          </a:p>
        </p:txBody>
      </p:sp>
      <p:sp>
        <p:nvSpPr>
          <p:cNvPr id="489888637" name="">
            <a:extLst xmlns:a="http://schemas.openxmlformats.org/drawingml/2006/main">
              <a:ext uri="{FF2B5EF4-FFF2-40B4-BE49-F238E27FC236}">
                <a16:creationId xmlns:a16="http://schemas.microsoft.com/office/drawing/2014/main" id="{7A3105FE-2236-43D9-89E0-67F1EB8C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305425"/>
            <a:ext cx="32861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 execução depende da configuração do ambiente.</a:t>
            </a:r>
            <a:endParaRPr/>
          </a:p>
        </p:txBody>
      </p:sp>
      <p:sp>
        <p:nvSpPr>
          <p:cNvPr id="1554670719" name="">
            <a:extLst xmlns:a="http://schemas.openxmlformats.org/drawingml/2006/main">
              <a:ext uri="{FF2B5EF4-FFF2-40B4-BE49-F238E27FC236}">
                <a16:creationId xmlns:a16="http://schemas.microsoft.com/office/drawing/2014/main" id="{0F3CF688-768B-4F6B-828E-835D65BF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109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O LLM solicita ações. O harness medeia cada troca e a execução das ferramentas.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2212132"/>
      </p:ext>
    </p:extLst>
  </p:cSld>
</p:sld>
</file>

<file path=ppt/slides/slide21.xml><?xml version="1.0" encoding="utf-8"?>
<p:sld xmlns:p="http://schemas.openxmlformats.org/presentationml/2006/main" showMasterSp="1" show="1">
  <p:cSld>
    <p:bg>
      <p:bgPr>
        <a:solidFill xmlns:a="http://schemas.openxmlformats.org/drawingml/2006/main">
          <a:srgbClr val="F3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22968369" name="">
            <a:extLst xmlns:a="http://schemas.openxmlformats.org/drawingml/2006/main">
              <a:ext uri="{FF2B5EF4-FFF2-40B4-BE49-F238E27FC236}">
                <a16:creationId xmlns:a16="http://schemas.microsoft.com/office/drawing/2014/main" id="{CA6A7F2D-516C-4E5D-AE55-395D68D3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86C5"/>
                </a:solidFill>
                <a:latin typeface="Arial"/>
                <a:ea typeface="Arial"/>
                <a:cs typeface="Arial"/>
              </a:rPr>
              <a:t>21 / 38</a:t>
            </a:r>
            <a:endParaRPr/>
          </a:p>
        </p:txBody>
      </p:sp>
      <p:sp>
        <p:nvSpPr>
          <p:cNvPr id="1769292438" name="">
            <a:extLst xmlns:a="http://schemas.openxmlformats.org/drawingml/2006/main">
              <a:ext uri="{FF2B5EF4-FFF2-40B4-BE49-F238E27FC236}">
                <a16:creationId xmlns:a16="http://schemas.microsoft.com/office/drawing/2014/main" id="{2B027636-01F4-4A8C-8C7E-B2A66E26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2000"/>
            <a:ext cx="11191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Quando peço algo ao Codex, estou usando um agente?</a:t>
            </a:r>
            <a:endParaRPr/>
          </a:p>
        </p:txBody>
      </p:sp>
      <p:sp>
        <p:nvSpPr>
          <p:cNvPr id="2066861430" name="">
            <a:extLst xmlns:a="http://schemas.openxmlformats.org/drawingml/2006/main">
              <a:ext uri="{FF2B5EF4-FFF2-40B4-BE49-F238E27FC236}">
                <a16:creationId xmlns:a16="http://schemas.microsoft.com/office/drawing/2014/main" id="{F1AE66CD-E0F4-4131-AE33-1D4C38DC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Sim, ao delegar uma tarefa ao Codex, você interage com um sistema agêntico apoiado por um modelo.</a:t>
            </a:r>
            <a:endParaRPr/>
          </a:p>
        </p:txBody>
      </p:sp>
      <p:sp>
        <p:nvSpPr>
          <p:cNvPr id="1150459766" name="">
            <a:extLst xmlns:a="http://schemas.openxmlformats.org/drawingml/2006/main">
              <a:ext uri="{FF2B5EF4-FFF2-40B4-BE49-F238E27FC236}">
                <a16:creationId xmlns:a16="http://schemas.microsoft.com/office/drawing/2014/main" id="{9B36AED2-9A81-438B-A3B7-8F5691D6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Aplicativo e harness</a:t>
            </a:r>
            <a:endParaRPr/>
          </a:p>
        </p:txBody>
      </p:sp>
      <p:sp>
        <p:nvSpPr>
          <p:cNvPr id="115258852" name="">
            <a:extLst xmlns:a="http://schemas.openxmlformats.org/drawingml/2006/main">
              <a:ext uri="{FF2B5EF4-FFF2-40B4-BE49-F238E27FC236}">
                <a16:creationId xmlns:a16="http://schemas.microsoft.com/office/drawing/2014/main" id="{1C9B1762-D513-4B70-A7EA-CBD14932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670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456F5"/>
                </a:solidFill>
                <a:latin typeface="Arial"/>
                <a:ea typeface="Arial"/>
                <a:cs typeface="Arial"/>
              </a:rPr>
              <a:t>Modelo e agente</a:t>
            </a:r>
            <a:endParaRPr/>
          </a:p>
        </p:txBody>
      </p:sp>
      <p:sp>
        <p:nvSpPr>
          <p:cNvPr id="465146328" name="">
            <a:extLst xmlns:a="http://schemas.openxmlformats.org/drawingml/2006/main">
              <a:ext uri="{FF2B5EF4-FFF2-40B4-BE49-F238E27FC236}">
                <a16:creationId xmlns:a16="http://schemas.microsoft.com/office/drawing/2014/main" id="{B00B4E10-3007-47D3-B4E6-6FEC4000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81375"/>
            <a:ext cx="52387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O aplicativo apresenta a conversa e o trabalho. O harness gerencia contexto, chamadas de ferramentas e execução.</a:t>
            </a:r>
            <a:endParaRPr/>
          </a:p>
          <a:p xmlns:a="http://schemas.openxmlformats.org/drawingml/2006/main">
            <a:pPr>
              <a:buNone/>
            </a:pPr>
            <a:endParaRPr/>
          </a:p>
          <a:p xmlns:a="http://schemas.openxmlformats.org/drawingml/2006/main"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Ele pode conectar o modelo ao projeto e às ferramentas autorizadas no ambiente.</a:t>
            </a:r>
            <a:endParaRPr/>
          </a:p>
        </p:txBody>
      </p:sp>
      <p:sp>
        <p:nvSpPr>
          <p:cNvPr id="829607336" name="">
            <a:extLst xmlns:a="http://schemas.openxmlformats.org/drawingml/2006/main">
              <a:ext uri="{FF2B5EF4-FFF2-40B4-BE49-F238E27FC236}">
                <a16:creationId xmlns:a16="http://schemas.microsoft.com/office/drawing/2014/main" id="{B88CF959-0879-425D-83A3-3E4BBBCF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81375"/>
            <a:ext cx="52387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O modelo interpreta o pedido e propõe ações. O agente é o sistema em funcionamento: modelo, instruções, ferramentas e ciclo de controle.</a:t>
            </a:r>
            <a:endParaRPr/>
          </a:p>
          <a:p xmlns:a="http://schemas.openxmlformats.org/drawingml/2006/main">
            <a:pPr>
              <a:buNone/>
            </a:pPr>
            <a:endParaRPr/>
          </a:p>
          <a:p xmlns:a="http://schemas.openxmlformats.org/drawingml/2006/main"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Ele também pode responder sem executar uma ferramenta.</a:t>
            </a:r>
            <a:endParaRPr/>
          </a:p>
        </p:txBody>
      </p:sp>
      <p:sp>
        <p:nvSpPr>
          <p:cNvPr id="1029245677" name="">
            <a:extLst xmlns:a="http://schemas.openxmlformats.org/drawingml/2006/main">
              <a:ext uri="{FF2B5EF4-FFF2-40B4-BE49-F238E27FC236}">
                <a16:creationId xmlns:a16="http://schemas.microsoft.com/office/drawing/2014/main" id="{616D77BE-396A-4645-80D8-E2E17B29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05550"/>
            <a:ext cx="11096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O harness torna possível a atuação do modelo no ambiente. Os controles definem o alcance dessa atuação.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44153293"/>
      </p:ext>
    </p:extLst>
  </p:cSld>
</p:sld>
</file>

<file path=ppt/slides/slide22.xml><?xml version="1.0" encoding="utf-8"?>
<p:sld xmlns:p="http://schemas.openxmlformats.org/presentationml/2006/main" showMasterSp="1" show="1">
  <p:cSld>
    <p:bg>
      <p:bgPr>
        <a:solidFill xmlns:a="http://schemas.openxmlformats.org/drawingml/2006/main">
          <a:srgbClr val="F3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549934" name="">
            <a:extLst xmlns:a="http://schemas.openxmlformats.org/drawingml/2006/main">
              <a:ext uri="{FF2B5EF4-FFF2-40B4-BE49-F238E27FC236}">
                <a16:creationId xmlns:a16="http://schemas.microsoft.com/office/drawing/2014/main" id="{FF4C9594-E5B6-4B03-9E31-6C7E1B34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86C5"/>
                </a:solidFill>
                <a:latin typeface="Arial"/>
                <a:ea typeface="Arial"/>
                <a:cs typeface="Arial"/>
              </a:rPr>
              <a:t>22 / 38</a:t>
            </a:r>
            <a:endParaRPr/>
          </a:p>
        </p:txBody>
      </p:sp>
      <p:sp>
        <p:nvSpPr>
          <p:cNvPr id="1429309724" name="">
            <a:extLst xmlns:a="http://schemas.openxmlformats.org/drawingml/2006/main">
              <a:ext uri="{FF2B5EF4-FFF2-40B4-BE49-F238E27FC236}">
                <a16:creationId xmlns:a16="http://schemas.microsoft.com/office/drawing/2014/main" id="{79F89594-68D9-4B75-8701-6F0EB815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Modelos de IA e seus harnesses de trabalho</a:t>
            </a:r>
            <a:endParaRPr/>
          </a:p>
        </p:txBody>
      </p:sp>
      <p:sp>
        <p:nvSpPr>
          <p:cNvPr id="1188853929" name="">
            <a:extLst xmlns:a="http://schemas.openxmlformats.org/drawingml/2006/main">
              <a:ext uri="{FF2B5EF4-FFF2-40B4-BE49-F238E27FC236}">
                <a16:creationId xmlns:a16="http://schemas.microsoft.com/office/drawing/2014/main" id="{8C5A5A57-A169-4D52-A5CD-4085AE32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O modelo interpreta e raciocina. O harness conecta contexto, ferramentas e execução.</a:t>
            </a:r>
            <a:endParaRPr/>
          </a:p>
        </p:txBody>
      </p:sp>
      <p:sp>
        <p:nvSpPr>
          <p:cNvPr id="2039958834" name="">
            <a:extLst xmlns:a="http://schemas.openxmlformats.org/drawingml/2006/main">
              <a:ext uri="{FF2B5EF4-FFF2-40B4-BE49-F238E27FC236}">
                <a16:creationId xmlns:a16="http://schemas.microsoft.com/office/drawing/2014/main" id="{A98248FA-A798-458D-846C-104B7494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0"/>
            <a:ext cx="11144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D60"/>
          </a:solidFill>
          <a:ln xmlns:a="http://schemas.openxmlformats.org/drawingml/2006/main" w="9525">
            <a:solidFill>
              <a:srgbClr val="002D60"/>
            </a:solidFill>
            <a:prstDash val="solid"/>
          </a:ln>
        </p:spPr>
      </p:sp>
      <p:sp>
        <p:nvSpPr>
          <p:cNvPr id="3530567" name="">
            <a:extLst xmlns:a="http://schemas.openxmlformats.org/drawingml/2006/main">
              <a:ext uri="{FF2B5EF4-FFF2-40B4-BE49-F238E27FC236}">
                <a16:creationId xmlns:a16="http://schemas.microsoft.com/office/drawing/2014/main" id="{F898D2EC-D1FE-40A7-A6F5-4F229DA4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EMPRESA / FAMÍLIA DE IA</a:t>
            </a:r>
            <a:endParaRPr/>
          </a:p>
        </p:txBody>
      </p:sp>
      <p:sp>
        <p:nvSpPr>
          <p:cNvPr id="1649992599" name="">
            <a:extLst xmlns:a="http://schemas.openxmlformats.org/drawingml/2006/main">
              <a:ext uri="{FF2B5EF4-FFF2-40B4-BE49-F238E27FC236}">
                <a16:creationId xmlns:a16="http://schemas.microsoft.com/office/drawing/2014/main" id="{9BF6A4F4-BD05-409F-9935-2308E608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003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MODELO</a:t>
            </a:r>
            <a:endParaRPr/>
          </a:p>
        </p:txBody>
      </p:sp>
      <p:sp>
        <p:nvSpPr>
          <p:cNvPr id="1792004414" name="">
            <a:extLst xmlns:a="http://schemas.openxmlformats.org/drawingml/2006/main">
              <a:ext uri="{FF2B5EF4-FFF2-40B4-BE49-F238E27FC236}">
                <a16:creationId xmlns:a16="http://schemas.microsoft.com/office/drawing/2014/main" id="{080B72C2-C61D-4305-B195-9BD2E094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0350"/>
            <a:ext cx="338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AGENTE / HARNESS</a:t>
            </a:r>
            <a:endParaRPr/>
          </a:p>
        </p:txBody>
      </p:sp>
      <p:sp>
        <p:nvSpPr>
          <p:cNvPr id="539229210" name="">
            <a:extLst xmlns:a="http://schemas.openxmlformats.org/drawingml/2006/main">
              <a:ext uri="{FF2B5EF4-FFF2-40B4-BE49-F238E27FC236}">
                <a16:creationId xmlns:a16="http://schemas.microsoft.com/office/drawing/2014/main" id="{6709779C-9B83-4362-A274-3C956D0A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0"/>
            <a:ext cx="11144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232856051" name="">
            <a:extLst xmlns:a="http://schemas.openxmlformats.org/drawingml/2006/main">
              <a:ext uri="{FF2B5EF4-FFF2-40B4-BE49-F238E27FC236}">
                <a16:creationId xmlns:a16="http://schemas.microsoft.com/office/drawing/2014/main" id="{1644D527-7706-4353-A1E5-AC6856F8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528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OpenAI</a:t>
            </a:r>
            <a:endParaRPr/>
          </a:p>
        </p:txBody>
      </p:sp>
      <p:sp>
        <p:nvSpPr>
          <p:cNvPr id="1890530478" name="">
            <a:extLst xmlns:a="http://schemas.openxmlformats.org/drawingml/2006/main">
              <a:ext uri="{FF2B5EF4-FFF2-40B4-BE49-F238E27FC236}">
                <a16:creationId xmlns:a16="http://schemas.microsoft.com/office/drawing/2014/main" id="{A827FE6D-4DDC-4D16-9B95-5769DEBF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5282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GPT</a:t>
            </a:r>
            <a:endParaRPr/>
          </a:p>
        </p:txBody>
      </p:sp>
      <p:sp>
        <p:nvSpPr>
          <p:cNvPr id="785690621" name="">
            <a:extLst xmlns:a="http://schemas.openxmlformats.org/drawingml/2006/main">
              <a:ext uri="{FF2B5EF4-FFF2-40B4-BE49-F238E27FC236}">
                <a16:creationId xmlns:a16="http://schemas.microsoft.com/office/drawing/2014/main" id="{603F7415-A322-4896-8E8E-1E438351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528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456F5"/>
                </a:solidFill>
                <a:latin typeface="Arial"/>
                <a:ea typeface="Arial"/>
                <a:cs typeface="Arial"/>
              </a:rPr>
              <a:t>Codex</a:t>
            </a:r>
            <a:endParaRPr/>
          </a:p>
        </p:txBody>
      </p:sp>
      <p:sp>
        <p:nvSpPr>
          <p:cNvPr id="1329116539" name="">
            <a:extLst xmlns:a="http://schemas.openxmlformats.org/drawingml/2006/main">
              <a:ext uri="{FF2B5EF4-FFF2-40B4-BE49-F238E27FC236}">
                <a16:creationId xmlns:a16="http://schemas.microsoft.com/office/drawing/2014/main" id="{0FC6B5D2-D335-403F-AF40-209B2CC1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10050"/>
            <a:ext cx="11144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1537530229" name="">
            <a:extLst xmlns:a="http://schemas.openxmlformats.org/drawingml/2006/main">
              <a:ext uri="{FF2B5EF4-FFF2-40B4-BE49-F238E27FC236}">
                <a16:creationId xmlns:a16="http://schemas.microsoft.com/office/drawing/2014/main" id="{7CF6F455-78EA-45B6-91BC-FF3DAF80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291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Anthropic</a:t>
            </a:r>
            <a:endParaRPr/>
          </a:p>
        </p:txBody>
      </p:sp>
      <p:sp>
        <p:nvSpPr>
          <p:cNvPr id="632104013" name="">
            <a:extLst xmlns:a="http://schemas.openxmlformats.org/drawingml/2006/main">
              <a:ext uri="{FF2B5EF4-FFF2-40B4-BE49-F238E27FC236}">
                <a16:creationId xmlns:a16="http://schemas.microsoft.com/office/drawing/2014/main" id="{9AA5F9B5-2ECC-4FB4-9FCD-E250DE4C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2912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Claude</a:t>
            </a:r>
            <a:endParaRPr/>
          </a:p>
        </p:txBody>
      </p:sp>
      <p:sp>
        <p:nvSpPr>
          <p:cNvPr id="1444874399" name="">
            <a:extLst xmlns:a="http://schemas.openxmlformats.org/drawingml/2006/main">
              <a:ext uri="{FF2B5EF4-FFF2-40B4-BE49-F238E27FC236}">
                <a16:creationId xmlns:a16="http://schemas.microsoft.com/office/drawing/2014/main" id="{6CECDB96-0319-4F35-9F91-42FE485E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291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456F5"/>
                </a:solidFill>
                <a:latin typeface="Arial"/>
                <a:ea typeface="Arial"/>
                <a:cs typeface="Arial"/>
              </a:rPr>
              <a:t>Claude Code</a:t>
            </a:r>
            <a:endParaRPr/>
          </a:p>
        </p:txBody>
      </p:sp>
      <p:sp>
        <p:nvSpPr>
          <p:cNvPr id="57489332" name="">
            <a:extLst xmlns:a="http://schemas.openxmlformats.org/drawingml/2006/main">
              <a:ext uri="{FF2B5EF4-FFF2-40B4-BE49-F238E27FC236}">
                <a16:creationId xmlns:a16="http://schemas.microsoft.com/office/drawing/2014/main" id="{2FC5CA9A-D4B8-44AF-81A7-73C359A2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86350"/>
            <a:ext cx="11144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245242024" name="">
            <a:extLst xmlns:a="http://schemas.openxmlformats.org/drawingml/2006/main">
              <a:ext uri="{FF2B5EF4-FFF2-40B4-BE49-F238E27FC236}">
                <a16:creationId xmlns:a16="http://schemas.microsoft.com/office/drawing/2014/main" id="{46EA5284-854A-4879-9294-6FFF1B89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054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Google</a:t>
            </a:r>
            <a:endParaRPr/>
          </a:p>
        </p:txBody>
      </p:sp>
      <p:sp>
        <p:nvSpPr>
          <p:cNvPr id="1577084276" name="">
            <a:extLst xmlns:a="http://schemas.openxmlformats.org/drawingml/2006/main">
              <a:ext uri="{FF2B5EF4-FFF2-40B4-BE49-F238E27FC236}">
                <a16:creationId xmlns:a16="http://schemas.microsoft.com/office/drawing/2014/main" id="{5AA27AE4-5BEE-414C-82B6-397803FB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0542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Gemini</a:t>
            </a:r>
            <a:endParaRPr/>
          </a:p>
        </p:txBody>
      </p:sp>
      <p:sp>
        <p:nvSpPr>
          <p:cNvPr id="1397989071" name="">
            <a:extLst xmlns:a="http://schemas.openxmlformats.org/drawingml/2006/main">
              <a:ext uri="{FF2B5EF4-FFF2-40B4-BE49-F238E27FC236}">
                <a16:creationId xmlns:a16="http://schemas.microsoft.com/office/drawing/2014/main" id="{294F5469-E2D5-4100-AA63-6A09B8F8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054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456F5"/>
                </a:solidFill>
                <a:latin typeface="Arial"/>
                <a:ea typeface="Arial"/>
                <a:cs typeface="Arial"/>
              </a:rPr>
              <a:t>Antigravity</a:t>
            </a:r>
            <a:endParaRPr/>
          </a:p>
        </p:txBody>
      </p:sp>
      <p:sp>
        <p:nvSpPr>
          <p:cNvPr id="1403545484" name="">
            <a:extLst xmlns:a="http://schemas.openxmlformats.org/drawingml/2006/main">
              <a:ext uri="{FF2B5EF4-FFF2-40B4-BE49-F238E27FC236}">
                <a16:creationId xmlns:a16="http://schemas.microsoft.com/office/drawing/2014/main" id="{E25E8F65-F9B8-4696-BE8C-A05D9FE0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43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Outros ambientes: Cursor Agent e GitHub Copilot podem usar modelos de vários fornecedores.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78257148"/>
      </p:ext>
    </p:extLst>
  </p:cSld>
</p:sld>
</file>

<file path=ppt/slides/slide23.xml><?xml version="1.0" encoding="utf-8"?>
<p:sld xmlns:p="http://schemas.openxmlformats.org/presentationml/2006/main" showMasterSp="1" show="1">
  <p:cSld>
    <p:bg>
      <p:bgPr>
        <a:solidFill xmlns:a="http://schemas.openxmlformats.org/drawingml/2006/main">
          <a:srgbClr val="F3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5510665" name="">
            <a:extLst xmlns:a="http://schemas.openxmlformats.org/drawingml/2006/main">
              <a:ext uri="{FF2B5EF4-FFF2-40B4-BE49-F238E27FC236}">
                <a16:creationId xmlns:a16="http://schemas.microsoft.com/office/drawing/2014/main" id="{D77A7FD3-3272-4323-A72F-849BF45E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86C5"/>
                </a:solidFill>
                <a:latin typeface="Arial"/>
                <a:ea typeface="Arial"/>
                <a:cs typeface="Arial"/>
              </a:rPr>
              <a:t>23 / 38</a:t>
            </a:r>
            <a:endParaRPr/>
          </a:p>
        </p:txBody>
      </p:sp>
      <p:sp>
        <p:nvSpPr>
          <p:cNvPr id="683404777" name="">
            <a:extLst xmlns:a="http://schemas.openxmlformats.org/drawingml/2006/main">
              <a:ext uri="{FF2B5EF4-FFF2-40B4-BE49-F238E27FC236}">
                <a16:creationId xmlns:a16="http://schemas.microsoft.com/office/drawing/2014/main" id="{BDC22970-FB84-40B9-9E1F-D2766698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Ferramentas: agentes para executar tarefas</a:t>
            </a:r>
            <a:endParaRPr/>
          </a:p>
        </p:txBody>
      </p:sp>
      <p:sp>
        <p:nvSpPr>
          <p:cNvPr id="1794235295" name="">
            <a:extLst xmlns:a="http://schemas.openxmlformats.org/drawingml/2006/main">
              <a:ext uri="{FF2B5EF4-FFF2-40B4-BE49-F238E27FC236}">
                <a16:creationId xmlns:a16="http://schemas.microsoft.com/office/drawing/2014/main" id="{13958A28-EDE2-4C55-B8E2-DC74677A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0"/>
            <a:ext cx="3524250" cy="361950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1696707922" name="">
            <a:extLst xmlns:a="http://schemas.openxmlformats.org/drawingml/2006/main">
              <a:ext uri="{FF2B5EF4-FFF2-40B4-BE49-F238E27FC236}">
                <a16:creationId xmlns:a16="http://schemas.microsoft.com/office/drawing/2014/main" id="{9AA121A4-035A-4AA5-8E95-4386E5ED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571875"/>
            <a:ext cx="300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Codex</a:t>
            </a:r>
            <a:endParaRPr/>
          </a:p>
        </p:txBody>
      </p:sp>
      <p:sp>
        <p:nvSpPr>
          <p:cNvPr id="1796531593" name="">
            <a:extLst xmlns:a="http://schemas.openxmlformats.org/drawingml/2006/main">
              <a:ext uri="{FF2B5EF4-FFF2-40B4-BE49-F238E27FC236}">
                <a16:creationId xmlns:a16="http://schemas.microsoft.com/office/drawing/2014/main" id="{7D00181C-50B7-48E6-8121-AC75B75F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29125"/>
            <a:ext cx="3000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Agente da OpenAI para trabalhar com projetos, arquivos e ferramentas.</a:t>
            </a:r>
            <a:endParaRPr/>
          </a:p>
        </p:txBody>
      </p:sp>
      <p:sp>
        <p:nvSpPr>
          <p:cNvPr id="1449715418" name="">
            <a:extLst xmlns:a="http://schemas.openxmlformats.org/drawingml/2006/main">
              <a:ext uri="{FF2B5EF4-FFF2-40B4-BE49-F238E27FC236}">
                <a16:creationId xmlns:a16="http://schemas.microsoft.com/office/drawing/2014/main" id="{2DF83E95-F3F1-4A1C-8311-CA27302C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86000"/>
            <a:ext cx="3524250" cy="361950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1489798932" name="">
            <a:extLst xmlns:a="http://schemas.openxmlformats.org/drawingml/2006/main">
              <a:ext uri="{FF2B5EF4-FFF2-40B4-BE49-F238E27FC236}">
                <a16:creationId xmlns:a16="http://schemas.microsoft.com/office/drawing/2014/main" id="{47B27361-DD5D-43E3-AF0C-DC2A5925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571875"/>
            <a:ext cx="300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Antigravity</a:t>
            </a:r>
            <a:endParaRPr/>
          </a:p>
        </p:txBody>
      </p:sp>
      <p:sp>
        <p:nvSpPr>
          <p:cNvPr id="248952624" name="">
            <a:extLst xmlns:a="http://schemas.openxmlformats.org/drawingml/2006/main">
              <a:ext uri="{FF2B5EF4-FFF2-40B4-BE49-F238E27FC236}">
                <a16:creationId xmlns:a16="http://schemas.microsoft.com/office/drawing/2014/main" id="{7D8147A1-45D0-4462-8F6E-F9000DA3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429125"/>
            <a:ext cx="3000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Ambiente do Google com agentes que usam editor, terminal e navegador.</a:t>
            </a:r>
            <a:endParaRPr/>
          </a:p>
        </p:txBody>
      </p:sp>
      <p:sp>
        <p:nvSpPr>
          <p:cNvPr id="1834706843" name="">
            <a:extLst xmlns:a="http://schemas.openxmlformats.org/drawingml/2006/main">
              <a:ext uri="{FF2B5EF4-FFF2-40B4-BE49-F238E27FC236}">
                <a16:creationId xmlns:a16="http://schemas.microsoft.com/office/drawing/2014/main" id="{BFFF8B22-A2DD-4BB1-AD80-9634DF12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86000"/>
            <a:ext cx="3524250" cy="361950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1259681342" name="">
            <a:extLst xmlns:a="http://schemas.openxmlformats.org/drawingml/2006/main">
              <a:ext uri="{FF2B5EF4-FFF2-40B4-BE49-F238E27FC236}">
                <a16:creationId xmlns:a16="http://schemas.microsoft.com/office/drawing/2014/main" id="{E4AA26FF-078A-4F69-9D03-B4C3DFD8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571875"/>
            <a:ext cx="300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Replit</a:t>
            </a:r>
            <a:endParaRPr/>
          </a:p>
        </p:txBody>
      </p:sp>
      <p:sp>
        <p:nvSpPr>
          <p:cNvPr id="1107968596" name="">
            <a:extLst xmlns:a="http://schemas.openxmlformats.org/drawingml/2006/main">
              <a:ext uri="{FF2B5EF4-FFF2-40B4-BE49-F238E27FC236}">
                <a16:creationId xmlns:a16="http://schemas.microsoft.com/office/drawing/2014/main" id="{7C307776-1E02-4D80-A7E2-27F57A78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429125"/>
            <a:ext cx="3000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Ambiente na nuvem para criar e executar aplicações.</a:t>
            </a:r>
            <a:endParaRPr/>
          </a:p>
        </p:txBody>
      </p:sp>
      <p:sp>
        <p:nvSpPr>
          <p:cNvPr id="558546715" name="">
            <a:extLst xmlns:a="http://schemas.openxmlformats.org/drawingml/2006/main">
              <a:ext uri="{FF2B5EF4-FFF2-40B4-BE49-F238E27FC236}">
                <a16:creationId xmlns:a16="http://schemas.microsoft.com/office/drawing/2014/main" id="{E1144586-7949-4C86-A7BA-3DA79374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3887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Escolha conforme o projeto, os acessos necessários e a forma de revisar o trabalho.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60468373"/>
      </p:ext>
    </p:extLst>
  </p:cSld>
</p:sld>
</file>

<file path=ppt/slides/slide24.xml><?xml version="1.0" encoding="utf-8"?>
<p:sld xmlns:p="http://schemas.openxmlformats.org/presentationml/2006/main" showMasterSp="1" show="1">
  <p:cSld>
    <p:bg>
      <p:bgPr>
        <a:solidFill xmlns:a="http://schemas.openxmlformats.org/drawingml/2006/main">
          <a:srgbClr val="F3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7095937" name="">
            <a:extLst xmlns:a="http://schemas.openxmlformats.org/drawingml/2006/main">
              <a:ext uri="{FF2B5EF4-FFF2-40B4-BE49-F238E27FC236}">
                <a16:creationId xmlns:a16="http://schemas.microsoft.com/office/drawing/2014/main" id="{D04EB338-9B2E-48E7-9168-2A6D3B34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86C5"/>
                </a:solidFill>
                <a:latin typeface="Arial"/>
                <a:ea typeface="Arial"/>
                <a:cs typeface="Arial"/>
              </a:rPr>
              <a:t>24 / 38</a:t>
            </a:r>
            <a:endParaRPr/>
          </a:p>
        </p:txBody>
      </p:sp>
      <p:sp>
        <p:nvSpPr>
          <p:cNvPr id="882096092" name="">
            <a:extLst xmlns:a="http://schemas.openxmlformats.org/drawingml/2006/main">
              <a:ext uri="{FF2B5EF4-FFF2-40B4-BE49-F238E27FC236}">
                <a16:creationId xmlns:a16="http://schemas.microsoft.com/office/drawing/2014/main" id="{CAE4E994-B685-4904-B561-B5DFA258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2000"/>
            <a:ext cx="11191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Validação: execução controlada e qualidade da entrega</a:t>
            </a:r>
            <a:endParaRPr/>
          </a:p>
        </p:txBody>
      </p:sp>
      <p:sp>
        <p:nvSpPr>
          <p:cNvPr id="514217334" name="">
            <a:extLst xmlns:a="http://schemas.openxmlformats.org/drawingml/2006/main">
              <a:ext uri="{FF2B5EF4-FFF2-40B4-BE49-F238E27FC236}">
                <a16:creationId xmlns:a16="http://schemas.microsoft.com/office/drawing/2014/main" id="{E2E16CD9-61EA-45B9-AEE5-FDDDF3C4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Código de controle aplica regras explícitas. A escolha do LLM e os resultados das ferramentas ainda podem falhar.</a:t>
            </a:r>
            <a:endParaRPr/>
          </a:p>
        </p:txBody>
      </p:sp>
      <p:sp>
        <p:nvSpPr>
          <p:cNvPr id="324511086" name="">
            <a:extLst xmlns:a="http://schemas.openxmlformats.org/drawingml/2006/main">
              <a:ext uri="{FF2B5EF4-FFF2-40B4-BE49-F238E27FC236}">
                <a16:creationId xmlns:a16="http://schemas.microsoft.com/office/drawing/2014/main" id="{45616FBB-1123-48FE-ABF3-1E83DF53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Controles de execução</a:t>
            </a:r>
            <a:endParaRPr/>
          </a:p>
        </p:txBody>
      </p:sp>
      <p:sp>
        <p:nvSpPr>
          <p:cNvPr id="1426903449" name="">
            <a:extLst xmlns:a="http://schemas.openxmlformats.org/drawingml/2006/main">
              <a:ext uri="{FF2B5EF4-FFF2-40B4-BE49-F238E27FC236}">
                <a16:creationId xmlns:a16="http://schemas.microsoft.com/office/drawing/2014/main" id="{517CE1C0-392B-4C0B-898D-C29700AA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670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456F5"/>
                </a:solidFill>
                <a:latin typeface="Arial"/>
                <a:ea typeface="Arial"/>
                <a:cs typeface="Arial"/>
              </a:rPr>
              <a:t>Verificação do resultado</a:t>
            </a:r>
            <a:endParaRPr/>
          </a:p>
        </p:txBody>
      </p:sp>
      <p:sp>
        <p:nvSpPr>
          <p:cNvPr id="1460740592" name="">
            <a:extLst xmlns:a="http://schemas.openxmlformats.org/drawingml/2006/main">
              <a:ext uri="{FF2B5EF4-FFF2-40B4-BE49-F238E27FC236}">
                <a16:creationId xmlns:a16="http://schemas.microsoft.com/office/drawing/2014/main" id="{7592B8B3-AD06-48C3-BC2C-F45006B6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81375"/>
            <a:ext cx="52387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Permissões e isolamento limitam o acesso. Validação de argumentos rejeita chamadas inválidas. Limites evitam ciclos sem fim.</a:t>
            </a:r>
            <a:endParaRPr/>
          </a:p>
          <a:p xmlns:a="http://schemas.openxmlformats.org/drawingml/2006/main">
            <a:pPr>
              <a:buNone/>
            </a:pPr>
            <a:endParaRPr/>
          </a:p>
          <a:p xmlns:a="http://schemas.openxmlformats.org/drawingml/2006/main"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Um comando autorizado ainda pode produzir um resultado errado ou inesperado.</a:t>
            </a:r>
            <a:endParaRPr/>
          </a:p>
        </p:txBody>
      </p:sp>
      <p:sp>
        <p:nvSpPr>
          <p:cNvPr id="276204733" name="">
            <a:extLst xmlns:a="http://schemas.openxmlformats.org/drawingml/2006/main">
              <a:ext uri="{FF2B5EF4-FFF2-40B4-BE49-F238E27FC236}">
                <a16:creationId xmlns:a16="http://schemas.microsoft.com/office/drawing/2014/main" id="{A208BCB9-B69A-494E-B026-D362CADC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81375"/>
            <a:ext cx="52387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Teste cálculos e regras com resultados esperados. Revise mudanças e evidências.</a:t>
            </a:r>
            <a:endParaRPr/>
          </a:p>
          <a:p xmlns:a="http://schemas.openxmlformats.org/drawingml/2006/main">
            <a:pPr>
              <a:buNone/>
            </a:pPr>
            <a:endParaRPr/>
          </a:p>
          <a:p xmlns:a="http://schemas.openxmlformats.org/drawingml/2006/main">
            <a:pPr>
              <a:buNone/>
              <a:defRPr sz="19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Um judge de IA pode avaliar respostas por uma rubrica. Compare suas notas com avaliação humana e casos conhecidos.</a:t>
            </a:r>
            <a:endParaRPr/>
          </a:p>
        </p:txBody>
      </p:sp>
      <p:sp>
        <p:nvSpPr>
          <p:cNvPr id="437918361" name="">
            <a:extLst xmlns:a="http://schemas.openxmlformats.org/drawingml/2006/main">
              <a:ext uri="{FF2B5EF4-FFF2-40B4-BE49-F238E27FC236}">
                <a16:creationId xmlns:a16="http://schemas.microsoft.com/office/drawing/2014/main" id="{4A62758A-26FE-465C-B090-A2F48FC5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05550"/>
            <a:ext cx="11096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Evals medem qualidade ao longo do tempo. Um judge complementa os testes e a revisão humana.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24670631"/>
      </p:ext>
    </p:extLst>
  </p:cSld>
</p:sld>
</file>

<file path=ppt/slides/slide25.xml><?xml version="1.0" encoding="utf-8"?>
<p:sld xmlns:p="http://schemas.openxmlformats.org/presentationml/2006/main" showMasterSp="1" show="1">
  <p:cSld>
    <p:bg>
      <p:bgPr>
        <a:solidFill xmlns:a="http://schemas.openxmlformats.org/drawingml/2006/main">
          <a:srgbClr val="F3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768244" name="">
            <a:extLst xmlns:a="http://schemas.openxmlformats.org/drawingml/2006/main">
              <a:ext uri="{FF2B5EF4-FFF2-40B4-BE49-F238E27FC236}">
                <a16:creationId xmlns:a16="http://schemas.microsoft.com/office/drawing/2014/main" id="{9422F162-9775-44F9-87D2-FE30DA63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86C5"/>
                </a:solidFill>
                <a:latin typeface="Arial"/>
                <a:ea typeface="Arial"/>
                <a:cs typeface="Arial"/>
              </a:rPr>
              <a:t>25 / 38</a:t>
            </a:r>
            <a:endParaRPr/>
          </a:p>
        </p:txBody>
      </p:sp>
      <p:sp>
        <p:nvSpPr>
          <p:cNvPr id="1632820981" name="">
            <a:extLst xmlns:a="http://schemas.openxmlformats.org/drawingml/2006/main">
              <a:ext uri="{FF2B5EF4-FFF2-40B4-BE49-F238E27FC236}">
                <a16:creationId xmlns:a16="http://schemas.microsoft.com/office/drawing/2014/main" id="{CF35FF2B-628E-46AF-86DB-585FA0BA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Governança: quem pode fazer o quê?</a:t>
            </a:r>
            <a:endParaRPr/>
          </a:p>
        </p:txBody>
      </p:sp>
      <p:sp>
        <p:nvSpPr>
          <p:cNvPr id="643804857" name="">
            <a:extLst xmlns:a="http://schemas.openxmlformats.org/drawingml/2006/main">
              <a:ext uri="{FF2B5EF4-FFF2-40B4-BE49-F238E27FC236}">
                <a16:creationId xmlns:a16="http://schemas.microsoft.com/office/drawing/2014/main" id="{6DD9639D-5237-422B-B083-0616C399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3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 automação precisa de limites verificáveis, sobretudo quando trabalha com dados e sistemas reais.</a:t>
            </a:r>
            <a:endParaRPr/>
          </a:p>
        </p:txBody>
      </p:sp>
      <p:sp>
        <p:nvSpPr>
          <p:cNvPr id="824311917" name="">
            <a:extLst xmlns:a="http://schemas.openxmlformats.org/drawingml/2006/main">
              <a:ext uri="{FF2B5EF4-FFF2-40B4-BE49-F238E27FC236}">
                <a16:creationId xmlns:a16="http://schemas.microsoft.com/office/drawing/2014/main" id="{209D83D6-7ED6-497D-87F2-0DB113A1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333750"/>
            <a:ext cx="2714625" cy="2667000"/>
          </a:xfrm>
          <a:prstGeom xmlns:a="http://schemas.openxmlformats.org/drawingml/2006/main" prst="roundRect">
            <a:avLst>
              <a:gd name="adj" fmla="val 6429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1430300618" name="">
            <a:extLst xmlns:a="http://schemas.openxmlformats.org/drawingml/2006/main">
              <a:ext uri="{FF2B5EF4-FFF2-40B4-BE49-F238E27FC236}">
                <a16:creationId xmlns:a16="http://schemas.microsoft.com/office/drawing/2014/main" id="{2B2B4303-1608-4A15-ACDA-9DC35441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71875"/>
            <a:ext cx="2257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Dados</a:t>
            </a:r>
            <a:endParaRPr/>
          </a:p>
        </p:txBody>
      </p:sp>
      <p:sp>
        <p:nvSpPr>
          <p:cNvPr id="67470742" name="">
            <a:extLst xmlns:a="http://schemas.openxmlformats.org/drawingml/2006/main">
              <a:ext uri="{FF2B5EF4-FFF2-40B4-BE49-F238E27FC236}">
                <a16:creationId xmlns:a16="http://schemas.microsoft.com/office/drawing/2014/main" id="{C815408F-1636-4258-BF8B-19835A50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86250"/>
            <a:ext cx="22574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Quem pode ler cada arquivo? Quais informações devem ficar fora da saída?</a:t>
            </a:r>
            <a:endParaRPr/>
          </a:p>
        </p:txBody>
      </p:sp>
      <p:sp>
        <p:nvSpPr>
          <p:cNvPr id="247550624" name="">
            <a:extLst xmlns:a="http://schemas.openxmlformats.org/drawingml/2006/main">
              <a:ext uri="{FF2B5EF4-FFF2-40B4-BE49-F238E27FC236}">
                <a16:creationId xmlns:a16="http://schemas.microsoft.com/office/drawing/2014/main" id="{4C2533D2-F321-4840-A6D4-80A04176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33750"/>
            <a:ext cx="2714625" cy="2667000"/>
          </a:xfrm>
          <a:prstGeom xmlns:a="http://schemas.openxmlformats.org/drawingml/2006/main" prst="roundRect">
            <a:avLst>
              <a:gd name="adj" fmla="val 6429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1847420189" name="">
            <a:extLst xmlns:a="http://schemas.openxmlformats.org/drawingml/2006/main">
              <a:ext uri="{FF2B5EF4-FFF2-40B4-BE49-F238E27FC236}">
                <a16:creationId xmlns:a16="http://schemas.microsoft.com/office/drawing/2014/main" id="{FEEAF88E-3C88-458F-8B32-3D5C7B3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571875"/>
            <a:ext cx="2257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Ações</a:t>
            </a:r>
            <a:endParaRPr/>
          </a:p>
        </p:txBody>
      </p:sp>
      <p:sp>
        <p:nvSpPr>
          <p:cNvPr id="1238016990" name="">
            <a:extLst xmlns:a="http://schemas.openxmlformats.org/drawingml/2006/main">
              <a:ext uri="{FF2B5EF4-FFF2-40B4-BE49-F238E27FC236}">
                <a16:creationId xmlns:a16="http://schemas.microsoft.com/office/drawing/2014/main" id="{A5314D3E-0703-4B1E-89DE-1587ECC6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286250"/>
            <a:ext cx="22574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O agente pode escrever, excluir, instalar ou acessar a rede?</a:t>
            </a:r>
            <a:endParaRPr/>
          </a:p>
        </p:txBody>
      </p:sp>
      <p:sp>
        <p:nvSpPr>
          <p:cNvPr id="1927460766" name="">
            <a:extLst xmlns:a="http://schemas.openxmlformats.org/drawingml/2006/main">
              <a:ext uri="{FF2B5EF4-FFF2-40B4-BE49-F238E27FC236}">
                <a16:creationId xmlns:a16="http://schemas.microsoft.com/office/drawing/2014/main" id="{7AD7A0AB-393D-475B-B798-A1CF9337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0"/>
            <a:ext cx="2714625" cy="2667000"/>
          </a:xfrm>
          <a:prstGeom xmlns:a="http://schemas.openxmlformats.org/drawingml/2006/main" prst="roundRect">
            <a:avLst>
              <a:gd name="adj" fmla="val 6429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886200331" name="">
            <a:extLst xmlns:a="http://schemas.openxmlformats.org/drawingml/2006/main">
              <a:ext uri="{FF2B5EF4-FFF2-40B4-BE49-F238E27FC236}">
                <a16:creationId xmlns:a16="http://schemas.microsoft.com/office/drawing/2014/main" id="{9430EE89-78A0-4F3B-892A-5082E875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571875"/>
            <a:ext cx="2257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Aprovação</a:t>
            </a:r>
            <a:endParaRPr/>
          </a:p>
        </p:txBody>
      </p:sp>
      <p:sp>
        <p:nvSpPr>
          <p:cNvPr id="646898188" name="">
            <a:extLst xmlns:a="http://schemas.openxmlformats.org/drawingml/2006/main">
              <a:ext uri="{FF2B5EF4-FFF2-40B4-BE49-F238E27FC236}">
                <a16:creationId xmlns:a16="http://schemas.microsoft.com/office/drawing/2014/main" id="{2AA79790-A79B-42B3-BD6C-0505EFD1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286250"/>
            <a:ext cx="22574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Quais ações devem aguardar uma decisão humana?</a:t>
            </a:r>
            <a:endParaRPr/>
          </a:p>
        </p:txBody>
      </p:sp>
      <p:sp>
        <p:nvSpPr>
          <p:cNvPr id="2038423923" name="">
            <a:extLst xmlns:a="http://schemas.openxmlformats.org/drawingml/2006/main">
              <a:ext uri="{FF2B5EF4-FFF2-40B4-BE49-F238E27FC236}">
                <a16:creationId xmlns:a16="http://schemas.microsoft.com/office/drawing/2014/main" id="{4B4DC63D-437B-4271-94A6-E13F61CB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33750"/>
            <a:ext cx="2714625" cy="2667000"/>
          </a:xfrm>
          <a:prstGeom xmlns:a="http://schemas.openxmlformats.org/drawingml/2006/main" prst="roundRect">
            <a:avLst>
              <a:gd name="adj" fmla="val 6429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1280671445" name="">
            <a:extLst xmlns:a="http://schemas.openxmlformats.org/drawingml/2006/main">
              <a:ext uri="{FF2B5EF4-FFF2-40B4-BE49-F238E27FC236}">
                <a16:creationId xmlns:a16="http://schemas.microsoft.com/office/drawing/2014/main" id="{83B0DC68-2600-4FF4-8151-91B565D3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571875"/>
            <a:ext cx="2257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Evidência</a:t>
            </a:r>
            <a:endParaRPr/>
          </a:p>
        </p:txBody>
      </p:sp>
      <p:sp>
        <p:nvSpPr>
          <p:cNvPr id="1039247522" name="">
            <a:extLst xmlns:a="http://schemas.openxmlformats.org/drawingml/2006/main">
              <a:ext uri="{FF2B5EF4-FFF2-40B4-BE49-F238E27FC236}">
                <a16:creationId xmlns:a16="http://schemas.microsoft.com/office/drawing/2014/main" id="{6278EA46-DE67-4B48-BAA4-E3F102F1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286250"/>
            <a:ext cx="22574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Quais testes, alterações e resultados precisam ficar registrados?</a:t>
            </a:r>
            <a:endParaRPr/>
          </a:p>
        </p:txBody>
      </p:sp>
      <p:sp>
        <p:nvSpPr>
          <p:cNvPr id="1053901523" name="">
            <a:extLst xmlns:a="http://schemas.openxmlformats.org/drawingml/2006/main">
              <a:ext uri="{FF2B5EF4-FFF2-40B4-BE49-F238E27FC236}">
                <a16:creationId xmlns:a16="http://schemas.microsoft.com/office/drawing/2014/main" id="{96995FD3-1FB1-4877-BCC6-9E487930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456F5"/>
                </a:solidFill>
                <a:latin typeface="Arial"/>
                <a:ea typeface="Arial"/>
                <a:cs typeface="Arial"/>
              </a:rPr>
              <a:t>As políticas do harness devem refletir as regras de trabalho da equipe.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68095734"/>
      </p:ext>
    </p:extLst>
  </p:cSld>
</p:sld>
</file>

<file path=ppt/slides/slide26.xml><?xml version="1.0" encoding="utf-8"?>
<p:sld xmlns:p="http://schemas.openxmlformats.org/presentationml/2006/main" showMasterSp="1" show="1">
  <p:cSld>
    <p:bg>
      <p:bgPr>
        <a:solidFill xmlns:a="http://schemas.openxmlformats.org/drawingml/2006/main">
          <a:srgbClr val="F3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5698307" name="">
            <a:extLst xmlns:a="http://schemas.openxmlformats.org/drawingml/2006/main">
              <a:ext uri="{FF2B5EF4-FFF2-40B4-BE49-F238E27FC236}">
                <a16:creationId xmlns:a16="http://schemas.microsoft.com/office/drawing/2014/main" id="{4747B67F-445D-47A5-9420-68211191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86C5"/>
                </a:solidFill>
                <a:latin typeface="Arial"/>
                <a:ea typeface="Arial"/>
                <a:cs typeface="Arial"/>
              </a:rPr>
              <a:t>26 / 38</a:t>
            </a:r>
            <a:endParaRPr/>
          </a:p>
        </p:txBody>
      </p:sp>
      <p:sp>
        <p:nvSpPr>
          <p:cNvPr id="474658530" name="">
            <a:extLst xmlns:a="http://schemas.openxmlformats.org/drawingml/2006/main">
              <a:ext uri="{FF2B5EF4-FFF2-40B4-BE49-F238E27FC236}">
                <a16:creationId xmlns:a16="http://schemas.microsoft.com/office/drawing/2014/main" id="{5A721FC6-7992-475C-8825-34C3AC4C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Guardrails: limites para a atuação da IA</a:t>
            </a:r>
            <a:endParaRPr/>
          </a:p>
        </p:txBody>
      </p:sp>
      <p:sp>
        <p:nvSpPr>
          <p:cNvPr id="1855311052" name="">
            <a:extLst xmlns:a="http://schemas.openxmlformats.org/drawingml/2006/main">
              <a:ext uri="{FF2B5EF4-FFF2-40B4-BE49-F238E27FC236}">
                <a16:creationId xmlns:a16="http://schemas.microsoft.com/office/drawing/2014/main" id="{596CA70E-4596-4ECB-8396-6CF623A6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3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3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São regras e verificações que orientam, restringem ou interrompem comportamentos indesejados.</a:t>
            </a:r>
            <a:endParaRPr/>
          </a:p>
        </p:txBody>
      </p:sp>
      <p:sp>
        <p:nvSpPr>
          <p:cNvPr id="228238909" name="">
            <a:extLst xmlns:a="http://schemas.openxmlformats.org/drawingml/2006/main">
              <a:ext uri="{FF2B5EF4-FFF2-40B4-BE49-F238E27FC236}">
                <a16:creationId xmlns:a16="http://schemas.microsoft.com/office/drawing/2014/main" id="{02372271-FCB3-4A44-9454-AE8A727C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352425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1684920299" name="">
            <a:extLst xmlns:a="http://schemas.openxmlformats.org/drawingml/2006/main">
              <a:ext uri="{FF2B5EF4-FFF2-40B4-BE49-F238E27FC236}">
                <a16:creationId xmlns:a16="http://schemas.microsoft.com/office/drawing/2014/main" id="{2E875869-8A26-422B-8D37-242FDC5A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381375"/>
            <a:ext cx="3067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Instruções</a:t>
            </a:r>
            <a:endParaRPr/>
          </a:p>
        </p:txBody>
      </p:sp>
      <p:sp>
        <p:nvSpPr>
          <p:cNvPr id="1677320467" name="">
            <a:extLst xmlns:a="http://schemas.openxmlformats.org/drawingml/2006/main">
              <a:ext uri="{FF2B5EF4-FFF2-40B4-BE49-F238E27FC236}">
                <a16:creationId xmlns:a16="http://schemas.microsoft.com/office/drawing/2014/main" id="{97B4EFD7-EEDD-41BB-BEA6-5D6F9321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095750"/>
            <a:ext cx="30670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No prompt: o que pode fazer, o que preservar e quando pedir aprovação.</a:t>
            </a:r>
            <a:endParaRPr/>
          </a:p>
        </p:txBody>
      </p:sp>
      <p:sp>
        <p:nvSpPr>
          <p:cNvPr id="1154513726" name="">
            <a:extLst xmlns:a="http://schemas.openxmlformats.org/drawingml/2006/main">
              <a:ext uri="{FF2B5EF4-FFF2-40B4-BE49-F238E27FC236}">
                <a16:creationId xmlns:a16="http://schemas.microsoft.com/office/drawing/2014/main" id="{7600E370-30C8-411D-9453-CD7963FB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43250"/>
            <a:ext cx="352425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1443257132" name="">
            <a:extLst xmlns:a="http://schemas.openxmlformats.org/drawingml/2006/main">
              <a:ext uri="{FF2B5EF4-FFF2-40B4-BE49-F238E27FC236}">
                <a16:creationId xmlns:a16="http://schemas.microsoft.com/office/drawing/2014/main" id="{DA5EDD37-3DFD-40AE-BBA3-B464CF63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381375"/>
            <a:ext cx="3067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Controles técnicos</a:t>
            </a:r>
            <a:endParaRPr/>
          </a:p>
        </p:txBody>
      </p:sp>
      <p:sp>
        <p:nvSpPr>
          <p:cNvPr id="1299852516" name="">
            <a:extLst xmlns:a="http://schemas.openxmlformats.org/drawingml/2006/main">
              <a:ext uri="{FF2B5EF4-FFF2-40B4-BE49-F238E27FC236}">
                <a16:creationId xmlns:a16="http://schemas.microsoft.com/office/drawing/2014/main" id="{973CEEA0-B345-4AF3-93D9-3BFA699B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95750"/>
            <a:ext cx="30670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No harness: permissões de arquivos, limites de ferramentas e ambiente isolado.</a:t>
            </a:r>
            <a:endParaRPr/>
          </a:p>
        </p:txBody>
      </p:sp>
      <p:sp>
        <p:nvSpPr>
          <p:cNvPr id="954285342" name="">
            <a:extLst xmlns:a="http://schemas.openxmlformats.org/drawingml/2006/main">
              <a:ext uri="{FF2B5EF4-FFF2-40B4-BE49-F238E27FC236}">
                <a16:creationId xmlns:a16="http://schemas.microsoft.com/office/drawing/2014/main" id="{FB3179ED-AB7E-4C51-9288-22DEAEE6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43250"/>
            <a:ext cx="352425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1366414358" name="">
            <a:extLst xmlns:a="http://schemas.openxmlformats.org/drawingml/2006/main">
              <a:ext uri="{FF2B5EF4-FFF2-40B4-BE49-F238E27FC236}">
                <a16:creationId xmlns:a16="http://schemas.microsoft.com/office/drawing/2014/main" id="{15519CAC-E395-474B-8D19-01D3D1C2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381375"/>
            <a:ext cx="3067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Verificação</a:t>
            </a:r>
            <a:endParaRPr/>
          </a:p>
        </p:txBody>
      </p:sp>
      <p:sp>
        <p:nvSpPr>
          <p:cNvPr id="721586656" name="">
            <a:extLst xmlns:a="http://schemas.openxmlformats.org/drawingml/2006/main">
              <a:ext uri="{FF2B5EF4-FFF2-40B4-BE49-F238E27FC236}">
                <a16:creationId xmlns:a16="http://schemas.microsoft.com/office/drawing/2014/main" id="{D2C5704B-0E65-4EEA-B685-804AA24A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095750"/>
            <a:ext cx="30670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Conferência de dados e resultados, com revisão humana nas decisões necessárias.</a:t>
            </a:r>
            <a:endParaRPr/>
          </a:p>
        </p:txBody>
      </p:sp>
      <p:sp>
        <p:nvSpPr>
          <p:cNvPr id="1218438236" name="">
            <a:extLst xmlns:a="http://schemas.openxmlformats.org/drawingml/2006/main">
              <a:ext uri="{FF2B5EF4-FFF2-40B4-BE49-F238E27FC236}">
                <a16:creationId xmlns:a16="http://schemas.microsoft.com/office/drawing/2014/main" id="{6DB1943E-C306-4FCF-8D80-AAABD69F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43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5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5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5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5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5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5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5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5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5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5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5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pPr>
            <a:r>
              <a:rPr sz="2050" b="1">
                <a:solidFill>
                  <a:srgbClr val="7456F5"/>
                </a:solidFill>
                <a:latin typeface="Arial"/>
                <a:ea typeface="Arial"/>
                <a:cs typeface="Arial"/>
              </a:rPr>
              <a:t>Escrever “não apague arquivos” ajuda a orientar. Bloquear exclusões no sistema aplica o limite.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30854471"/>
      </p:ext>
    </p:extLst>
  </p:cSld>
</p:sld>
</file>

<file path=ppt/slides/slide27.xml><?xml version="1.0" encoding="utf-8"?>
<p:sld xmlns:p="http://schemas.openxmlformats.org/presentationml/2006/main" showMasterSp="1" show="1">
  <p:cSld>
    <p:bg>
      <p:bgPr>
        <a:solidFill xmlns:a="http://schemas.openxmlformats.org/drawingml/2006/main">
          <a:srgbClr val="F3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34583521" name="">
            <a:extLst xmlns:a="http://schemas.openxmlformats.org/drawingml/2006/main">
              <a:ext uri="{FF2B5EF4-FFF2-40B4-BE49-F238E27FC236}">
                <a16:creationId xmlns:a16="http://schemas.microsoft.com/office/drawing/2014/main" id="{EAE5A690-416F-4828-9A7C-0F40C7298B3B}"/>
              </a:ext>
            </a:extLst>
          </p:cNvPr>
          <p:cNvCxnSpPr>
            <a:stCxn xmlns:a="http://schemas.openxmlformats.org/drawingml/2006/main" id="1521260614" idx="0"/>
            <a:endCxn xmlns:a="http://schemas.openxmlformats.org/drawingml/2006/main" id="1892038096" idx="2"/>
          </p:cNvCxnSpPr>
          <p:nvPr/>
        </p:nvCxnSpPr>
        <p:spPr>
          <a:xfrm xmlns:a="http://schemas.openxmlformats.org/drawingml/2006/main" flipV="1">
            <a:off x="7572375" y="44767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456F5"/>
            </a:solidFill>
            <a:tailEnd type="triangle" w="med" len="med"/>
          </a:ln>
        </p:spPr>
      </p:cxnSp>
      <p:cxnSp>
        <p:nvCxnSpPr>
          <p:cNvPr id="20454747" name="">
            <a:extLst xmlns:a="http://schemas.openxmlformats.org/drawingml/2006/main">
              <a:ext uri="{FF2B5EF4-FFF2-40B4-BE49-F238E27FC236}">
                <a16:creationId xmlns:a16="http://schemas.microsoft.com/office/drawing/2014/main" id="{889244B4-D275-4CC3-88A6-CDD6196185C4}"/>
              </a:ext>
            </a:extLst>
          </p:cNvPr>
          <p:cNvCxnSpPr>
            <a:stCxn xmlns:a="http://schemas.openxmlformats.org/drawingml/2006/main" id="1640928736" idx="3"/>
            <a:endCxn xmlns:a="http://schemas.openxmlformats.org/drawingml/2006/main" id="1521260614" idx="1"/>
          </p:cNvCxnSpPr>
          <p:nvPr/>
        </p:nvCxnSpPr>
        <p:spPr>
          <a:xfrm xmlns:a="http://schemas.openxmlformats.org/drawingml/2006/main">
            <a:off x="5857875" y="55245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456F5"/>
            </a:solidFill>
            <a:tailEnd type="triangle" w="med" len="med"/>
          </a:ln>
        </p:spPr>
      </p:cxnSp>
      <p:cxnSp>
        <p:nvCxnSpPr>
          <p:cNvPr id="560990342" name="">
            <a:extLst xmlns:a="http://schemas.openxmlformats.org/drawingml/2006/main">
              <a:ext uri="{FF2B5EF4-FFF2-40B4-BE49-F238E27FC236}">
                <a16:creationId xmlns:a16="http://schemas.microsoft.com/office/drawing/2014/main" id="{8B121FCB-AD92-4007-A310-645C05937160}"/>
              </a:ext>
            </a:extLst>
          </p:cNvPr>
          <p:cNvCxnSpPr>
            <a:stCxn xmlns:a="http://schemas.openxmlformats.org/drawingml/2006/main" id="1343417416" idx="2"/>
            <a:endCxn xmlns:a="http://schemas.openxmlformats.org/drawingml/2006/main" id="1640928736" idx="0"/>
          </p:cNvCxnSpPr>
          <p:nvPr/>
        </p:nvCxnSpPr>
        <p:spPr>
          <a:xfrm xmlns:a="http://schemas.openxmlformats.org/drawingml/2006/main">
            <a:off x="4619625" y="44767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53D4D"/>
            </a:solidFill>
            <a:tailEnd type="triangle" w="med" len="med"/>
          </a:ln>
        </p:spPr>
      </p:cxnSp>
      <p:cxnSp>
        <p:nvCxnSpPr>
          <p:cNvPr id="1254435706" name="">
            <a:extLst xmlns:a="http://schemas.openxmlformats.org/drawingml/2006/main">
              <a:ext uri="{FF2B5EF4-FFF2-40B4-BE49-F238E27FC236}">
                <a16:creationId xmlns:a16="http://schemas.microsoft.com/office/drawing/2014/main" id="{FB12FA2D-7174-4D93-B323-1CFCA0A4D615}"/>
              </a:ext>
            </a:extLst>
          </p:cNvPr>
          <p:cNvCxnSpPr>
            <a:stCxn xmlns:a="http://schemas.openxmlformats.org/drawingml/2006/main" id="1343417416" idx="1"/>
            <a:endCxn xmlns:a="http://schemas.openxmlformats.org/drawingml/2006/main" id="1674531875" idx="3"/>
          </p:cNvCxnSpPr>
          <p:nvPr/>
        </p:nvCxnSpPr>
        <p:spPr>
          <a:xfrm xmlns:a="http://schemas.openxmlformats.org/drawingml/2006/main" flipH="1">
            <a:off x="2714625" y="3929063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89B"/>
            </a:solidFill>
            <a:tailEnd type="triangle" w="med" len="med"/>
          </a:ln>
        </p:spPr>
      </p:cxnSp>
      <p:cxnSp>
        <p:nvCxnSpPr>
          <p:cNvPr id="152507233" name="">
            <a:extLst xmlns:a="http://schemas.openxmlformats.org/drawingml/2006/main">
              <a:ext uri="{FF2B5EF4-FFF2-40B4-BE49-F238E27FC236}">
                <a16:creationId xmlns:a16="http://schemas.microsoft.com/office/drawing/2014/main" id="{F1ABC26E-DA30-49D0-8D8F-F2F8A33AA561}"/>
              </a:ext>
            </a:extLst>
          </p:cNvPr>
          <p:cNvCxnSpPr>
            <a:stCxn xmlns:a="http://schemas.openxmlformats.org/drawingml/2006/main" id="1892038096" idx="1"/>
            <a:endCxn xmlns:a="http://schemas.openxmlformats.org/drawingml/2006/main" id="1343417416" idx="3"/>
          </p:cNvCxnSpPr>
          <p:nvPr/>
        </p:nvCxnSpPr>
        <p:spPr>
          <a:xfrm xmlns:a="http://schemas.openxmlformats.org/drawingml/2006/main" flipH="1">
            <a:off x="5857875" y="3929063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8FF0"/>
            </a:solidFill>
            <a:tailEnd type="triangle" w="med" len="med"/>
          </a:ln>
        </p:spPr>
      </p:cxnSp>
      <p:cxnSp>
        <p:nvCxnSpPr>
          <p:cNvPr id="1184156135" name="">
            <a:extLst xmlns:a="http://schemas.openxmlformats.org/drawingml/2006/main">
              <a:ext uri="{FF2B5EF4-FFF2-40B4-BE49-F238E27FC236}">
                <a16:creationId xmlns:a16="http://schemas.microsoft.com/office/drawing/2014/main" id="{617994F7-99B4-4780-B095-F4A51FD76248}"/>
              </a:ext>
            </a:extLst>
          </p:cNvPr>
          <p:cNvCxnSpPr>
            <a:stCxn xmlns:a="http://schemas.openxmlformats.org/drawingml/2006/main" id="1747814466" idx="1"/>
            <a:endCxn xmlns:a="http://schemas.openxmlformats.org/drawingml/2006/main" id="1892038096" idx="3"/>
          </p:cNvCxnSpPr>
          <p:nvPr/>
        </p:nvCxnSpPr>
        <p:spPr>
          <a:xfrm xmlns:a="http://schemas.openxmlformats.org/drawingml/2006/main" flipH="1">
            <a:off x="8810625" y="3929063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8FF0"/>
            </a:solidFill>
            <a:tailEnd type="triangle" w="med" len="med"/>
          </a:ln>
        </p:spPr>
      </p:cxnSp>
      <p:cxnSp>
        <p:nvCxnSpPr>
          <p:cNvPr id="1629785417" name="">
            <a:extLst xmlns:a="http://schemas.openxmlformats.org/drawingml/2006/main">
              <a:ext uri="{FF2B5EF4-FFF2-40B4-BE49-F238E27FC236}">
                <a16:creationId xmlns:a16="http://schemas.microsoft.com/office/drawing/2014/main" id="{34DB5A02-A8DE-4FA7-A4E0-927FD53AC74A}"/>
              </a:ext>
            </a:extLst>
          </p:cNvPr>
          <p:cNvCxnSpPr>
            <a:stCxn xmlns:a="http://schemas.openxmlformats.org/drawingml/2006/main" id="313142253" idx="2"/>
            <a:endCxn xmlns:a="http://schemas.openxmlformats.org/drawingml/2006/main" id="1747814466" idx="0"/>
          </p:cNvCxnSpPr>
          <p:nvPr/>
        </p:nvCxnSpPr>
        <p:spPr>
          <a:xfrm xmlns:a="http://schemas.openxmlformats.org/drawingml/2006/main">
            <a:off x="10525125" y="285750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8FF0"/>
            </a:solidFill>
            <a:tailEnd type="triangle" w="med" len="med"/>
          </a:ln>
        </p:spPr>
      </p:cxnSp>
      <p:cxnSp>
        <p:nvCxnSpPr>
          <p:cNvPr id="1000351915" name="">
            <a:extLst xmlns:a="http://schemas.openxmlformats.org/drawingml/2006/main">
              <a:ext uri="{FF2B5EF4-FFF2-40B4-BE49-F238E27FC236}">
                <a16:creationId xmlns:a16="http://schemas.microsoft.com/office/drawing/2014/main" id="{DEB768FD-DABF-404D-BA61-8723D061654C}"/>
              </a:ext>
            </a:extLst>
          </p:cNvPr>
          <p:cNvCxnSpPr>
            <a:stCxn xmlns:a="http://schemas.openxmlformats.org/drawingml/2006/main" id="592579636" idx="3"/>
            <a:endCxn xmlns:a="http://schemas.openxmlformats.org/drawingml/2006/main" id="313142253" idx="1"/>
          </p:cNvCxnSpPr>
          <p:nvPr/>
        </p:nvCxnSpPr>
        <p:spPr>
          <a:xfrm xmlns:a="http://schemas.openxmlformats.org/drawingml/2006/main">
            <a:off x="8810625" y="2309812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8FF0"/>
            </a:solidFill>
            <a:tailEnd type="triangle" w="med" len="med"/>
          </a:ln>
        </p:spPr>
      </p:cxnSp>
      <p:cxnSp>
        <p:nvCxnSpPr>
          <p:cNvPr id="752569398" name="">
            <a:extLst xmlns:a="http://schemas.openxmlformats.org/drawingml/2006/main">
              <a:ext uri="{FF2B5EF4-FFF2-40B4-BE49-F238E27FC236}">
                <a16:creationId xmlns:a16="http://schemas.microsoft.com/office/drawing/2014/main" id="{191D8BA8-443F-4FFC-B17A-B33B0E7D22C4}"/>
              </a:ext>
            </a:extLst>
          </p:cNvPr>
          <p:cNvCxnSpPr>
            <a:stCxn xmlns:a="http://schemas.openxmlformats.org/drawingml/2006/main" id="717001783" idx="3"/>
            <a:endCxn xmlns:a="http://schemas.openxmlformats.org/drawingml/2006/main" id="592579636" idx="1"/>
          </p:cNvCxnSpPr>
          <p:nvPr/>
        </p:nvCxnSpPr>
        <p:spPr>
          <a:xfrm xmlns:a="http://schemas.openxmlformats.org/drawingml/2006/main">
            <a:off x="5857875" y="2309812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8FF0"/>
            </a:solidFill>
            <a:tailEnd type="triangle" w="med" len="med"/>
          </a:ln>
        </p:spPr>
      </p:cxnSp>
      <p:cxnSp>
        <p:nvCxnSpPr>
          <p:cNvPr id="1882293474" name="">
            <a:extLst xmlns:a="http://schemas.openxmlformats.org/drawingml/2006/main">
              <a:ext uri="{FF2B5EF4-FFF2-40B4-BE49-F238E27FC236}">
                <a16:creationId xmlns:a16="http://schemas.microsoft.com/office/drawing/2014/main" id="{F91BB31C-B504-4914-99BE-75B5233F4A1A}"/>
              </a:ext>
            </a:extLst>
          </p:cNvPr>
          <p:cNvCxnSpPr>
            <a:stCxn xmlns:a="http://schemas.openxmlformats.org/drawingml/2006/main" id="16115149" idx="3"/>
            <a:endCxn xmlns:a="http://schemas.openxmlformats.org/drawingml/2006/main" id="717001783" idx="1"/>
          </p:cNvCxnSpPr>
          <p:nvPr/>
        </p:nvCxnSpPr>
        <p:spPr>
          <a:xfrm xmlns:a="http://schemas.openxmlformats.org/drawingml/2006/main">
            <a:off x="2905125" y="2309812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8FF0"/>
            </a:solidFill>
            <a:tailEnd type="triangle" w="med" len="med"/>
          </a:ln>
        </p:spPr>
      </p:cxnSp>
      <p:sp>
        <p:nvSpPr>
          <p:cNvPr id="2009382125" name="">
            <a:extLst xmlns:a="http://schemas.openxmlformats.org/drawingml/2006/main">
              <a:ext uri="{FF2B5EF4-FFF2-40B4-BE49-F238E27FC236}">
                <a16:creationId xmlns:a16="http://schemas.microsoft.com/office/drawing/2014/main" id="{FFE4C4AB-7609-4434-A431-11D37410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86C5"/>
                </a:solidFill>
                <a:latin typeface="Arial"/>
                <a:ea typeface="Arial"/>
                <a:cs typeface="Arial"/>
              </a:rPr>
              <a:t>27 / 38</a:t>
            </a:r>
            <a:endParaRPr/>
          </a:p>
        </p:txBody>
      </p:sp>
      <p:sp>
        <p:nvSpPr>
          <p:cNvPr id="294317243" name="">
            <a:extLst xmlns:a="http://schemas.openxmlformats.org/drawingml/2006/main">
              <a:ext uri="{FF2B5EF4-FFF2-40B4-BE49-F238E27FC236}">
                <a16:creationId xmlns:a16="http://schemas.microsoft.com/office/drawing/2014/main" id="{2BB8A32D-D4BA-40AD-8607-1F52B797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Sete passos para cada pequena funcionalidade</a:t>
            </a:r>
            <a:endParaRPr/>
          </a:p>
        </p:txBody>
      </p:sp>
      <p:sp>
        <p:nvSpPr>
          <p:cNvPr id="16115149" name="">
            <a:extLst xmlns:a="http://schemas.openxmlformats.org/drawingml/2006/main">
              <a:ext uri="{FF2B5EF4-FFF2-40B4-BE49-F238E27FC236}">
                <a16:creationId xmlns:a16="http://schemas.microsoft.com/office/drawing/2014/main" id="{8FF24CB0-5AF1-41CE-9FBC-6CF4FED0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762125"/>
            <a:ext cx="2476500" cy="1095375"/>
          </a:xfrm>
          <a:prstGeom xmlns:a="http://schemas.openxmlformats.org/drawingml/2006/main" prst="roundRect">
            <a:avLst>
              <a:gd name="adj" fmla="val 15652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1389275393" name="">
            <a:extLst xmlns:a="http://schemas.openxmlformats.org/drawingml/2006/main">
              <a:ext uri="{FF2B5EF4-FFF2-40B4-BE49-F238E27FC236}">
                <a16:creationId xmlns:a16="http://schemas.microsoft.com/office/drawing/2014/main" id="{E658FC0A-BE3B-453E-843D-84D2DEF6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764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7456F5"/>
                </a:solidFill>
                <a:latin typeface="Arial"/>
                <a:ea typeface="Arial"/>
                <a:cs typeface="Arial"/>
              </a:rPr>
              <a:t>1</a:t>
            </a:r>
            <a:endParaRPr/>
          </a:p>
        </p:txBody>
      </p:sp>
      <p:sp>
        <p:nvSpPr>
          <p:cNvPr id="1073176377" name="">
            <a:extLst xmlns:a="http://schemas.openxmlformats.org/drawingml/2006/main">
              <a:ext uri="{FF2B5EF4-FFF2-40B4-BE49-F238E27FC236}">
                <a16:creationId xmlns:a16="http://schemas.microsoft.com/office/drawing/2014/main" id="{E148572A-C65A-4DD0-9D9A-A2E9C120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8764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Problema</a:t>
            </a:r>
            <a:endParaRPr/>
          </a:p>
        </p:txBody>
      </p:sp>
      <p:sp>
        <p:nvSpPr>
          <p:cNvPr id="1496116246" name="">
            <a:extLst xmlns:a="http://schemas.openxmlformats.org/drawingml/2006/main">
              <a:ext uri="{FF2B5EF4-FFF2-40B4-BE49-F238E27FC236}">
                <a16:creationId xmlns:a16="http://schemas.microsoft.com/office/drawing/2014/main" id="{2CA518E7-557C-4BC1-9AA9-E8F1A1EA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62199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Necessidade do usuário</a:t>
            </a:r>
            <a:endParaRPr/>
          </a:p>
          <a:p xmlns:a="http://schemas.openxmlformats.org/drawingml/2006/main">
            <a: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Exemplo do resultado</a:t>
            </a:r>
            <a:endParaRPr/>
          </a:p>
        </p:txBody>
      </p:sp>
      <p:sp>
        <p:nvSpPr>
          <p:cNvPr id="717001783" name="">
            <a:extLst xmlns:a="http://schemas.openxmlformats.org/drawingml/2006/main">
              <a:ext uri="{FF2B5EF4-FFF2-40B4-BE49-F238E27FC236}">
                <a16:creationId xmlns:a16="http://schemas.microsoft.com/office/drawing/2014/main" id="{8DEFE7A8-7DAD-46BD-ABED-E766AEBB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762125"/>
            <a:ext cx="2476500" cy="1095375"/>
          </a:xfrm>
          <a:prstGeom xmlns:a="http://schemas.openxmlformats.org/drawingml/2006/main" prst="roundRect">
            <a:avLst>
              <a:gd name="adj" fmla="val 15652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1715477272" name="">
            <a:extLst xmlns:a="http://schemas.openxmlformats.org/drawingml/2006/main">
              <a:ext uri="{FF2B5EF4-FFF2-40B4-BE49-F238E27FC236}">
                <a16:creationId xmlns:a16="http://schemas.microsoft.com/office/drawing/2014/main" id="{13DD67F9-61D3-47B6-9F1F-B1F26201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764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7456F5"/>
                </a:solidFill>
                <a:latin typeface="Arial"/>
                <a:ea typeface="Arial"/>
                <a:cs typeface="Arial"/>
              </a:rPr>
              <a:t>2</a:t>
            </a:r>
            <a:endParaRPr/>
          </a:p>
        </p:txBody>
      </p:sp>
      <p:sp>
        <p:nvSpPr>
          <p:cNvPr id="1951423007" name="">
            <a:extLst xmlns:a="http://schemas.openxmlformats.org/drawingml/2006/main">
              <a:ext uri="{FF2B5EF4-FFF2-40B4-BE49-F238E27FC236}">
                <a16:creationId xmlns:a16="http://schemas.microsoft.com/office/drawing/2014/main" id="{563A581F-BDD9-430F-ABEF-3557EF2A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8764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Brainstorm</a:t>
            </a:r>
            <a:endParaRPr/>
          </a:p>
        </p:txBody>
      </p:sp>
      <p:sp>
        <p:nvSpPr>
          <p:cNvPr id="1857455423" name="">
            <a:extLst xmlns:a="http://schemas.openxmlformats.org/drawingml/2006/main">
              <a:ext uri="{FF2B5EF4-FFF2-40B4-BE49-F238E27FC236}">
                <a16:creationId xmlns:a16="http://schemas.microsoft.com/office/drawing/2014/main" id="{9DD69E15-C1CF-46F1-99F1-4D75F30F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62199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Alternativas, dúvidas</a:t>
            </a:r>
            <a:endParaRPr/>
          </a:p>
          <a:p xmlns:a="http://schemas.openxmlformats.org/drawingml/2006/main">
            <a: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 riscos</a:t>
            </a:r>
            <a:endParaRPr/>
          </a:p>
        </p:txBody>
      </p:sp>
      <p:sp>
        <p:nvSpPr>
          <p:cNvPr id="592579636" name="">
            <a:extLst xmlns:a="http://schemas.openxmlformats.org/drawingml/2006/main">
              <a:ext uri="{FF2B5EF4-FFF2-40B4-BE49-F238E27FC236}">
                <a16:creationId xmlns:a16="http://schemas.microsoft.com/office/drawing/2014/main" id="{5C89511D-BE13-41A3-9BBB-81E9A5B3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62125"/>
            <a:ext cx="2476500" cy="1095375"/>
          </a:xfrm>
          <a:prstGeom xmlns:a="http://schemas.openxmlformats.org/drawingml/2006/main" prst="roundRect">
            <a:avLst>
              <a:gd name="adj" fmla="val 15652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923882222" name="">
            <a:extLst xmlns:a="http://schemas.openxmlformats.org/drawingml/2006/main">
              <a:ext uri="{FF2B5EF4-FFF2-40B4-BE49-F238E27FC236}">
                <a16:creationId xmlns:a16="http://schemas.microsoft.com/office/drawing/2014/main" id="{1C7F6CD5-042A-4861-BE60-998F3FE8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764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7456F5"/>
                </a:solidFill>
                <a:latin typeface="Arial"/>
                <a:ea typeface="Arial"/>
                <a:cs typeface="Arial"/>
              </a:rPr>
              <a:t>3</a:t>
            </a:r>
            <a:endParaRPr/>
          </a:p>
        </p:txBody>
      </p:sp>
      <p:sp>
        <p:nvSpPr>
          <p:cNvPr id="1662647444" name="">
            <a:extLst xmlns:a="http://schemas.openxmlformats.org/drawingml/2006/main">
              <a:ext uri="{FF2B5EF4-FFF2-40B4-BE49-F238E27FC236}">
                <a16:creationId xmlns:a16="http://schemas.microsoft.com/office/drawing/2014/main" id="{8232A2C4-7560-4448-8099-B5AF318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18764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PRD</a:t>
            </a:r>
            <a:endParaRPr/>
          </a:p>
        </p:txBody>
      </p:sp>
      <p:sp>
        <p:nvSpPr>
          <p:cNvPr id="83763979" name="">
            <a:extLst xmlns:a="http://schemas.openxmlformats.org/drawingml/2006/main">
              <a:ext uri="{FF2B5EF4-FFF2-40B4-BE49-F238E27FC236}">
                <a16:creationId xmlns:a16="http://schemas.microsoft.com/office/drawing/2014/main" id="{F51FB488-219C-4755-A079-9248DE94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62199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Objetivo, escopo e</a:t>
            </a:r>
            <a:endParaRPr/>
          </a:p>
          <a:p xmlns:a="http://schemas.openxmlformats.org/drawingml/2006/main">
            <a: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critérios de aceitação</a:t>
            </a:r>
            <a:endParaRPr/>
          </a:p>
        </p:txBody>
      </p:sp>
      <p:sp>
        <p:nvSpPr>
          <p:cNvPr id="313142253" name="">
            <a:extLst xmlns:a="http://schemas.openxmlformats.org/drawingml/2006/main">
              <a:ext uri="{FF2B5EF4-FFF2-40B4-BE49-F238E27FC236}">
                <a16:creationId xmlns:a16="http://schemas.microsoft.com/office/drawing/2014/main" id="{C436C3F6-1205-468C-B681-C2756D97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762125"/>
            <a:ext cx="2476500" cy="1095375"/>
          </a:xfrm>
          <a:prstGeom xmlns:a="http://schemas.openxmlformats.org/drawingml/2006/main" prst="roundRect">
            <a:avLst>
              <a:gd name="adj" fmla="val 15652"/>
            </a:avLst>
          </a:prstGeom>
          <a:solidFill xmlns:a="http://schemas.openxmlformats.org/drawingml/2006/main">
            <a:srgbClr val="EAE6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807210119" name="">
            <a:extLst xmlns:a="http://schemas.openxmlformats.org/drawingml/2006/main">
              <a:ext uri="{FF2B5EF4-FFF2-40B4-BE49-F238E27FC236}">
                <a16:creationId xmlns:a16="http://schemas.microsoft.com/office/drawing/2014/main" id="{78B93161-8286-477F-A04B-C611C940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764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7456F5"/>
                </a:solidFill>
                <a:latin typeface="Arial"/>
                <a:ea typeface="Arial"/>
                <a:cs typeface="Arial"/>
              </a:rPr>
              <a:t>4</a:t>
            </a:r>
            <a:endParaRPr/>
          </a:p>
        </p:txBody>
      </p:sp>
      <p:sp>
        <p:nvSpPr>
          <p:cNvPr id="397364053" name="">
            <a:extLst xmlns:a="http://schemas.openxmlformats.org/drawingml/2006/main">
              <a:ext uri="{FF2B5EF4-FFF2-40B4-BE49-F238E27FC236}">
                <a16:creationId xmlns:a16="http://schemas.microsoft.com/office/drawing/2014/main" id="{69479BA1-AB61-491C-9A9E-3D16A368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8764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Validar PRD</a:t>
            </a:r>
            <a:endParaRPr/>
          </a:p>
        </p:txBody>
      </p:sp>
      <p:sp>
        <p:nvSpPr>
          <p:cNvPr id="953077868" name="">
            <a:extLst xmlns:a="http://schemas.openxmlformats.org/drawingml/2006/main">
              <a:ext uri="{FF2B5EF4-FFF2-40B4-BE49-F238E27FC236}">
                <a16:creationId xmlns:a16="http://schemas.microsoft.com/office/drawing/2014/main" id="{6C5FE555-0214-4501-9EDA-9966FC93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62199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Conferir requisitos</a:t>
            </a:r>
            <a:endParaRPr/>
          </a:p>
          <a:p xmlns:a="http://schemas.openxmlformats.org/drawingml/2006/main">
            <a: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com quem vai usar</a:t>
            </a:r>
            <a:endParaRPr/>
          </a:p>
        </p:txBody>
      </p:sp>
      <p:sp>
        <p:nvSpPr>
          <p:cNvPr id="1747814466" name="">
            <a:extLst xmlns:a="http://schemas.openxmlformats.org/drawingml/2006/main">
              <a:ext uri="{FF2B5EF4-FFF2-40B4-BE49-F238E27FC236}">
                <a16:creationId xmlns:a16="http://schemas.microsoft.com/office/drawing/2014/main" id="{793C1BB0-7C55-46BB-B1BA-4E18D3E3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81375"/>
            <a:ext cx="2476500" cy="1095375"/>
          </a:xfrm>
          <a:prstGeom xmlns:a="http://schemas.openxmlformats.org/drawingml/2006/main" prst="roundRect">
            <a:avLst>
              <a:gd name="adj" fmla="val 15652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296772587" name="">
            <a:extLst xmlns:a="http://schemas.openxmlformats.org/drawingml/2006/main">
              <a:ext uri="{FF2B5EF4-FFF2-40B4-BE49-F238E27FC236}">
                <a16:creationId xmlns:a16="http://schemas.microsoft.com/office/drawing/2014/main" id="{5119E713-E444-4D38-BE9B-EACD7728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9567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7456F5"/>
                </a:solidFill>
                <a:latin typeface="Arial"/>
                <a:ea typeface="Arial"/>
                <a:cs typeface="Arial"/>
              </a:rPr>
              <a:t>5</a:t>
            </a:r>
            <a:endParaRPr/>
          </a:p>
        </p:txBody>
      </p:sp>
      <p:sp>
        <p:nvSpPr>
          <p:cNvPr id="1797856603" name="">
            <a:extLst xmlns:a="http://schemas.openxmlformats.org/drawingml/2006/main">
              <a:ext uri="{FF2B5EF4-FFF2-40B4-BE49-F238E27FC236}">
                <a16:creationId xmlns:a16="http://schemas.microsoft.com/office/drawing/2014/main" id="{33429DC8-9D79-46F0-AFEC-0914CA42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49567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SPEC</a:t>
            </a:r>
            <a:endParaRPr/>
          </a:p>
        </p:txBody>
      </p:sp>
      <p:sp>
        <p:nvSpPr>
          <p:cNvPr id="433798778" name="">
            <a:extLst xmlns:a="http://schemas.openxmlformats.org/drawingml/2006/main">
              <a:ext uri="{FF2B5EF4-FFF2-40B4-BE49-F238E27FC236}">
                <a16:creationId xmlns:a16="http://schemas.microsoft.com/office/drawing/2014/main" id="{B0E8A127-0506-4499-AB86-38E1A8F2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81450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Regras e decisões</a:t>
            </a:r>
            <a:endParaRPr/>
          </a:p>
          <a:p xmlns:a="http://schemas.openxmlformats.org/drawingml/2006/main">
            <a: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para implementar</a:t>
            </a:r>
            <a:endParaRPr/>
          </a:p>
        </p:txBody>
      </p:sp>
      <p:sp>
        <p:nvSpPr>
          <p:cNvPr id="1892038096" name="">
            <a:extLst xmlns:a="http://schemas.openxmlformats.org/drawingml/2006/main">
              <a:ext uri="{FF2B5EF4-FFF2-40B4-BE49-F238E27FC236}">
                <a16:creationId xmlns:a16="http://schemas.microsoft.com/office/drawing/2014/main" id="{11B6AF4D-4898-40E9-ABCF-2691B92C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81375"/>
            <a:ext cx="2476500" cy="1095375"/>
          </a:xfrm>
          <a:prstGeom xmlns:a="http://schemas.openxmlformats.org/drawingml/2006/main" prst="roundRect">
            <a:avLst>
              <a:gd name="adj" fmla="val 15652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1939407919" name="">
            <a:extLst xmlns:a="http://schemas.openxmlformats.org/drawingml/2006/main">
              <a:ext uri="{FF2B5EF4-FFF2-40B4-BE49-F238E27FC236}">
                <a16:creationId xmlns:a16="http://schemas.microsoft.com/office/drawing/2014/main" id="{E74A0338-85F0-400E-B813-71280A09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9567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7456F5"/>
                </a:solidFill>
                <a:latin typeface="Arial"/>
                <a:ea typeface="Arial"/>
                <a:cs typeface="Arial"/>
              </a:rPr>
              <a:t>6</a:t>
            </a:r>
            <a:endParaRPr/>
          </a:p>
        </p:txBody>
      </p:sp>
      <p:sp>
        <p:nvSpPr>
          <p:cNvPr id="1598334695" name="">
            <a:extLst xmlns:a="http://schemas.openxmlformats.org/drawingml/2006/main">
              <a:ext uri="{FF2B5EF4-FFF2-40B4-BE49-F238E27FC236}">
                <a16:creationId xmlns:a16="http://schemas.microsoft.com/office/drawing/2014/main" id="{8FE675DA-9CEB-4888-BF89-A8342B4A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49567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Implementar</a:t>
            </a:r>
            <a:endParaRPr/>
          </a:p>
        </p:txBody>
      </p:sp>
      <p:sp>
        <p:nvSpPr>
          <p:cNvPr id="1597034782" name="">
            <a:extLst xmlns:a="http://schemas.openxmlformats.org/drawingml/2006/main">
              <a:ext uri="{FF2B5EF4-FFF2-40B4-BE49-F238E27FC236}">
                <a16:creationId xmlns:a16="http://schemas.microsoft.com/office/drawing/2014/main" id="{BB16344A-201F-49BD-9B32-01D81AE6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81450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Código da funcionalidade</a:t>
            </a:r>
            <a:endParaRPr/>
          </a:p>
          <a:p xmlns:a="http://schemas.openxmlformats.org/drawingml/2006/main">
            <a: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 testes automatizados</a:t>
            </a:r>
            <a:endParaRPr/>
          </a:p>
        </p:txBody>
      </p:sp>
      <p:sp>
        <p:nvSpPr>
          <p:cNvPr id="1343417416" name="">
            <a:extLst xmlns:a="http://schemas.openxmlformats.org/drawingml/2006/main">
              <a:ext uri="{FF2B5EF4-FFF2-40B4-BE49-F238E27FC236}">
                <a16:creationId xmlns:a16="http://schemas.microsoft.com/office/drawing/2014/main" id="{D56AA29C-F9A4-4A71-96FF-817D6CD4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81375"/>
            <a:ext cx="2476500" cy="1095375"/>
          </a:xfrm>
          <a:prstGeom xmlns:a="http://schemas.openxmlformats.org/drawingml/2006/main" prst="roundRect">
            <a:avLst>
              <a:gd name="adj" fmla="val 15652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529856640" name="">
            <a:extLst xmlns:a="http://schemas.openxmlformats.org/drawingml/2006/main">
              <a:ext uri="{FF2B5EF4-FFF2-40B4-BE49-F238E27FC236}">
                <a16:creationId xmlns:a16="http://schemas.microsoft.com/office/drawing/2014/main" id="{0BE0997C-099E-4CF1-9677-E7537885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9567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7456F5"/>
                </a:solidFill>
                <a:latin typeface="Arial"/>
                <a:ea typeface="Arial"/>
                <a:cs typeface="Arial"/>
              </a:rPr>
              <a:t>7</a:t>
            </a:r>
            <a:endParaRPr/>
          </a:p>
        </p:txBody>
      </p:sp>
      <p:sp>
        <p:nvSpPr>
          <p:cNvPr id="836541373" name="">
            <a:extLst xmlns:a="http://schemas.openxmlformats.org/drawingml/2006/main">
              <a:ext uri="{FF2B5EF4-FFF2-40B4-BE49-F238E27FC236}">
                <a16:creationId xmlns:a16="http://schemas.microsoft.com/office/drawing/2014/main" id="{D9A91E59-0DCD-48E7-8571-C388A3E2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49567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Testar e validar</a:t>
            </a:r>
            <a:endParaRPr/>
          </a:p>
        </p:txBody>
      </p:sp>
      <p:sp>
        <p:nvSpPr>
          <p:cNvPr id="1027488472" name="">
            <a:extLst xmlns:a="http://schemas.openxmlformats.org/drawingml/2006/main">
              <a:ext uri="{FF2B5EF4-FFF2-40B4-BE49-F238E27FC236}">
                <a16:creationId xmlns:a16="http://schemas.microsoft.com/office/drawing/2014/main" id="{9A069AE7-77CF-42D7-8D83-97EA156B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81450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Conferir o resultado</a:t>
            </a:r>
            <a:endParaRPr/>
          </a:p>
          <a:p xmlns:a="http://schemas.openxmlformats.org/drawingml/2006/main">
            <a:pPr algn="l">
              <a:buNone/>
              <a:defRPr sz="15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 evitar regressões</a:t>
            </a:r>
            <a:endParaRPr/>
          </a:p>
        </p:txBody>
      </p:sp>
      <p:sp>
        <p:nvSpPr>
          <p:cNvPr id="1674531875" name="">
            <a:extLst xmlns:a="http://schemas.openxmlformats.org/drawingml/2006/main">
              <a:ext uri="{FF2B5EF4-FFF2-40B4-BE49-F238E27FC236}">
                <a16:creationId xmlns:a16="http://schemas.microsoft.com/office/drawing/2014/main" id="{626A65C9-29FF-4A56-9554-EF2173A9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381375"/>
            <a:ext cx="2286000" cy="1095375"/>
          </a:xfrm>
          <a:prstGeom xmlns:a="http://schemas.openxmlformats.org/drawingml/2006/main" prst="roundRect">
            <a:avLst>
              <a:gd name="adj" fmla="val 15652"/>
            </a:avLst>
          </a:prstGeom>
          <a:solidFill xmlns:a="http://schemas.openxmlformats.org/drawingml/2006/main">
            <a:srgbClr val="DDF5E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1953317117" name="">
            <a:extLst xmlns:a="http://schemas.openxmlformats.org/drawingml/2006/main">
              <a:ext uri="{FF2B5EF4-FFF2-40B4-BE49-F238E27FC236}">
                <a16:creationId xmlns:a16="http://schemas.microsoft.com/office/drawing/2014/main" id="{6155FDBC-1A6E-4663-814E-86CE077E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7187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00" b="1">
                <a:solidFill>
                  <a:srgbClr val="00A89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1">
                <a:solidFill>
                  <a:srgbClr val="00A89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1">
                <a:solidFill>
                  <a:srgbClr val="00A89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1">
                <a:solidFill>
                  <a:srgbClr val="00A89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1">
                <a:solidFill>
                  <a:srgbClr val="00A89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1">
                <a:solidFill>
                  <a:srgbClr val="00A89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1">
                <a:solidFill>
                  <a:srgbClr val="00A89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1">
                <a:solidFill>
                  <a:srgbClr val="00A89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1">
                <a:solidFill>
                  <a:srgbClr val="00A89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1">
                <a:solidFill>
                  <a:srgbClr val="00A8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00" b="1">
                <a:solidFill>
                  <a:srgbClr val="00A89B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00A89B"/>
                </a:solidFill>
                <a:latin typeface="Arial"/>
                <a:ea typeface="Arial"/>
                <a:cs typeface="Arial"/>
              </a:rPr>
              <a:t>PASSOU</a:t>
            </a:r>
            <a:endParaRPr/>
          </a:p>
        </p:txBody>
      </p:sp>
      <p:sp>
        <p:nvSpPr>
          <p:cNvPr id="1540788828" name="">
            <a:extLst xmlns:a="http://schemas.openxmlformats.org/drawingml/2006/main">
              <a:ext uri="{FF2B5EF4-FFF2-40B4-BE49-F238E27FC236}">
                <a16:creationId xmlns:a16="http://schemas.microsoft.com/office/drawing/2014/main" id="{85906BE0-7E31-478A-A541-22F6D7E4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Entregar e observar</a:t>
            </a:r>
            <a:endParaRPr/>
          </a:p>
        </p:txBody>
      </p:sp>
      <p:sp>
        <p:nvSpPr>
          <p:cNvPr id="1640928736" name="">
            <a:extLst xmlns:a="http://schemas.openxmlformats.org/drawingml/2006/main">
              <a:ext uri="{FF2B5EF4-FFF2-40B4-BE49-F238E27FC236}">
                <a16:creationId xmlns:a16="http://schemas.microsoft.com/office/drawing/2014/main" id="{860762CD-F457-4E21-A7F0-78605561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095875"/>
            <a:ext cx="247650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E9E9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1284531747" name="">
            <a:extLst xmlns:a="http://schemas.openxmlformats.org/drawingml/2006/main">
              <a:ext uri="{FF2B5EF4-FFF2-40B4-BE49-F238E27FC236}">
                <a16:creationId xmlns:a16="http://schemas.microsoft.com/office/drawing/2014/main" id="{B8C4C22F-94F4-49E6-AB1F-3AD10EDB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257800"/>
            <a:ext cx="2143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00" b="1">
                <a:solidFill>
                  <a:srgbClr val="C53D4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1">
                <a:solidFill>
                  <a:srgbClr val="C53D4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1">
                <a:solidFill>
                  <a:srgbClr val="C53D4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1">
                <a:solidFill>
                  <a:srgbClr val="C53D4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1">
                <a:solidFill>
                  <a:srgbClr val="C53D4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1">
                <a:solidFill>
                  <a:srgbClr val="C53D4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1">
                <a:solidFill>
                  <a:srgbClr val="C53D4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1">
                <a:solidFill>
                  <a:srgbClr val="C53D4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1">
                <a:solidFill>
                  <a:srgbClr val="C53D4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1">
                <a:solidFill>
                  <a:srgbClr val="C53D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00" b="1">
                <a:solidFill>
                  <a:srgbClr val="C53D4D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C53D4D"/>
                </a:solidFill>
                <a:latin typeface="Arial"/>
                <a:ea typeface="Arial"/>
                <a:cs typeface="Arial"/>
              </a:rPr>
              <a:t>FALHOU? Diagnosticar</a:t>
            </a:r>
            <a:endParaRPr/>
          </a:p>
        </p:txBody>
      </p:sp>
      <p:sp>
        <p:nvSpPr>
          <p:cNvPr id="1521260614" name="">
            <a:extLst xmlns:a="http://schemas.openxmlformats.org/drawingml/2006/main">
              <a:ext uri="{FF2B5EF4-FFF2-40B4-BE49-F238E27FC236}">
                <a16:creationId xmlns:a16="http://schemas.microsoft.com/office/drawing/2014/main" id="{941FBF18-6B6F-4345-B125-02402C7A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095875"/>
            <a:ext cx="247650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E6FF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1441693711" name="">
            <a:extLst xmlns:a="http://schemas.openxmlformats.org/drawingml/2006/main">
              <a:ext uri="{FF2B5EF4-FFF2-40B4-BE49-F238E27FC236}">
                <a16:creationId xmlns:a16="http://schemas.microsoft.com/office/drawing/2014/main" id="{A890BFAA-AEC0-464F-A635-51193740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257800"/>
            <a:ext cx="2143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7456F5"/>
                </a:solidFill>
                <a:latin typeface="Arial"/>
                <a:ea typeface="Arial"/>
                <a:cs typeface="Arial"/>
              </a:rPr>
              <a:t>Corrigir e retestar</a:t>
            </a:r>
            <a:endParaRPr/>
          </a:p>
        </p:txBody>
      </p:sp>
      <p:sp>
        <p:nvSpPr>
          <p:cNvPr id="1560497434" name="">
            <a:extLst xmlns:a="http://schemas.openxmlformats.org/drawingml/2006/main">
              <a:ext uri="{FF2B5EF4-FFF2-40B4-BE49-F238E27FC236}">
                <a16:creationId xmlns:a16="http://schemas.microsoft.com/office/drawing/2014/main" id="{FB10A581-CCE8-4719-ABEA-47498051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Falha: corrigir código ou ambiente. Mudou a regra? Rever PRD e SPEC.</a:t>
            </a:r>
            <a:endParaRPr/>
          </a:p>
          <a:p xmlns:a="http://schemas.openxmlformats.org/drawingml/2006/main">
            <a:pPr algn="l">
              <a:buNone/>
              <a:defRPr sz="17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Após a entrega, o retorno do usuário orienta o próximo ciclo.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08393985"/>
      </p:ext>
    </p:extLst>
  </p:cSld>
</p:sld>
</file>

<file path=ppt/slides/slide28.xml><?xml version="1.0" encoding="utf-8"?>
<p:sld xmlns:p="http://schemas.openxmlformats.org/presentationml/2006/main" showMasterSp="1" show="1">
  <p:cSld>
    <p:bg>
      <p:bgPr>
        <a:solidFill xmlns:a="http://schemas.openxmlformats.org/drawingml/2006/main">
          <a:srgbClr val="F3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4521347" name="">
            <a:extLst xmlns:a="http://schemas.openxmlformats.org/drawingml/2006/main">
              <a:ext uri="{FF2B5EF4-FFF2-40B4-BE49-F238E27FC236}">
                <a16:creationId xmlns:a16="http://schemas.microsoft.com/office/drawing/2014/main" id="{333F2BD7-501F-4BDD-9FEA-8F34641B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86C5"/>
                </a:solidFill>
                <a:latin typeface="Arial"/>
                <a:ea typeface="Arial"/>
                <a:cs typeface="Arial"/>
              </a:rPr>
              <a:t>28 / 38</a:t>
            </a:r>
            <a:endParaRPr/>
          </a:p>
        </p:txBody>
      </p:sp>
      <p:sp>
        <p:nvSpPr>
          <p:cNvPr id="434959682" name="">
            <a:extLst xmlns:a="http://schemas.openxmlformats.org/drawingml/2006/main">
              <a:ext uri="{FF2B5EF4-FFF2-40B4-BE49-F238E27FC236}">
                <a16:creationId xmlns:a16="http://schemas.microsoft.com/office/drawing/2014/main" id="{4EA70653-D611-4A91-81B7-84AB45ED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1. Delimitar a próxima funcionalidade</a:t>
            </a:r>
            <a:endParaRPr/>
          </a:p>
        </p:txBody>
      </p:sp>
      <p:sp>
        <p:nvSpPr>
          <p:cNvPr id="357700333" name="">
            <a:extLst xmlns:a="http://schemas.openxmlformats.org/drawingml/2006/main">
              <a:ext uri="{FF2B5EF4-FFF2-40B4-BE49-F238E27FC236}">
                <a16:creationId xmlns:a16="http://schemas.microsoft.com/office/drawing/2014/main" id="{913F103C-6E94-4D39-9C6C-1BEC211D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O percurso começa pelo problema e se repete para cada resultado pequeno que tenha utilidade.</a:t>
            </a:r>
            <a:endParaRPr/>
          </a:p>
        </p:txBody>
      </p:sp>
      <p:sp>
        <p:nvSpPr>
          <p:cNvPr id="801355858" name="">
            <a:extLst xmlns:a="http://schemas.openxmlformats.org/drawingml/2006/main">
              <a:ext uri="{FF2B5EF4-FFF2-40B4-BE49-F238E27FC236}">
                <a16:creationId xmlns:a16="http://schemas.microsoft.com/office/drawing/2014/main" id="{403BEA96-F0E0-4653-8DEE-847AF1A4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24125"/>
            <a:ext cx="5286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O que investigar</a:t>
            </a:r>
            <a:endParaRPr/>
          </a:p>
        </p:txBody>
      </p:sp>
      <p:sp>
        <p:nvSpPr>
          <p:cNvPr id="1798662048" name="">
            <a:extLst xmlns:a="http://schemas.openxmlformats.org/drawingml/2006/main">
              <a:ext uri="{FF2B5EF4-FFF2-40B4-BE49-F238E27FC236}">
                <a16:creationId xmlns:a16="http://schemas.microsoft.com/office/drawing/2014/main" id="{CBF7E6E6-6400-4711-89AF-C8EF9A0B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24125"/>
            <a:ext cx="5286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456F5"/>
                </a:solidFill>
                <a:latin typeface="Arial"/>
                <a:ea typeface="Arial"/>
                <a:cs typeface="Arial"/>
              </a:rPr>
              <a:t>Como delimitar a entrega</a:t>
            </a:r>
            <a:endParaRPr/>
          </a:p>
        </p:txBody>
      </p:sp>
      <p:sp>
        <p:nvSpPr>
          <p:cNvPr id="584306037" name="">
            <a:extLst xmlns:a="http://schemas.openxmlformats.org/drawingml/2006/main">
              <a:ext uri="{FF2B5EF4-FFF2-40B4-BE49-F238E27FC236}">
                <a16:creationId xmlns:a16="http://schemas.microsoft.com/office/drawing/2014/main" id="{B3B029F6-94CE-4F34-BD6A-5B50377F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52700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2FA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942097749" name="">
            <a:extLst xmlns:a="http://schemas.openxmlformats.org/drawingml/2006/main">
              <a:ext uri="{FF2B5EF4-FFF2-40B4-BE49-F238E27FC236}">
                <a16:creationId xmlns:a16="http://schemas.microsoft.com/office/drawing/2014/main" id="{CBA01D57-D236-47DF-8701-4298FC39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519112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Identifique quem usará o resultado e qual trabalho precisa realizar. Observe entradas, saídas e dificuldades. Reúna um exemplo concreto e as restrições relevantes.</a:t>
            </a:r>
            <a:endParaRPr/>
          </a:p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endParaRPr/>
          </a:p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Separe necessidade real de sugestão de funcionalidade.</a:t>
            </a:r>
            <a:endParaRPr/>
          </a:p>
        </p:txBody>
      </p:sp>
      <p:sp>
        <p:nvSpPr>
          <p:cNvPr id="2138711380" name="">
            <a:extLst xmlns:a="http://schemas.openxmlformats.org/drawingml/2006/main">
              <a:ext uri="{FF2B5EF4-FFF2-40B4-BE49-F238E27FC236}">
                <a16:creationId xmlns:a16="http://schemas.microsoft.com/office/drawing/2014/main" id="{8FEDFAF7-EEAD-4A84-A381-FC735FCF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43250"/>
            <a:ext cx="5238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Escolha uma parte que possa ser implementada, revisada e demonstrada. Defina o resultado esperado e quem pode confirmar se ele atende ao problema.</a:t>
            </a:r>
            <a:endParaRPr/>
          </a:p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endParaRPr/>
          </a:p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As demais necessidades continuam como próximas possibilidades.</a:t>
            </a:r>
            <a:endParaRPr/>
          </a:p>
        </p:txBody>
      </p:sp>
      <p:sp>
        <p:nvSpPr>
          <p:cNvPr id="493795487" name="">
            <a:extLst xmlns:a="http://schemas.openxmlformats.org/drawingml/2006/main">
              <a:ext uri="{FF2B5EF4-FFF2-40B4-BE49-F238E27FC236}">
                <a16:creationId xmlns:a16="http://schemas.microsoft.com/office/drawing/2014/main" id="{F5162C2D-F8C1-4AAC-9690-C20DB80B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Entrega: um problema delimitado e um resultado esperado para esta parte.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41920620"/>
      </p:ext>
    </p:extLst>
  </p:cSld>
</p:sld>
</file>

<file path=ppt/slides/slide29.xml><?xml version="1.0" encoding="utf-8"?>
<p:sld xmlns:p="http://schemas.openxmlformats.org/presentationml/2006/main" showMasterSp="1" show="1">
  <p:cSld>
    <p:bg>
      <p:bgPr>
        <a:solidFill xmlns:a="http://schemas.openxmlformats.org/drawingml/2006/main">
          <a:srgbClr val="F3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15893406" name="">
            <a:extLst xmlns:a="http://schemas.openxmlformats.org/drawingml/2006/main">
              <a:ext uri="{FF2B5EF4-FFF2-40B4-BE49-F238E27FC236}">
                <a16:creationId xmlns:a16="http://schemas.microsoft.com/office/drawing/2014/main" id="{5B7C39FE-CCD5-4D53-BA58-2C370F32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86C5"/>
                </a:solidFill>
                <a:latin typeface="Arial"/>
                <a:ea typeface="Arial"/>
                <a:cs typeface="Arial"/>
              </a:rPr>
              <a:t>29 / 38</a:t>
            </a:r>
            <a:endParaRPr/>
          </a:p>
        </p:txBody>
      </p:sp>
      <p:sp>
        <p:nvSpPr>
          <p:cNvPr id="139338619" name="">
            <a:extLst xmlns:a="http://schemas.openxmlformats.org/drawingml/2006/main">
              <a:ext uri="{FF2B5EF4-FFF2-40B4-BE49-F238E27FC236}">
                <a16:creationId xmlns:a16="http://schemas.microsoft.com/office/drawing/2014/main" id="{1FE49105-C7A8-42DC-9020-E0A728FC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2. Brainstorm: alternativas para a parte escolhida</a:t>
            </a:r>
            <a:endParaRPr/>
          </a:p>
        </p:txBody>
      </p:sp>
      <p:sp>
        <p:nvSpPr>
          <p:cNvPr id="937764970" name="">
            <a:extLst xmlns:a="http://schemas.openxmlformats.org/drawingml/2006/main">
              <a:ext uri="{FF2B5EF4-FFF2-40B4-BE49-F238E27FC236}">
                <a16:creationId xmlns:a16="http://schemas.microsoft.com/office/drawing/2014/main" id="{3ABB2395-A24A-4EBC-89D8-49EA9F33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 conversa com a IA ajuda a esclarecer dúvidas e comparar soluções antes e durante o trabalho.</a:t>
            </a:r>
            <a:endParaRPr/>
          </a:p>
        </p:txBody>
      </p:sp>
      <p:sp>
        <p:nvSpPr>
          <p:cNvPr id="150848151" name="">
            <a:extLst xmlns:a="http://schemas.openxmlformats.org/drawingml/2006/main">
              <a:ext uri="{FF2B5EF4-FFF2-40B4-BE49-F238E27FC236}">
                <a16:creationId xmlns:a16="http://schemas.microsoft.com/office/drawing/2014/main" id="{4D6BB069-56CF-4FF4-9B26-5A7A43ED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24125"/>
            <a:ext cx="5286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Como conduzir</a:t>
            </a:r>
            <a:endParaRPr/>
          </a:p>
        </p:txBody>
      </p:sp>
      <p:sp>
        <p:nvSpPr>
          <p:cNvPr id="1245617545" name="">
            <a:extLst xmlns:a="http://schemas.openxmlformats.org/drawingml/2006/main">
              <a:ext uri="{FF2B5EF4-FFF2-40B4-BE49-F238E27FC236}">
                <a16:creationId xmlns:a16="http://schemas.microsoft.com/office/drawing/2014/main" id="{2BBF5BF8-76FF-4930-A40E-CA3221E9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24125"/>
            <a:ext cx="5286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456F5"/>
                </a:solidFill>
                <a:latin typeface="Arial"/>
                <a:ea typeface="Arial"/>
                <a:cs typeface="Arial"/>
              </a:rPr>
              <a:t>Como avaliar as propostas</a:t>
            </a:r>
            <a:endParaRPr/>
          </a:p>
        </p:txBody>
      </p:sp>
      <p:sp>
        <p:nvSpPr>
          <p:cNvPr id="399877950" name="">
            <a:extLst xmlns:a="http://schemas.openxmlformats.org/drawingml/2006/main">
              <a:ext uri="{FF2B5EF4-FFF2-40B4-BE49-F238E27FC236}">
                <a16:creationId xmlns:a16="http://schemas.microsoft.com/office/drawing/2014/main" id="{5DF06B04-40EA-42C1-AD97-0C8A71DA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52700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2FA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1105140344" name="">
            <a:extLst xmlns:a="http://schemas.openxmlformats.org/drawingml/2006/main">
              <a:ext uri="{FF2B5EF4-FFF2-40B4-BE49-F238E27FC236}">
                <a16:creationId xmlns:a16="http://schemas.microsoft.com/office/drawing/2014/main" id="{991DA628-F170-46F9-86CA-65706A6F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519112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Apresente o contexto e um exemplo. Peça perguntas, alternativas e riscos. Solicite que o agente separe fatos de hipóteses.</a:t>
            </a:r>
            <a:endParaRPr/>
          </a:p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endParaRPr/>
          </a:p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Traga informações que só quem conhece o trabalho pode fornecer.</a:t>
            </a:r>
            <a:endParaRPr/>
          </a:p>
        </p:txBody>
      </p:sp>
      <p:sp>
        <p:nvSpPr>
          <p:cNvPr id="1151338441" name="">
            <a:extLst xmlns:a="http://schemas.openxmlformats.org/drawingml/2006/main">
              <a:ext uri="{FF2B5EF4-FFF2-40B4-BE49-F238E27FC236}">
                <a16:creationId xmlns:a16="http://schemas.microsoft.com/office/drawing/2014/main" id="{84BB4C9B-76F2-40F7-B6EB-DCF249BB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43250"/>
            <a:ext cx="5238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Compare as propostas com o objetivo e as restrições. Questione soluções complexas demais e peça uma alternativa menor.</a:t>
            </a:r>
            <a:endParaRPr/>
          </a:p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endParaRPr/>
          </a:p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Use os resultados de testes e do uso para rever decisões quando necessário.</a:t>
            </a:r>
            <a:endParaRPr/>
          </a:p>
        </p:txBody>
      </p:sp>
      <p:sp>
        <p:nvSpPr>
          <p:cNvPr id="1217555662" name="">
            <a:extLst xmlns:a="http://schemas.openxmlformats.org/drawingml/2006/main">
              <a:ext uri="{FF2B5EF4-FFF2-40B4-BE49-F238E27FC236}">
                <a16:creationId xmlns:a16="http://schemas.microsoft.com/office/drawing/2014/main" id="{616097AD-E77D-4D6E-B8DC-E4DE38A2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Entrega: uma solução candidata, com dúvidas e riscos visíveis.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50981762"/>
      </p:ext>
    </p:extLst>
  </p:cSld>
</p:sld>
</file>

<file path=ppt/slides/slide30.xml><?xml version="1.0" encoding="utf-8"?>
<p:sld xmlns:p="http://schemas.openxmlformats.org/presentationml/2006/main" showMasterSp="1" show="1">
  <p:cSld>
    <p:bg>
      <p:bgPr>
        <a:solidFill xmlns:a="http://schemas.openxmlformats.org/drawingml/2006/main">
          <a:srgbClr val="F3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98774621" name="">
            <a:extLst xmlns:a="http://schemas.openxmlformats.org/drawingml/2006/main">
              <a:ext uri="{FF2B5EF4-FFF2-40B4-BE49-F238E27FC236}">
                <a16:creationId xmlns:a16="http://schemas.microsoft.com/office/drawing/2014/main" id="{6FF570E0-3EFC-4438-9186-F0C70600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86C5"/>
                </a:solidFill>
                <a:latin typeface="Arial"/>
                <a:ea typeface="Arial"/>
                <a:cs typeface="Arial"/>
              </a:rPr>
              <a:t>30 / 38</a:t>
            </a:r>
            <a:endParaRPr/>
          </a:p>
        </p:txBody>
      </p:sp>
      <p:sp>
        <p:nvSpPr>
          <p:cNvPr id="740405657" name="">
            <a:extLst xmlns:a="http://schemas.openxmlformats.org/drawingml/2006/main">
              <a:ext uri="{FF2B5EF4-FFF2-40B4-BE49-F238E27FC236}">
                <a16:creationId xmlns:a16="http://schemas.microsoft.com/office/drawing/2014/main" id="{91E42F6A-1896-470F-88E5-211BBD82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2. Brainstorm crítico: falhas e limites</a:t>
            </a:r>
            <a:endParaRPr/>
          </a:p>
        </p:txBody>
      </p:sp>
      <p:sp>
        <p:nvSpPr>
          <p:cNvPr id="455495545" name="">
            <a:extLst xmlns:a="http://schemas.openxmlformats.org/drawingml/2006/main">
              <a:ext uri="{FF2B5EF4-FFF2-40B4-BE49-F238E27FC236}">
                <a16:creationId xmlns:a16="http://schemas.microsoft.com/office/drawing/2014/main" id="{6A24FCA6-D131-480A-B3A5-003995BC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Investigue o que pode dar errado nesta funcionalidade, com profundidade proporcional ao impacto.</a:t>
            </a:r>
            <a:endParaRPr/>
          </a:p>
        </p:txBody>
      </p:sp>
      <p:sp>
        <p:nvSpPr>
          <p:cNvPr id="2128424937" name="">
            <a:extLst xmlns:a="http://schemas.openxmlformats.org/drawingml/2006/main">
              <a:ext uri="{FF2B5EF4-FFF2-40B4-BE49-F238E27FC236}">
                <a16:creationId xmlns:a16="http://schemas.microsoft.com/office/drawing/2014/main" id="{1BA7C737-9DA7-4EE6-8CC2-3B07491D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24125"/>
            <a:ext cx="5286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Perguntas úteis</a:t>
            </a:r>
            <a:endParaRPr/>
          </a:p>
        </p:txBody>
      </p:sp>
      <p:sp>
        <p:nvSpPr>
          <p:cNvPr id="1828756461" name="">
            <a:extLst xmlns:a="http://schemas.openxmlformats.org/drawingml/2006/main">
              <a:ext uri="{FF2B5EF4-FFF2-40B4-BE49-F238E27FC236}">
                <a16:creationId xmlns:a16="http://schemas.microsoft.com/office/drawing/2014/main" id="{086C9B0C-DB36-4C52-B686-651854FF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24125"/>
            <a:ext cx="5286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456F5"/>
                </a:solidFill>
                <a:latin typeface="Arial"/>
                <a:ea typeface="Arial"/>
                <a:cs typeface="Arial"/>
              </a:rPr>
              <a:t>Responsabilidade humana</a:t>
            </a:r>
            <a:endParaRPr/>
          </a:p>
        </p:txBody>
      </p:sp>
      <p:sp>
        <p:nvSpPr>
          <p:cNvPr id="353411577" name="">
            <a:extLst xmlns:a="http://schemas.openxmlformats.org/drawingml/2006/main">
              <a:ext uri="{FF2B5EF4-FFF2-40B4-BE49-F238E27FC236}">
                <a16:creationId xmlns:a16="http://schemas.microsoft.com/office/drawing/2014/main" id="{E40E4868-1DFC-46B1-B1DC-5040D44B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52700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2FA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729769340" name="">
            <a:extLst xmlns:a="http://schemas.openxmlformats.org/drawingml/2006/main">
              <a:ext uri="{FF2B5EF4-FFF2-40B4-BE49-F238E27FC236}">
                <a16:creationId xmlns:a16="http://schemas.microsoft.com/office/drawing/2014/main" id="{921ED56C-AAB0-461F-8BDA-2F02DCDD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519112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O que acontece com dados ausentes ou duplicados? Quem pode executar a operação? Como desfazer uma ação incorreta?</a:t>
            </a:r>
            <a:endParaRPr/>
          </a:p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endParaRPr/>
          </a:p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Quais erros precisam de tratamento e quais verificações permitem reconhecê-los?</a:t>
            </a:r>
            <a:endParaRPr/>
          </a:p>
        </p:txBody>
      </p:sp>
      <p:sp>
        <p:nvSpPr>
          <p:cNvPr id="1690686616" name="">
            <a:extLst xmlns:a="http://schemas.openxmlformats.org/drawingml/2006/main">
              <a:ext uri="{FF2B5EF4-FFF2-40B4-BE49-F238E27FC236}">
                <a16:creationId xmlns:a16="http://schemas.microsoft.com/office/drawing/2014/main" id="{8F561C12-313A-4318-AAA2-9F4F0990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43250"/>
            <a:ext cx="5238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O agente sugere possibilidades. A pessoa confirma as regras do domínio e decide o que entra nesta entrega.</a:t>
            </a:r>
            <a:endParaRPr/>
          </a:p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endParaRPr/>
          </a:p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Se faltar uma informação que muda o comportamento, resolva a dúvida antes de assumir uma regra.</a:t>
            </a:r>
            <a:endParaRPr/>
          </a:p>
        </p:txBody>
      </p:sp>
      <p:sp>
        <p:nvSpPr>
          <p:cNvPr id="1154077316" name="">
            <a:extLst xmlns:a="http://schemas.openxmlformats.org/drawingml/2006/main">
              <a:ext uri="{FF2B5EF4-FFF2-40B4-BE49-F238E27FC236}">
                <a16:creationId xmlns:a16="http://schemas.microsoft.com/office/drawing/2014/main" id="{E88B964E-4486-4563-8FE8-6E5CA82A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Entrega: regras e limites claros para orientar o PRD e a SPEC desta parte.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4495069"/>
      </p:ext>
    </p:extLst>
  </p:cSld>
</p:sld>
</file>

<file path=ppt/slides/slide31.xml><?xml version="1.0" encoding="utf-8"?>
<p:sld xmlns:p="http://schemas.openxmlformats.org/presentationml/2006/main" showMasterSp="1" show="1">
  <p:cSld>
    <p:bg>
      <p:bgPr>
        <a:solidFill xmlns:a="http://schemas.openxmlformats.org/drawingml/2006/main">
          <a:srgbClr val="F3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7676541" name="">
            <a:extLst xmlns:a="http://schemas.openxmlformats.org/drawingml/2006/main">
              <a:ext uri="{FF2B5EF4-FFF2-40B4-BE49-F238E27FC236}">
                <a16:creationId xmlns:a16="http://schemas.microsoft.com/office/drawing/2014/main" id="{954BAF4F-C99C-4B62-BC22-1B9E30A9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86C5"/>
                </a:solidFill>
                <a:latin typeface="Arial"/>
                <a:ea typeface="Arial"/>
                <a:cs typeface="Arial"/>
              </a:rPr>
              <a:t>31 / 38</a:t>
            </a:r>
            <a:endParaRPr/>
          </a:p>
        </p:txBody>
      </p:sp>
      <p:sp>
        <p:nvSpPr>
          <p:cNvPr id="1140855447" name="">
            <a:extLst xmlns:a="http://schemas.openxmlformats.org/drawingml/2006/main">
              <a:ext uri="{FF2B5EF4-FFF2-40B4-BE49-F238E27FC236}">
                <a16:creationId xmlns:a16="http://schemas.microsoft.com/office/drawing/2014/main" id="{3B0836D7-4DD7-47C4-A4A7-0E78AE92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3. Resumir o contexto e elaborar o PRD</a:t>
            </a:r>
            <a:endParaRPr/>
          </a:p>
        </p:txBody>
      </p:sp>
      <p:sp>
        <p:nvSpPr>
          <p:cNvPr id="1979128717" name="">
            <a:extLst xmlns:a="http://schemas.openxmlformats.org/drawingml/2006/main">
              <a:ext uri="{FF2B5EF4-FFF2-40B4-BE49-F238E27FC236}">
                <a16:creationId xmlns:a16="http://schemas.microsoft.com/office/drawing/2014/main" id="{5485F05C-690C-4EE5-8E81-58D624B6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Um resumo preserva decisões e ajuda a escrever requisitos sem depender de toda a conversa.</a:t>
            </a:r>
            <a:endParaRPr/>
          </a:p>
        </p:txBody>
      </p:sp>
      <p:sp>
        <p:nvSpPr>
          <p:cNvPr id="327843897" name="">
            <a:extLst xmlns:a="http://schemas.openxmlformats.org/drawingml/2006/main">
              <a:ext uri="{FF2B5EF4-FFF2-40B4-BE49-F238E27FC236}">
                <a16:creationId xmlns:a16="http://schemas.microsoft.com/office/drawing/2014/main" id="{43F58BAB-B997-4101-A839-BF5A7237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24125"/>
            <a:ext cx="5286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O que salvar em CONTEXT.md</a:t>
            </a:r>
            <a:endParaRPr/>
          </a:p>
        </p:txBody>
      </p:sp>
      <p:sp>
        <p:nvSpPr>
          <p:cNvPr id="2002280434" name="">
            <a:extLst xmlns:a="http://schemas.openxmlformats.org/drawingml/2006/main">
              <a:ext uri="{FF2B5EF4-FFF2-40B4-BE49-F238E27FC236}">
                <a16:creationId xmlns:a16="http://schemas.microsoft.com/office/drawing/2014/main" id="{BB97110F-5A34-4EB7-9362-51986B5F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24125"/>
            <a:ext cx="5286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456F5"/>
                </a:solidFill>
                <a:latin typeface="Arial"/>
                <a:ea typeface="Arial"/>
                <a:cs typeface="Arial"/>
              </a:rPr>
              <a:t>Como continuar o trabalho</a:t>
            </a:r>
            <a:endParaRPr/>
          </a:p>
        </p:txBody>
      </p:sp>
      <p:sp>
        <p:nvSpPr>
          <p:cNvPr id="722670980" name="">
            <a:extLst xmlns:a="http://schemas.openxmlformats.org/drawingml/2006/main">
              <a:ext uri="{FF2B5EF4-FFF2-40B4-BE49-F238E27FC236}">
                <a16:creationId xmlns:a16="http://schemas.microsoft.com/office/drawing/2014/main" id="{973BC5E0-423E-4D31-85D6-FF8C1C02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52700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2FA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1657938114" name="">
            <a:extLst xmlns:a="http://schemas.openxmlformats.org/drawingml/2006/main">
              <a:ext uri="{FF2B5EF4-FFF2-40B4-BE49-F238E27FC236}">
                <a16:creationId xmlns:a16="http://schemas.microsoft.com/office/drawing/2014/main" id="{694F1809-9E08-4A9D-9AE7-954228D5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519112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Registre objetivo, situação atual, decisões, hipóteses e pendências. Preserve exemplos que alteraram o entendimento.</a:t>
            </a:r>
            <a:endParaRPr/>
          </a:p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endParaRPr/>
          </a:p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Remova repetições e informações pessoais desnecessárias. O resumo acompanha as descobertas.</a:t>
            </a:r>
            <a:endParaRPr/>
          </a:p>
        </p:txBody>
      </p:sp>
      <p:sp>
        <p:nvSpPr>
          <p:cNvPr id="72058612" name="">
            <a:extLst xmlns:a="http://schemas.openxmlformats.org/drawingml/2006/main">
              <a:ext uri="{FF2B5EF4-FFF2-40B4-BE49-F238E27FC236}">
                <a16:creationId xmlns:a16="http://schemas.microsoft.com/office/drawing/2014/main" id="{9896AA53-C225-4A0D-8AFB-D493FE97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43250"/>
            <a:ext cx="5238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Continue na mesma sessão enquanto ela for útil. Se abrir outra, forneça o resumo e as referências relevantes.</a:t>
            </a:r>
            <a:endParaRPr/>
          </a:p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endParaRPr/>
          </a:p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Peça um PRD curto para a parte escolhida e revise dúvidas antes da implementação.</a:t>
            </a:r>
            <a:endParaRPr/>
          </a:p>
        </p:txBody>
      </p:sp>
      <p:sp>
        <p:nvSpPr>
          <p:cNvPr id="1267364212" name="">
            <a:extLst xmlns:a="http://schemas.openxmlformats.org/drawingml/2006/main">
              <a:ext uri="{FF2B5EF4-FFF2-40B4-BE49-F238E27FC236}">
                <a16:creationId xmlns:a16="http://schemas.microsoft.com/office/drawing/2014/main" id="{A5DDC8E6-9825-4AD7-AB8E-796AD78D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Entrega: contexto atualizado e requisitos da próxima funcionalidade.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16585495"/>
      </p:ext>
    </p:extLst>
  </p:cSld>
</p:sld>
</file>

<file path=ppt/slides/slide32.xml><?xml version="1.0" encoding="utf-8"?>
<p:sld xmlns:p="http://schemas.openxmlformats.org/presentationml/2006/main" showMasterSp="1" show="1">
  <p:cSld>
    <p:bg>
      <p:bgPr>
        <a:solidFill xmlns:a="http://schemas.openxmlformats.org/drawingml/2006/main">
          <a:srgbClr val="F3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94853414" name="">
            <a:extLst xmlns:a="http://schemas.openxmlformats.org/drawingml/2006/main">
              <a:ext uri="{FF2B5EF4-FFF2-40B4-BE49-F238E27FC236}">
                <a16:creationId xmlns:a16="http://schemas.microsoft.com/office/drawing/2014/main" id="{EE2D69E9-5859-4139-8D0A-3CA6B166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86C5"/>
                </a:solidFill>
                <a:latin typeface="Arial"/>
                <a:ea typeface="Arial"/>
                <a:cs typeface="Arial"/>
              </a:rPr>
              <a:t>32 / 38</a:t>
            </a:r>
            <a:endParaRPr/>
          </a:p>
        </p:txBody>
      </p:sp>
      <p:sp>
        <p:nvSpPr>
          <p:cNvPr id="1274532080" name="">
            <a:extLst xmlns:a="http://schemas.openxmlformats.org/drawingml/2006/main">
              <a:ext uri="{FF2B5EF4-FFF2-40B4-BE49-F238E27FC236}">
                <a16:creationId xmlns:a16="http://schemas.microsoft.com/office/drawing/2014/main" id="{EB305E13-93DB-4856-980C-A621B489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3. PRD.md: objetivo, escopo e aceitação</a:t>
            </a:r>
            <a:endParaRPr/>
          </a:p>
        </p:txBody>
      </p:sp>
      <p:sp>
        <p:nvSpPr>
          <p:cNvPr id="340437711" name="">
            <a:extLst xmlns:a="http://schemas.openxmlformats.org/drawingml/2006/main">
              <a:ext uri="{FF2B5EF4-FFF2-40B4-BE49-F238E27FC236}">
                <a16:creationId xmlns:a16="http://schemas.microsoft.com/office/drawing/2014/main" id="{130D0C0D-1BD1-4A82-B73F-9D353D5F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O PRD registra o que a entrega deve resolver e como reconhecer que ela atende ao usuário.</a:t>
            </a:r>
            <a:endParaRPr/>
          </a:p>
        </p:txBody>
      </p:sp>
      <p:sp>
        <p:nvSpPr>
          <p:cNvPr id="1862436167" name="">
            <a:extLst xmlns:a="http://schemas.openxmlformats.org/drawingml/2006/main">
              <a:ext uri="{FF2B5EF4-FFF2-40B4-BE49-F238E27FC236}">
                <a16:creationId xmlns:a16="http://schemas.microsoft.com/office/drawing/2014/main" id="{01700F73-1C39-4BB0-B573-A034E7DD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24125"/>
            <a:ext cx="5286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Conteúdo suficiente</a:t>
            </a:r>
            <a:endParaRPr/>
          </a:p>
        </p:txBody>
      </p:sp>
      <p:sp>
        <p:nvSpPr>
          <p:cNvPr id="280325147" name="">
            <a:extLst xmlns:a="http://schemas.openxmlformats.org/drawingml/2006/main">
              <a:ext uri="{FF2B5EF4-FFF2-40B4-BE49-F238E27FC236}">
                <a16:creationId xmlns:a16="http://schemas.microsoft.com/office/drawing/2014/main" id="{D1844E71-FEA6-406C-B8B4-3A2660EE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24125"/>
            <a:ext cx="5286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456F5"/>
                </a:solidFill>
                <a:latin typeface="Arial"/>
                <a:ea typeface="Arial"/>
                <a:cs typeface="Arial"/>
              </a:rPr>
              <a:t>Uso durante os ciclos</a:t>
            </a:r>
            <a:endParaRPr/>
          </a:p>
        </p:txBody>
      </p:sp>
      <p:sp>
        <p:nvSpPr>
          <p:cNvPr id="1839355413" name="">
            <a:extLst xmlns:a="http://schemas.openxmlformats.org/drawingml/2006/main">
              <a:ext uri="{FF2B5EF4-FFF2-40B4-BE49-F238E27FC236}">
                <a16:creationId xmlns:a16="http://schemas.microsoft.com/office/drawing/2014/main" id="{D59FCB6D-6DAF-4E63-A065-83B884BF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52700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2FA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780510748" name="">
            <a:extLst xmlns:a="http://schemas.openxmlformats.org/drawingml/2006/main">
              <a:ext uri="{FF2B5EF4-FFF2-40B4-BE49-F238E27FC236}">
                <a16:creationId xmlns:a16="http://schemas.microsoft.com/office/drawing/2014/main" id="{C5AE831C-9B85-41F3-9A33-4F959FA0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519112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Descreva o problema, o público e o resultado desejado. Delimite o que entra e o que fica fora desta entrega.</a:t>
            </a:r>
            <a:endParaRPr/>
          </a:p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endParaRPr/>
          </a:p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Inclua regras e critérios de aceitação observáveis, usando exemplos pequenos.</a:t>
            </a:r>
            <a:endParaRPr/>
          </a:p>
        </p:txBody>
      </p:sp>
      <p:sp>
        <p:nvSpPr>
          <p:cNvPr id="1487205106" name="">
            <a:extLst xmlns:a="http://schemas.openxmlformats.org/drawingml/2006/main">
              <a:ext uri="{FF2B5EF4-FFF2-40B4-BE49-F238E27FC236}">
                <a16:creationId xmlns:a16="http://schemas.microsoft.com/office/drawing/2014/main" id="{5CA21E31-5894-4743-97DB-1B204B90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43250"/>
            <a:ext cx="5238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Use o documento para discutir a necessidade e revisar o resultado. Se o entendimento mudar, atualize os requisitos e avalie o impacto.</a:t>
            </a:r>
            <a:endParaRPr/>
          </a:p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endParaRPr/>
          </a:p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PRD.md é uma convenção de organização; não é obrigatório em toda tarefa.</a:t>
            </a:r>
            <a:endParaRPr/>
          </a:p>
        </p:txBody>
      </p:sp>
      <p:sp>
        <p:nvSpPr>
          <p:cNvPr id="1417743913" name="">
            <a:extLst xmlns:a="http://schemas.openxmlformats.org/drawingml/2006/main">
              <a:ext uri="{FF2B5EF4-FFF2-40B4-BE49-F238E27FC236}">
                <a16:creationId xmlns:a16="http://schemas.microsoft.com/office/drawing/2014/main" id="{FA45031C-C70D-486C-A5F7-AB44D95D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Entrega: referência de produto proporcional à funcionalidade escolhida.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52109139"/>
      </p:ext>
    </p:extLst>
  </p:cSld>
</p:sld>
</file>

<file path=ppt/slides/slide33.xml><?xml version="1.0" encoding="utf-8"?>
<p:sld xmlns:p="http://schemas.openxmlformats.org/presentationml/2006/main" showMasterSp="1" show="1">
  <p:cSld>
    <p:bg>
      <p:bgPr>
        <a:solidFill xmlns:a="http://schemas.openxmlformats.org/drawingml/2006/main">
          <a:srgbClr val="F3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1544961" name="">
            <a:extLst xmlns:a="http://schemas.openxmlformats.org/drawingml/2006/main">
              <a:ext uri="{FF2B5EF4-FFF2-40B4-BE49-F238E27FC236}">
                <a16:creationId xmlns:a16="http://schemas.microsoft.com/office/drawing/2014/main" id="{21FDE7EF-2A3B-471B-9AC6-D43F0014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86C5"/>
                </a:solidFill>
                <a:latin typeface="Arial"/>
                <a:ea typeface="Arial"/>
                <a:cs typeface="Arial"/>
              </a:rPr>
              <a:t>33 / 38</a:t>
            </a:r>
            <a:endParaRPr/>
          </a:p>
        </p:txBody>
      </p:sp>
      <p:sp>
        <p:nvSpPr>
          <p:cNvPr id="1166840308" name="">
            <a:extLst xmlns:a="http://schemas.openxmlformats.org/drawingml/2006/main">
              <a:ext uri="{FF2B5EF4-FFF2-40B4-BE49-F238E27FC236}">
                <a16:creationId xmlns:a16="http://schemas.microsoft.com/office/drawing/2014/main" id="{588C1563-6543-493F-BC54-4C405D6A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4. Validar o PRD com quem conhece o problema</a:t>
            </a:r>
            <a:endParaRPr/>
          </a:p>
        </p:txBody>
      </p:sp>
      <p:sp>
        <p:nvSpPr>
          <p:cNvPr id="1722099601" name="">
            <a:extLst xmlns:a="http://schemas.openxmlformats.org/drawingml/2006/main">
              <a:ext uri="{FF2B5EF4-FFF2-40B4-BE49-F238E27FC236}">
                <a16:creationId xmlns:a16="http://schemas.microsoft.com/office/drawing/2014/main" id="{028DB26D-85CE-4108-B9B2-693158D7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 validação confirma as regras e o resultado esperado da parte que será construída agora.</a:t>
            </a:r>
            <a:endParaRPr/>
          </a:p>
        </p:txBody>
      </p:sp>
      <p:sp>
        <p:nvSpPr>
          <p:cNvPr id="853576249" name="">
            <a:extLst xmlns:a="http://schemas.openxmlformats.org/drawingml/2006/main">
              <a:ext uri="{FF2B5EF4-FFF2-40B4-BE49-F238E27FC236}">
                <a16:creationId xmlns:a16="http://schemas.microsoft.com/office/drawing/2014/main" id="{8E05A4BB-6162-45AA-A52D-FC21B650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24125"/>
            <a:ext cx="5286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Como revisar</a:t>
            </a:r>
            <a:endParaRPr/>
          </a:p>
        </p:txBody>
      </p:sp>
      <p:sp>
        <p:nvSpPr>
          <p:cNvPr id="401476165" name="">
            <a:extLst xmlns:a="http://schemas.openxmlformats.org/drawingml/2006/main">
              <a:ext uri="{FF2B5EF4-FFF2-40B4-BE49-F238E27FC236}">
                <a16:creationId xmlns:a16="http://schemas.microsoft.com/office/drawing/2014/main" id="{12075CDB-72A7-4ED4-A902-A0BFAB7E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24125"/>
            <a:ext cx="5286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456F5"/>
                </a:solidFill>
                <a:latin typeface="Arial"/>
                <a:ea typeface="Arial"/>
                <a:cs typeface="Arial"/>
              </a:rPr>
              <a:t>Quando houver mudança</a:t>
            </a:r>
            <a:endParaRPr/>
          </a:p>
        </p:txBody>
      </p:sp>
      <p:sp>
        <p:nvSpPr>
          <p:cNvPr id="949062964" name="">
            <a:extLst xmlns:a="http://schemas.openxmlformats.org/drawingml/2006/main">
              <a:ext uri="{FF2B5EF4-FFF2-40B4-BE49-F238E27FC236}">
                <a16:creationId xmlns:a16="http://schemas.microsoft.com/office/drawing/2014/main" id="{F4B43C86-A276-45C3-BFF3-0513F738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52700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2FA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1412126296" name="">
            <a:extLst xmlns:a="http://schemas.openxmlformats.org/drawingml/2006/main">
              <a:ext uri="{FF2B5EF4-FFF2-40B4-BE49-F238E27FC236}">
                <a16:creationId xmlns:a16="http://schemas.microsoft.com/office/drawing/2014/main" id="{8061D632-7795-4843-8CCF-D8B1E95F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519112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Percorra um exemplo normal e uma exceção. Procure termos vagos, contradições e regras sem justificativa.</a:t>
            </a:r>
            <a:endParaRPr/>
          </a:p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endParaRPr/>
          </a:p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Cada critério deve permitir comparar o que foi pedido com o que foi entregue.</a:t>
            </a:r>
            <a:endParaRPr/>
          </a:p>
        </p:txBody>
      </p:sp>
      <p:sp>
        <p:nvSpPr>
          <p:cNvPr id="610596207" name="">
            <a:extLst xmlns:a="http://schemas.openxmlformats.org/drawingml/2006/main">
              <a:ext uri="{FF2B5EF4-FFF2-40B4-BE49-F238E27FC236}">
                <a16:creationId xmlns:a16="http://schemas.microsoft.com/office/drawing/2014/main" id="{D821F39A-1AE9-411E-8B88-6FC070CA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43250"/>
            <a:ext cx="5238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Confirme prioridade e limites com o responsável. Resolva as dúvidas que impedem o próximo passo.</a:t>
            </a:r>
            <a:endParaRPr/>
          </a:p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endParaRPr/>
          </a:p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Uma nova evidência pode mudar o requisito. Nesse caso, confirme a mudança e atualize as referências afetadas.</a:t>
            </a:r>
            <a:endParaRPr/>
          </a:p>
        </p:txBody>
      </p:sp>
      <p:sp>
        <p:nvSpPr>
          <p:cNvPr id="565394868" name="">
            <a:extLst xmlns:a="http://schemas.openxmlformats.org/drawingml/2006/main">
              <a:ext uri="{FF2B5EF4-FFF2-40B4-BE49-F238E27FC236}">
                <a16:creationId xmlns:a16="http://schemas.microsoft.com/office/drawing/2014/main" id="{FF6C466E-A345-459D-93B2-717D586E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Entrega: requisitos suficientemente claros para especificar a próxima parte.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70325874"/>
      </p:ext>
    </p:extLst>
  </p:cSld>
</p:sld>
</file>

<file path=ppt/slides/slide34.xml><?xml version="1.0" encoding="utf-8"?>
<p:sld xmlns:p="http://schemas.openxmlformats.org/presentationml/2006/main" showMasterSp="1" show="1">
  <p:cSld>
    <p:bg>
      <p:bgPr>
        <a:solidFill xmlns:a="http://schemas.openxmlformats.org/drawingml/2006/main">
          <a:srgbClr val="F3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159932" name="">
            <a:extLst xmlns:a="http://schemas.openxmlformats.org/drawingml/2006/main">
              <a:ext uri="{FF2B5EF4-FFF2-40B4-BE49-F238E27FC236}">
                <a16:creationId xmlns:a16="http://schemas.microsoft.com/office/drawing/2014/main" id="{7424992D-25E4-4AEA-AC47-B84B40A9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86C5"/>
                </a:solidFill>
                <a:latin typeface="Arial"/>
                <a:ea typeface="Arial"/>
                <a:cs typeface="Arial"/>
              </a:rPr>
              <a:t>34 / 38</a:t>
            </a:r>
            <a:endParaRPr/>
          </a:p>
        </p:txBody>
      </p:sp>
      <p:sp>
        <p:nvSpPr>
          <p:cNvPr id="537418465" name="">
            <a:extLst xmlns:a="http://schemas.openxmlformats.org/drawingml/2006/main">
              <a:ext uri="{FF2B5EF4-FFF2-40B4-BE49-F238E27FC236}">
                <a16:creationId xmlns:a16="http://schemas.microsoft.com/office/drawing/2014/main" id="{C8A70739-5F1A-4AA8-997F-1C0CAA10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5. SPEC.md: regras e decisões para implementar</a:t>
            </a:r>
            <a:endParaRPr/>
          </a:p>
        </p:txBody>
      </p:sp>
      <p:sp>
        <p:nvSpPr>
          <p:cNvPr id="1123476094" name="">
            <a:extLst xmlns:a="http://schemas.openxmlformats.org/drawingml/2006/main">
              <a:ext uri="{FF2B5EF4-FFF2-40B4-BE49-F238E27FC236}">
                <a16:creationId xmlns:a16="http://schemas.microsoft.com/office/drawing/2014/main" id="{5A6FF9E6-F373-456D-BBC8-6BFCC062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 especificação orienta a implementação e evolui conforme surgem decisões e aprendizados.</a:t>
            </a:r>
            <a:endParaRPr/>
          </a:p>
        </p:txBody>
      </p:sp>
      <p:sp>
        <p:nvSpPr>
          <p:cNvPr id="1305726886" name="">
            <a:extLst xmlns:a="http://schemas.openxmlformats.org/drawingml/2006/main">
              <a:ext uri="{FF2B5EF4-FFF2-40B4-BE49-F238E27FC236}">
                <a16:creationId xmlns:a16="http://schemas.microsoft.com/office/drawing/2014/main" id="{E845BACF-33BF-44A7-846E-60122647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24125"/>
            <a:ext cx="5286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O que detalhar</a:t>
            </a:r>
            <a:endParaRPr/>
          </a:p>
        </p:txBody>
      </p:sp>
      <p:sp>
        <p:nvSpPr>
          <p:cNvPr id="1311936694" name="">
            <a:extLst xmlns:a="http://schemas.openxmlformats.org/drawingml/2006/main">
              <a:ext uri="{FF2B5EF4-FFF2-40B4-BE49-F238E27FC236}">
                <a16:creationId xmlns:a16="http://schemas.microsoft.com/office/drawing/2014/main" id="{DC6EA288-FBBD-4AF6-9921-B99DAC7B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24125"/>
            <a:ext cx="5286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456F5"/>
                </a:solidFill>
                <a:latin typeface="Arial"/>
                <a:ea typeface="Arial"/>
                <a:cs typeface="Arial"/>
              </a:rPr>
              <a:t>Como manter viva</a:t>
            </a:r>
            <a:endParaRPr/>
          </a:p>
        </p:txBody>
      </p:sp>
      <p:sp>
        <p:nvSpPr>
          <p:cNvPr id="1710175115" name="">
            <a:extLst xmlns:a="http://schemas.openxmlformats.org/drawingml/2006/main">
              <a:ext uri="{FF2B5EF4-FFF2-40B4-BE49-F238E27FC236}">
                <a16:creationId xmlns:a16="http://schemas.microsoft.com/office/drawing/2014/main" id="{92160CAC-E96E-4B73-A4E7-D84D5344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52700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2FA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889173959" name="">
            <a:extLst xmlns:a="http://schemas.openxmlformats.org/drawingml/2006/main">
              <a:ext uri="{FF2B5EF4-FFF2-40B4-BE49-F238E27FC236}">
                <a16:creationId xmlns:a16="http://schemas.microsoft.com/office/drawing/2014/main" id="{36898B37-804F-4477-8440-5AE8AB7E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519112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Registre entradas, saídas, regras, erros e contratos relevantes. Defina validações e decisões que afetam segurança ou integração.</a:t>
            </a:r>
            <a:endParaRPr/>
          </a:p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endParaRPr/>
          </a:p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Vincule as regras a exemplos ou verificações.</a:t>
            </a:r>
            <a:endParaRPr/>
          </a:p>
        </p:txBody>
      </p:sp>
      <p:sp>
        <p:nvSpPr>
          <p:cNvPr id="1715853676" name="">
            <a:extLst xmlns:a="http://schemas.openxmlformats.org/drawingml/2006/main">
              <a:ext uri="{FF2B5EF4-FFF2-40B4-BE49-F238E27FC236}">
                <a16:creationId xmlns:a16="http://schemas.microsoft.com/office/drawing/2014/main" id="{684BC14D-C1A2-48C6-9C74-E855CEC7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43250"/>
            <a:ext cx="5238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Comece com o detalhe necessário à próxima funcionalidade. Evite antecipar cada variável ou solução futura.</a:t>
            </a:r>
            <a:endParaRPr/>
          </a:p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endParaRPr/>
          </a:p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Atualize a SPEC quando mudar uma regra ou quando a implementação revelar uma restrição importante.</a:t>
            </a:r>
            <a:endParaRPr/>
          </a:p>
        </p:txBody>
      </p:sp>
      <p:sp>
        <p:nvSpPr>
          <p:cNvPr id="1875735015" name="">
            <a:extLst xmlns:a="http://schemas.openxmlformats.org/drawingml/2006/main">
              <a:ext uri="{FF2B5EF4-FFF2-40B4-BE49-F238E27FC236}">
                <a16:creationId xmlns:a16="http://schemas.microsoft.com/office/drawing/2014/main" id="{6FC3B5A2-DC72-4092-ABC7-5DEFB016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Entrega: especificação verificável e coerente com o PRD atual.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80759537"/>
      </p:ext>
    </p:extLst>
  </p:cSld>
</p:sld>
</file>

<file path=ppt/slides/slide35.xml><?xml version="1.0" encoding="utf-8"?>
<p:sld xmlns:p="http://schemas.openxmlformats.org/presentationml/2006/main" showMasterSp="1" show="1">
  <p:cSld>
    <p:bg>
      <p:bgPr>
        <a:solidFill xmlns:a="http://schemas.openxmlformats.org/drawingml/2006/main">
          <a:srgbClr val="F3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6929582" name="">
            <a:extLst xmlns:a="http://schemas.openxmlformats.org/drawingml/2006/main">
              <a:ext uri="{FF2B5EF4-FFF2-40B4-BE49-F238E27FC236}">
                <a16:creationId xmlns:a16="http://schemas.microsoft.com/office/drawing/2014/main" id="{BB657BAC-ECAB-4C6D-B75E-98A5E332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86C5"/>
                </a:solidFill>
                <a:latin typeface="Arial"/>
                <a:ea typeface="Arial"/>
                <a:cs typeface="Arial"/>
              </a:rPr>
              <a:t>35 / 38</a:t>
            </a:r>
            <a:endParaRPr/>
          </a:p>
        </p:txBody>
      </p:sp>
      <p:sp>
        <p:nvSpPr>
          <p:cNvPr id="2012226759" name="">
            <a:extLst xmlns:a="http://schemas.openxmlformats.org/drawingml/2006/main">
              <a:ext uri="{FF2B5EF4-FFF2-40B4-BE49-F238E27FC236}">
                <a16:creationId xmlns:a16="http://schemas.microsoft.com/office/drawing/2014/main" id="{49605A9A-36D9-4E21-A1BA-18F14305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6. Preparar o ambiente e o versionamento</a:t>
            </a:r>
            <a:endParaRPr/>
          </a:p>
        </p:txBody>
      </p:sp>
      <p:sp>
        <p:nvSpPr>
          <p:cNvPr id="408177420" name="">
            <a:extLst xmlns:a="http://schemas.openxmlformats.org/drawingml/2006/main">
              <a:ext uri="{FF2B5EF4-FFF2-40B4-BE49-F238E27FC236}">
                <a16:creationId xmlns:a16="http://schemas.microsoft.com/office/drawing/2014/main" id="{085B48A8-5A15-4519-AF8C-732FB034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Modelo, harness e ambiente precisam permitir implementar, verificar e revisar a mudança.</a:t>
            </a:r>
            <a:endParaRPr/>
          </a:p>
        </p:txBody>
      </p:sp>
      <p:sp>
        <p:nvSpPr>
          <p:cNvPr id="1306168378" name="">
            <a:extLst xmlns:a="http://schemas.openxmlformats.org/drawingml/2006/main">
              <a:ext uri="{FF2B5EF4-FFF2-40B4-BE49-F238E27FC236}">
                <a16:creationId xmlns:a16="http://schemas.microsoft.com/office/drawing/2014/main" id="{48AF235B-FAD1-400E-A8BB-8FECF443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24125"/>
            <a:ext cx="5286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Escolhas e configuração</a:t>
            </a:r>
            <a:endParaRPr/>
          </a:p>
        </p:txBody>
      </p:sp>
      <p:sp>
        <p:nvSpPr>
          <p:cNvPr id="2060886685" name="">
            <a:extLst xmlns:a="http://schemas.openxmlformats.org/drawingml/2006/main">
              <a:ext uri="{FF2B5EF4-FFF2-40B4-BE49-F238E27FC236}">
                <a16:creationId xmlns:a16="http://schemas.microsoft.com/office/drawing/2014/main" id="{BCC33ED7-45DE-4412-960A-1B01C57D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24125"/>
            <a:ext cx="5286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456F5"/>
                </a:solidFill>
                <a:latin typeface="Arial"/>
                <a:ea typeface="Arial"/>
                <a:cs typeface="Arial"/>
              </a:rPr>
              <a:t>Repositório do projeto</a:t>
            </a:r>
            <a:endParaRPr/>
          </a:p>
        </p:txBody>
      </p:sp>
      <p:sp>
        <p:nvSpPr>
          <p:cNvPr id="594799" name="">
            <a:extLst xmlns:a="http://schemas.openxmlformats.org/drawingml/2006/main">
              <a:ext uri="{FF2B5EF4-FFF2-40B4-BE49-F238E27FC236}">
                <a16:creationId xmlns:a16="http://schemas.microsoft.com/office/drawing/2014/main" id="{92D10E5F-A1EF-478E-9EB8-620C8829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52700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2FA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101582545" name="">
            <a:extLst xmlns:a="http://schemas.openxmlformats.org/drawingml/2006/main">
              <a:ext uri="{FF2B5EF4-FFF2-40B4-BE49-F238E27FC236}">
                <a16:creationId xmlns:a16="http://schemas.microsoft.com/office/drawing/2014/main" id="{409AE627-CB30-4DDF-8EE5-979E6C9A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519112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Escolha modelo e ferramentas conforme a tarefa e os dados permitidos. Prepare dependências e comandos de execução.</a:t>
            </a:r>
            <a:endParaRPr/>
          </a:p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endParaRPr/>
          </a:p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Configure permissões e mantenha credenciais fora do código versionado.</a:t>
            </a:r>
            <a:endParaRPr/>
          </a:p>
        </p:txBody>
      </p:sp>
      <p:sp>
        <p:nvSpPr>
          <p:cNvPr id="557399176" name="">
            <a:extLst xmlns:a="http://schemas.openxmlformats.org/drawingml/2006/main">
              <a:ext uri="{FF2B5EF4-FFF2-40B4-BE49-F238E27FC236}">
                <a16:creationId xmlns:a16="http://schemas.microsoft.com/office/drawing/2014/main" id="{5489C51C-AA9E-4A5B-8A12-55CAE046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43250"/>
            <a:ext cx="5238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Crie o repositório GitHub uma vez por projeto. Registre instruções e configure as verificações automáticas do CI.</a:t>
            </a:r>
            <a:endParaRPr/>
          </a:p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endParaRPr/>
          </a:p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Para cada parte delimitada, use uma branch e preserve um caminho para recuperar a versão anterior.</a:t>
            </a:r>
            <a:endParaRPr/>
          </a:p>
        </p:txBody>
      </p:sp>
      <p:sp>
        <p:nvSpPr>
          <p:cNvPr id="348012098" name="">
            <a:extLst xmlns:a="http://schemas.openxmlformats.org/drawingml/2006/main">
              <a:ext uri="{FF2B5EF4-FFF2-40B4-BE49-F238E27FC236}">
                <a16:creationId xmlns:a16="http://schemas.microsoft.com/office/drawing/2014/main" id="{433D7F25-2EBD-45C4-BE57-2EEF9FF4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Entrega: ambiente executável, versionamento e verificações disponíveis.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33954893"/>
      </p:ext>
    </p:extLst>
  </p:cSld>
</p:sld>
</file>

<file path=ppt/slides/slide36.xml><?xml version="1.0" encoding="utf-8"?>
<p:sld xmlns:p="http://schemas.openxmlformats.org/presentationml/2006/main" showMasterSp="1" show="1">
  <p:cSld>
    <p:bg>
      <p:bgPr>
        <a:solidFill xmlns:a="http://schemas.openxmlformats.org/drawingml/2006/main">
          <a:srgbClr val="F3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1824563" name="">
            <a:extLst xmlns:a="http://schemas.openxmlformats.org/drawingml/2006/main">
              <a:ext uri="{FF2B5EF4-FFF2-40B4-BE49-F238E27FC236}">
                <a16:creationId xmlns:a16="http://schemas.microsoft.com/office/drawing/2014/main" id="{85992119-242B-4115-A7BC-2C79D1BC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86C5"/>
                </a:solidFill>
                <a:latin typeface="Arial"/>
                <a:ea typeface="Arial"/>
                <a:cs typeface="Arial"/>
              </a:rPr>
              <a:t>36 / 38</a:t>
            </a:r>
            <a:endParaRPr/>
          </a:p>
        </p:txBody>
      </p:sp>
      <p:sp>
        <p:nvSpPr>
          <p:cNvPr id="533461163" name="">
            <a:extLst xmlns:a="http://schemas.openxmlformats.org/drawingml/2006/main">
              <a:ext uri="{FF2B5EF4-FFF2-40B4-BE49-F238E27FC236}">
                <a16:creationId xmlns:a16="http://schemas.microsoft.com/office/drawing/2014/main" id="{91416852-DF19-4A10-A96F-A5D94D38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6. Implementar uma parte revisável</a:t>
            </a:r>
            <a:endParaRPr/>
          </a:p>
        </p:txBody>
      </p:sp>
      <p:sp>
        <p:nvSpPr>
          <p:cNvPr id="1090961098" name="">
            <a:extLst xmlns:a="http://schemas.openxmlformats.org/drawingml/2006/main">
              <a:ext uri="{FF2B5EF4-FFF2-40B4-BE49-F238E27FC236}">
                <a16:creationId xmlns:a16="http://schemas.microsoft.com/office/drawing/2014/main" id="{165705D2-FD08-440F-B626-E4C719D6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O agente trabalha com referências claras, enquanto a pessoa acompanha decisões e resultados.</a:t>
            </a:r>
            <a:endParaRPr/>
          </a:p>
        </p:txBody>
      </p:sp>
      <p:sp>
        <p:nvSpPr>
          <p:cNvPr id="865070225" name="">
            <a:extLst xmlns:a="http://schemas.openxmlformats.org/drawingml/2006/main">
              <a:ext uri="{FF2B5EF4-FFF2-40B4-BE49-F238E27FC236}">
                <a16:creationId xmlns:a16="http://schemas.microsoft.com/office/drawing/2014/main" id="{42DFBB7D-CEB9-4DDB-8055-EC4475D8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24125"/>
            <a:ext cx="5286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Durante a implementação</a:t>
            </a:r>
            <a:endParaRPr/>
          </a:p>
        </p:txBody>
      </p:sp>
      <p:sp>
        <p:nvSpPr>
          <p:cNvPr id="1666207805" name="">
            <a:extLst xmlns:a="http://schemas.openxmlformats.org/drawingml/2006/main">
              <a:ext uri="{FF2B5EF4-FFF2-40B4-BE49-F238E27FC236}">
                <a16:creationId xmlns:a16="http://schemas.microsoft.com/office/drawing/2014/main" id="{A17ABAD0-10BF-4819-8EB8-00488441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24125"/>
            <a:ext cx="5286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456F5"/>
                </a:solidFill>
                <a:latin typeface="Arial"/>
                <a:ea typeface="Arial"/>
                <a:cs typeface="Arial"/>
              </a:rPr>
              <a:t>Antes de integrar</a:t>
            </a:r>
            <a:endParaRPr/>
          </a:p>
        </p:txBody>
      </p:sp>
      <p:sp>
        <p:nvSpPr>
          <p:cNvPr id="960011804" name="">
            <a:extLst xmlns:a="http://schemas.openxmlformats.org/drawingml/2006/main">
              <a:ext uri="{FF2B5EF4-FFF2-40B4-BE49-F238E27FC236}">
                <a16:creationId xmlns:a16="http://schemas.microsoft.com/office/drawing/2014/main" id="{11CD39D9-6E25-4368-9D2C-88FD65DF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52700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2FA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322051692" name="">
            <a:extLst xmlns:a="http://schemas.openxmlformats.org/drawingml/2006/main">
              <a:ext uri="{FF2B5EF4-FFF2-40B4-BE49-F238E27FC236}">
                <a16:creationId xmlns:a16="http://schemas.microsoft.com/office/drawing/2014/main" id="{553992CA-D8D5-4344-AE6F-2E0CFE60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519112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Peça a leitura das referências da tarefa. Implemente uma parte por vez, verifique as regras e simplifique quando necessário.</a:t>
            </a:r>
            <a:endParaRPr/>
          </a:p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endParaRPr/>
          </a:p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Converse com o agente durante o trabalho e revise mudanças que alterem o comportamento.</a:t>
            </a:r>
            <a:endParaRPr/>
          </a:p>
        </p:txBody>
      </p:sp>
      <p:sp>
        <p:nvSpPr>
          <p:cNvPr id="1524342109" name="">
            <a:extLst xmlns:a="http://schemas.openxmlformats.org/drawingml/2006/main">
              <a:ext uri="{FF2B5EF4-FFF2-40B4-BE49-F238E27FC236}">
                <a16:creationId xmlns:a16="http://schemas.microsoft.com/office/drawing/2014/main" id="{A8F41828-E83F-474B-8B0C-259AA2F8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43250"/>
            <a:ext cx="5238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Execute os testes relevantes e confira o resultado. Faça commits compreensíveis, envie a branch e abra um PR.</a:t>
            </a:r>
            <a:endParaRPr/>
          </a:p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endParaRPr/>
          </a:p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 revisão e o CI precisam passar antes de integrar. Correções continuam no mesmo PR.</a:t>
            </a:r>
            <a:endParaRPr/>
          </a:p>
        </p:txBody>
      </p:sp>
      <p:sp>
        <p:nvSpPr>
          <p:cNvPr id="965566388" name="">
            <a:extLst xmlns:a="http://schemas.openxmlformats.org/drawingml/2006/main">
              <a:ext uri="{FF2B5EF4-FFF2-40B4-BE49-F238E27FC236}">
                <a16:creationId xmlns:a16="http://schemas.microsoft.com/office/drawing/2014/main" id="{DE5CC74A-A2A5-4BFE-B9D4-8960185C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Entrega: uma mudança pequena, compreendida e pronta para validação em uso.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10610539"/>
      </p:ext>
    </p:extLst>
  </p:cSld>
</p:sld>
</file>

<file path=ppt/slides/slide37.xml><?xml version="1.0" encoding="utf-8"?>
<p:sld xmlns:p="http://schemas.openxmlformats.org/presentationml/2006/main" showMasterSp="1" show="1">
  <p:cSld>
    <p:bg>
      <p:bgPr>
        <a:solidFill xmlns:a="http://schemas.openxmlformats.org/drawingml/2006/main">
          <a:srgbClr val="F3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5834271" name="">
            <a:extLst xmlns:a="http://schemas.openxmlformats.org/drawingml/2006/main">
              <a:ext uri="{FF2B5EF4-FFF2-40B4-BE49-F238E27FC236}">
                <a16:creationId xmlns:a16="http://schemas.microsoft.com/office/drawing/2014/main" id="{76CF807B-E8B3-495B-B7CB-5918B4A0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86C5"/>
                </a:solidFill>
                <a:latin typeface="Arial"/>
                <a:ea typeface="Arial"/>
                <a:cs typeface="Arial"/>
              </a:rPr>
              <a:t>37 / 38</a:t>
            </a:r>
            <a:endParaRPr/>
          </a:p>
        </p:txBody>
      </p:sp>
      <p:sp>
        <p:nvSpPr>
          <p:cNvPr id="445275900" name="">
            <a:extLst xmlns:a="http://schemas.openxmlformats.org/drawingml/2006/main">
              <a:ext uri="{FF2B5EF4-FFF2-40B4-BE49-F238E27FC236}">
                <a16:creationId xmlns:a16="http://schemas.microsoft.com/office/drawing/2014/main" id="{E4137EAE-1D1A-49AD-B03B-3F08AACD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7. Testar e validar a funcionalidade</a:t>
            </a:r>
            <a:endParaRPr/>
          </a:p>
        </p:txBody>
      </p:sp>
      <p:sp>
        <p:nvSpPr>
          <p:cNvPr id="1224805988" name="">
            <a:extLst xmlns:a="http://schemas.openxmlformats.org/drawingml/2006/main">
              <a:ext uri="{FF2B5EF4-FFF2-40B4-BE49-F238E27FC236}">
                <a16:creationId xmlns:a16="http://schemas.microsoft.com/office/drawing/2014/main" id="{4CEEE650-1BC1-4295-845B-9B4A175A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Compare o comportamento observado com os critérios de aceitação e com exemplos conhecidos.</a:t>
            </a:r>
            <a:endParaRPr/>
          </a:p>
        </p:txBody>
      </p:sp>
      <p:sp>
        <p:nvSpPr>
          <p:cNvPr id="699259884" name="">
            <a:extLst xmlns:a="http://schemas.openxmlformats.org/drawingml/2006/main">
              <a:ext uri="{FF2B5EF4-FFF2-40B4-BE49-F238E27FC236}">
                <a16:creationId xmlns:a16="http://schemas.microsoft.com/office/drawing/2014/main" id="{D3CFF740-E392-41C8-A428-D1DEFD7E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24125"/>
            <a:ext cx="5286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Verificações adequadas</a:t>
            </a:r>
            <a:endParaRPr/>
          </a:p>
        </p:txBody>
      </p:sp>
      <p:sp>
        <p:nvSpPr>
          <p:cNvPr id="1736995217" name="">
            <a:extLst xmlns:a="http://schemas.openxmlformats.org/drawingml/2006/main">
              <a:ext uri="{FF2B5EF4-FFF2-40B4-BE49-F238E27FC236}">
                <a16:creationId xmlns:a16="http://schemas.microsoft.com/office/drawing/2014/main" id="{681C16F4-30ED-4EC7-ACC4-3EE6CDAF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24125"/>
            <a:ext cx="5286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456F5"/>
                </a:solidFill>
                <a:latin typeface="Arial"/>
                <a:ea typeface="Arial"/>
                <a:cs typeface="Arial"/>
              </a:rPr>
              <a:t>Aceitação da entrega</a:t>
            </a:r>
            <a:endParaRPr/>
          </a:p>
        </p:txBody>
      </p:sp>
      <p:sp>
        <p:nvSpPr>
          <p:cNvPr id="1961608916" name="">
            <a:extLst xmlns:a="http://schemas.openxmlformats.org/drawingml/2006/main">
              <a:ext uri="{FF2B5EF4-FFF2-40B4-BE49-F238E27FC236}">
                <a16:creationId xmlns:a16="http://schemas.microsoft.com/office/drawing/2014/main" id="{2D0FA723-966C-4174-935C-0AAB8FD0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52700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2FA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523533315" name="">
            <a:extLst xmlns:a="http://schemas.openxmlformats.org/drawingml/2006/main">
              <a:ext uri="{FF2B5EF4-FFF2-40B4-BE49-F238E27FC236}">
                <a16:creationId xmlns:a16="http://schemas.microsoft.com/office/drawing/2014/main" id="{1F45FE9C-51FC-4F0E-B636-63694937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519112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Combine testes de regras, integrações e interface conforme a mudança. Inclua erros e limites importantes.</a:t>
            </a:r>
            <a:endParaRPr/>
          </a:p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endParaRPr/>
          </a:p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Confira também se uma alteração quebrou algo que já funcionava.</a:t>
            </a:r>
            <a:endParaRPr/>
          </a:p>
        </p:txBody>
      </p:sp>
      <p:sp>
        <p:nvSpPr>
          <p:cNvPr id="1307817814" name="">
            <a:extLst xmlns:a="http://schemas.openxmlformats.org/drawingml/2006/main">
              <a:ext uri="{FF2B5EF4-FFF2-40B4-BE49-F238E27FC236}">
                <a16:creationId xmlns:a16="http://schemas.microsoft.com/office/drawing/2014/main" id="{A69D98C5-2856-4B66-B862-F52D070F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43250"/>
            <a:ext cx="5238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A pessoa responsável confere o uso real e a utilidade do resultado. Registre passou, falhou e não verificado.</a:t>
            </a:r>
            <a:endParaRPr/>
          </a:p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endParaRPr/>
          </a:p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Revise instruções, arquivos produzidos e limitações. Um relatório do agente não substitui a conferência.</a:t>
            </a:r>
            <a:endParaRPr/>
          </a:p>
        </p:txBody>
      </p:sp>
      <p:sp>
        <p:nvSpPr>
          <p:cNvPr id="362784447" name="">
            <a:extLst xmlns:a="http://schemas.openxmlformats.org/drawingml/2006/main">
              <a:ext uri="{FF2B5EF4-FFF2-40B4-BE49-F238E27FC236}">
                <a16:creationId xmlns:a16="http://schemas.microsoft.com/office/drawing/2014/main" id="{8314CFA3-81ED-4EAB-A16B-8A08FBAC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Passou: entregar a funcionalidade, observar o uso e recolher retorno.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57338097"/>
      </p:ext>
    </p:extLst>
  </p:cSld>
</p:sld>
</file>

<file path=ppt/slides/slide38.xml><?xml version="1.0" encoding="utf-8"?>
<p:sld xmlns:p="http://schemas.openxmlformats.org/presentationml/2006/main" showMasterSp="1" show="1">
  <p:cSld>
    <p:bg>
      <p:bgPr>
        <a:solidFill xmlns:a="http://schemas.openxmlformats.org/drawingml/2006/main">
          <a:srgbClr val="F3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53887137" name="">
            <a:extLst xmlns:a="http://schemas.openxmlformats.org/drawingml/2006/main">
              <a:ext uri="{FF2B5EF4-FFF2-40B4-BE49-F238E27FC236}">
                <a16:creationId xmlns:a16="http://schemas.microsoft.com/office/drawing/2014/main" id="{319EC973-2D3D-45C6-BD17-0FED7392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586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586C5"/>
                </a:solidFill>
                <a:latin typeface="Arial"/>
                <a:ea typeface="Arial"/>
                <a:cs typeface="Arial"/>
              </a:rPr>
              <a:t>38 / 38</a:t>
            </a:r>
            <a:endParaRPr/>
          </a:p>
        </p:txBody>
      </p:sp>
      <p:sp>
        <p:nvSpPr>
          <p:cNvPr id="858495687" name="">
            <a:extLst xmlns:a="http://schemas.openxmlformats.org/drawingml/2006/main">
              <a:ext uri="{FF2B5EF4-FFF2-40B4-BE49-F238E27FC236}">
                <a16:creationId xmlns:a16="http://schemas.microsoft.com/office/drawing/2014/main" id="{AD244A68-77CA-4F17-9631-37B31B70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7. Corrigir a causa e iniciar o próximo ciclo</a:t>
            </a:r>
            <a:endParaRPr/>
          </a:p>
        </p:txBody>
      </p:sp>
      <p:sp>
        <p:nvSpPr>
          <p:cNvPr id="1339504087" name="">
            <a:extLst xmlns:a="http://schemas.openxmlformats.org/drawingml/2006/main">
              <a:ext uri="{FF2B5EF4-FFF2-40B4-BE49-F238E27FC236}">
                <a16:creationId xmlns:a16="http://schemas.microsoft.com/office/drawing/2014/main" id="{368A2389-9AE0-4B50-A743-EA8242BF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5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205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Uma falha pode vir do código, do ambiente ou de uma regra incorreta. O diagnóstico define onde retornar.</a:t>
            </a:r>
            <a:endParaRPr/>
          </a:p>
        </p:txBody>
      </p:sp>
      <p:sp>
        <p:nvSpPr>
          <p:cNvPr id="899873390" name="">
            <a:extLst xmlns:a="http://schemas.openxmlformats.org/drawingml/2006/main">
              <a:ext uri="{FF2B5EF4-FFF2-40B4-BE49-F238E27FC236}">
                <a16:creationId xmlns:a16="http://schemas.microsoft.com/office/drawing/2014/main" id="{DFE7ADF1-31BA-4083-9A3E-2741A100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24125"/>
            <a:ext cx="5286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008F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F0"/>
                </a:solidFill>
                <a:latin typeface="Arial"/>
                <a:ea typeface="Arial"/>
                <a:cs typeface="Arial"/>
              </a:rPr>
              <a:t>Se houver falha</a:t>
            </a:r>
            <a:endParaRPr/>
          </a:p>
        </p:txBody>
      </p:sp>
      <p:sp>
        <p:nvSpPr>
          <p:cNvPr id="1125379208" name="">
            <a:extLst xmlns:a="http://schemas.openxmlformats.org/drawingml/2006/main">
              <a:ext uri="{FF2B5EF4-FFF2-40B4-BE49-F238E27FC236}">
                <a16:creationId xmlns:a16="http://schemas.microsoft.com/office/drawing/2014/main" id="{29546183-00C9-4232-BC63-63D203EB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24125"/>
            <a:ext cx="5286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7456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456F5"/>
                </a:solidFill>
                <a:latin typeface="Arial"/>
                <a:ea typeface="Arial"/>
                <a:cs typeface="Arial"/>
              </a:rPr>
              <a:t>Depois da entrega</a:t>
            </a:r>
            <a:endParaRPr/>
          </a:p>
        </p:txBody>
      </p:sp>
      <p:sp>
        <p:nvSpPr>
          <p:cNvPr id="1647835034" name="">
            <a:extLst xmlns:a="http://schemas.openxmlformats.org/drawingml/2006/main">
              <a:ext uri="{FF2B5EF4-FFF2-40B4-BE49-F238E27FC236}">
                <a16:creationId xmlns:a16="http://schemas.microsoft.com/office/drawing/2014/main" id="{D5774D96-3340-472E-A756-9CB7556F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52700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2FA"/>
          </a:solidFill>
          <a:ln xmlns:a="http://schemas.openxmlformats.org/drawingml/2006/main" w="9525">
            <a:solidFill>
              <a:srgbClr val="BDE2FA"/>
            </a:solidFill>
            <a:prstDash val="solid"/>
          </a:ln>
        </p:spPr>
      </p:sp>
      <p:sp>
        <p:nvSpPr>
          <p:cNvPr id="72503596" name="">
            <a:extLst xmlns:a="http://schemas.openxmlformats.org/drawingml/2006/main">
              <a:ext uri="{FF2B5EF4-FFF2-40B4-BE49-F238E27FC236}">
                <a16:creationId xmlns:a16="http://schemas.microsoft.com/office/drawing/2014/main" id="{EE548EBB-539B-4FB2-8190-0F9D16EC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519112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Reproduza o problema com entrada, resultado esperado e resultado obtido. Corrija código ou ambiente quando forem a causa.</a:t>
            </a:r>
            <a:endParaRPr/>
          </a:p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endParaRPr/>
          </a:p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Se a regra estiver errada ou ambígua, retorne ao PRD e à SPEC e confirme a mudança.</a:t>
            </a:r>
            <a:endParaRPr/>
          </a:p>
        </p:txBody>
      </p:sp>
      <p:sp>
        <p:nvSpPr>
          <p:cNvPr id="1134047591" name="">
            <a:extLst xmlns:a="http://schemas.openxmlformats.org/drawingml/2006/main">
              <a:ext uri="{FF2B5EF4-FFF2-40B4-BE49-F238E27FC236}">
                <a16:creationId xmlns:a16="http://schemas.microsoft.com/office/drawing/2014/main" id="{3AB6F547-25C7-45EC-B137-3C80ACA1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43250"/>
            <a:ext cx="5238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Execute novamente a verificação que falhou e a regressão relevante. Atualize a documentação e registre a causa.</a:t>
            </a:r>
            <a:endParaRPr/>
          </a:p>
          <a:p xmlns:a="http://schemas.openxmlformats.org/drawingml/2006/main">
            <a:pPr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endParaRPr/>
          </a:p>
          <a:p xmlns:a="http://schemas.openxmlformats.org/drawingml/2006/main">
            <a:pPr algn="l">
              <a:buNone/>
              <a:defRPr sz="1900" b="0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002D60"/>
                </a:solidFill>
                <a:latin typeface="Arial"/>
                <a:ea typeface="Arial"/>
                <a:cs typeface="Arial"/>
              </a:rPr>
              <a:t>Depois de validar e entregar, use o retorno do usuário para escolher a próxima funcionalidade pequena.</a:t>
            </a:r>
            <a:endParaRPr/>
          </a:p>
        </p:txBody>
      </p:sp>
      <p:sp>
        <p:nvSpPr>
          <p:cNvPr id="469125574" name="">
            <a:extLst xmlns:a="http://schemas.openxmlformats.org/drawingml/2006/main">
              <a:ext uri="{FF2B5EF4-FFF2-40B4-BE49-F238E27FC236}">
                <a16:creationId xmlns:a16="http://schemas.microsoft.com/office/drawing/2014/main" id="{8338348C-2922-4B87-9C7C-1A32FF22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002D6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2D60"/>
                </a:solidFill>
                <a:latin typeface="Arial"/>
                <a:ea typeface="Arial"/>
                <a:cs typeface="Arial"/>
              </a:rPr>
              <a:t>O método é um ciclo: aprender com cada entrega e retomar as sete etapas na próxima parte.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771405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2026-10-19T18:07:06.2780000Z</dcterms:created>
  <dcterms:modified xsi:type="dcterms:W3CDTF">2026-10-19T18:07:06.2790000Z</dcterms:modified>
</coreProperties>
</file>